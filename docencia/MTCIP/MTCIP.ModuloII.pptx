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52"/>
  </p:notesMasterIdLst>
  <p:sldIdLst>
    <p:sldId id="256" r:id="rId2"/>
    <p:sldId id="303" r:id="rId3"/>
    <p:sldId id="352" r:id="rId4"/>
    <p:sldId id="257" r:id="rId5"/>
    <p:sldId id="314" r:id="rId6"/>
    <p:sldId id="319" r:id="rId7"/>
    <p:sldId id="320" r:id="rId8"/>
    <p:sldId id="317" r:id="rId9"/>
    <p:sldId id="304" r:id="rId10"/>
    <p:sldId id="259" r:id="rId11"/>
    <p:sldId id="350" r:id="rId12"/>
    <p:sldId id="329" r:id="rId13"/>
    <p:sldId id="330" r:id="rId14"/>
    <p:sldId id="331" r:id="rId15"/>
    <p:sldId id="332" r:id="rId16"/>
    <p:sldId id="333" r:id="rId17"/>
    <p:sldId id="334" r:id="rId18"/>
    <p:sldId id="354" r:id="rId19"/>
    <p:sldId id="305" r:id="rId20"/>
    <p:sldId id="306" r:id="rId21"/>
    <p:sldId id="307" r:id="rId22"/>
    <p:sldId id="308" r:id="rId23"/>
    <p:sldId id="335" r:id="rId24"/>
    <p:sldId id="309" r:id="rId25"/>
    <p:sldId id="310" r:id="rId26"/>
    <p:sldId id="311" r:id="rId27"/>
    <p:sldId id="355" r:id="rId28"/>
    <p:sldId id="356" r:id="rId29"/>
    <p:sldId id="312" r:id="rId30"/>
    <p:sldId id="261" r:id="rId31"/>
    <p:sldId id="263" r:id="rId32"/>
    <p:sldId id="264" r:id="rId33"/>
    <p:sldId id="262" r:id="rId34"/>
    <p:sldId id="267" r:id="rId35"/>
    <p:sldId id="269" r:id="rId36"/>
    <p:sldId id="270" r:id="rId37"/>
    <p:sldId id="271" r:id="rId38"/>
    <p:sldId id="272" r:id="rId39"/>
    <p:sldId id="273" r:id="rId40"/>
    <p:sldId id="274" r:id="rId41"/>
    <p:sldId id="266" r:id="rId42"/>
    <p:sldId id="276" r:id="rId43"/>
    <p:sldId id="277" r:id="rId44"/>
    <p:sldId id="346" r:id="rId45"/>
    <p:sldId id="278" r:id="rId46"/>
    <p:sldId id="280" r:id="rId47"/>
    <p:sldId id="281" r:id="rId48"/>
    <p:sldId id="301" r:id="rId49"/>
    <p:sldId id="302" r:id="rId50"/>
    <p:sldId id="353" r:id="rId51"/>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666" autoAdjust="0"/>
  </p:normalViewPr>
  <p:slideViewPr>
    <p:cSldViewPr>
      <p:cViewPr>
        <p:scale>
          <a:sx n="69" d="100"/>
          <a:sy n="69" d="100"/>
        </p:scale>
        <p:origin x="-504"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GB"/>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463D8CCD-C8A9-4BA8-A8BD-9FB22DC91538}" type="datetimeFigureOut">
              <a:rPr lang="en-US" smtClean="0"/>
              <a:pPr/>
              <a:t>12/4/2010</a:t>
            </a:fld>
            <a:endParaRPr lang="en-GB"/>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en-GB"/>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GB"/>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21685AD0-80E9-4E28-82B3-71D28D0F11AC}" type="slidenum">
              <a:rPr lang="en-GB" smtClean="0"/>
              <a:pPr/>
              <a:t>‹#›</a:t>
            </a:fld>
            <a:endParaRPr lang="en-GB"/>
          </a:p>
        </p:txBody>
      </p:sp>
    </p:spTree>
    <p:extLst>
      <p:ext uri="{BB962C8B-B14F-4D97-AF65-F5344CB8AC3E}">
        <p14:creationId xmlns:p14="http://schemas.microsoft.com/office/powerpoint/2010/main" val="4054030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21685AD0-80E9-4E28-82B3-71D28D0F11AC}" type="slidenum">
              <a:rPr lang="en-GB" smtClean="0"/>
              <a:pPr/>
              <a:t>2</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r>
              <a:rPr lang="es-ES" dirty="0" smtClean="0"/>
              <a:t>En la Ing. del </a:t>
            </a:r>
            <a:r>
              <a:rPr lang="es-ES" dirty="0" err="1" smtClean="0"/>
              <a:t>Soft</a:t>
            </a:r>
            <a:r>
              <a:rPr lang="es-ES" dirty="0" smtClean="0"/>
              <a:t>. Basada en la Evidencia (</a:t>
            </a:r>
            <a:r>
              <a:rPr lang="es-ES" i="1" dirty="0" err="1" smtClean="0"/>
              <a:t>Evidence</a:t>
            </a:r>
            <a:r>
              <a:rPr lang="es-ES" i="1" dirty="0" smtClean="0"/>
              <a:t> </a:t>
            </a:r>
            <a:r>
              <a:rPr lang="es-ES" i="1" dirty="0" err="1" smtClean="0"/>
              <a:t>Based</a:t>
            </a:r>
            <a:r>
              <a:rPr lang="es-ES" i="1" dirty="0" smtClean="0"/>
              <a:t> Software </a:t>
            </a:r>
            <a:r>
              <a:rPr lang="es-ES" i="1" dirty="0" err="1" smtClean="0"/>
              <a:t>Engineering</a:t>
            </a:r>
            <a:r>
              <a:rPr lang="es-ES" i="1" dirty="0" smtClean="0"/>
              <a:t> –EBSE – </a:t>
            </a:r>
            <a:r>
              <a:rPr lang="es-ES" dirty="0" smtClean="0"/>
              <a:t>) </a:t>
            </a:r>
          </a:p>
          <a:p>
            <a:pPr lvl="2"/>
            <a:r>
              <a:rPr lang="es-ES" dirty="0" err="1" smtClean="0"/>
              <a:t>Kitchenham</a:t>
            </a:r>
            <a:r>
              <a:rPr lang="es-ES" dirty="0" smtClean="0"/>
              <a:t> la define como: “</a:t>
            </a:r>
            <a:r>
              <a:rPr lang="es-ES" i="1" dirty="0" smtClean="0"/>
              <a:t>la provisión de medios a través de los cuales se integren las mejores evidencias de la investigación, la experiencia práctica y los valores humanos en el proceso de toma de decisiones que se lleva a cabo durante el desarrollo y mantenimiento de software</a:t>
            </a:r>
            <a:r>
              <a:rPr lang="es-ES" dirty="0" smtClean="0"/>
              <a:t>''.</a:t>
            </a:r>
            <a:endParaRPr lang="en-GB" dirty="0" smtClean="0"/>
          </a:p>
          <a:p>
            <a:endParaRPr lang="en-GB" dirty="0"/>
          </a:p>
        </p:txBody>
      </p:sp>
      <p:sp>
        <p:nvSpPr>
          <p:cNvPr id="4" name="Slide Number Placeholder 3"/>
          <p:cNvSpPr>
            <a:spLocks noGrp="1"/>
          </p:cNvSpPr>
          <p:nvPr>
            <p:ph type="sldNum" sz="quarter" idx="10"/>
          </p:nvPr>
        </p:nvSpPr>
        <p:spPr/>
        <p:txBody>
          <a:bodyPr/>
          <a:lstStyle/>
          <a:p>
            <a:fld id="{21685AD0-80E9-4E28-82B3-71D28D0F11AC}" type="slidenum">
              <a:rPr lang="en-GB" smtClean="0"/>
              <a:pPr/>
              <a:t>6</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90478">
              <a:defRPr/>
            </a:pPr>
            <a:r>
              <a:rPr lang="es-ES" dirty="0" smtClean="0"/>
              <a:t>Como veremos más adelante, las entidades en la ingeniería del software son los procesos, los recursos (personal, oficinas, etc.) y todos los artefactos (código, documentación, etc.) generados durante el ciclo de vida del software. </a:t>
            </a:r>
          </a:p>
          <a:p>
            <a:endParaRPr lang="en-GB" dirty="0"/>
          </a:p>
        </p:txBody>
      </p:sp>
      <p:sp>
        <p:nvSpPr>
          <p:cNvPr id="4" name="Slide Number Placeholder 3"/>
          <p:cNvSpPr>
            <a:spLocks noGrp="1"/>
          </p:cNvSpPr>
          <p:nvPr>
            <p:ph type="sldNum" sz="quarter" idx="10"/>
          </p:nvPr>
        </p:nvSpPr>
        <p:spPr/>
        <p:txBody>
          <a:bodyPr/>
          <a:lstStyle/>
          <a:p>
            <a:fld id="{21685AD0-80E9-4E28-82B3-71D28D0F11AC}" type="slidenum">
              <a:rPr lang="en-GB" smtClean="0"/>
              <a:pPr/>
              <a:t>12</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lvl="1" defTabSz="990478">
              <a:defRPr/>
            </a:pPr>
            <a:r>
              <a:rPr lang="es-ES" dirty="0" smtClean="0"/>
              <a:t>Un famoso ejemplo de este tipo de experimentos en la ingeniería del software es el realizado por </a:t>
            </a:r>
            <a:r>
              <a:rPr lang="es-ES" dirty="0" err="1" smtClean="0"/>
              <a:t>Scanlan</a:t>
            </a:r>
            <a:r>
              <a:rPr lang="es-ES" dirty="0" smtClean="0"/>
              <a:t> para descubrir si sus estudiantes en la asignatura ``Estructuras de datos'' tenían diferentes niveles de comprensión de la lógica de un programa en función de la herramienta de representación utilizada. Su estudio demostró que los estudiantes preferían los diagramas de flujo, pues les ayudaban a entender mejor los programas que el pseudocódigo.</a:t>
            </a:r>
            <a:endParaRPr lang="en-GB" dirty="0" smtClean="0"/>
          </a:p>
          <a:p>
            <a:endParaRPr lang="en-GB" dirty="0"/>
          </a:p>
        </p:txBody>
      </p:sp>
      <p:sp>
        <p:nvSpPr>
          <p:cNvPr id="4" name="Slide Number Placeholder 3"/>
          <p:cNvSpPr>
            <a:spLocks noGrp="1"/>
          </p:cNvSpPr>
          <p:nvPr>
            <p:ph type="sldNum" sz="quarter" idx="10"/>
          </p:nvPr>
        </p:nvSpPr>
        <p:spPr/>
        <p:txBody>
          <a:bodyPr/>
          <a:lstStyle/>
          <a:p>
            <a:fld id="{21685AD0-80E9-4E28-82B3-71D28D0F11AC}" type="slidenum">
              <a:rPr lang="en-GB" smtClean="0"/>
              <a:pPr/>
              <a:t>26</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lvl="1" defTabSz="990478">
              <a:defRPr/>
            </a:pPr>
            <a:r>
              <a:rPr lang="es-ES" dirty="0" smtClean="0"/>
              <a:t>Por ejemplo, en [</a:t>
            </a:r>
            <a:r>
              <a:rPr lang="es-ES" dirty="0" err="1" smtClean="0"/>
              <a:t>Basili</a:t>
            </a:r>
            <a:r>
              <a:rPr lang="es-ES" dirty="0" smtClean="0"/>
              <a:t> y Selby, 1987] un tratamiento es un cierto método de verificación de errores que se aplica en un tipo de programa de software, a un individuo con un cierto nivel de experiencia. Si consideramos tres métodos de detección de defectos en cuatro programas y aplicados a personas con tres niveles de experiencia, entonces tendremos 3 x 4 x 3 tratamientos diferentes.</a:t>
            </a:r>
            <a:endParaRPr lang="en-US" dirty="0" smtClean="0"/>
          </a:p>
          <a:p>
            <a:endParaRPr lang="en-GB" dirty="0"/>
          </a:p>
        </p:txBody>
      </p:sp>
      <p:sp>
        <p:nvSpPr>
          <p:cNvPr id="4" name="Slide Number Placeholder 3"/>
          <p:cNvSpPr>
            <a:spLocks noGrp="1"/>
          </p:cNvSpPr>
          <p:nvPr>
            <p:ph type="sldNum" sz="quarter" idx="10"/>
          </p:nvPr>
        </p:nvSpPr>
        <p:spPr/>
        <p:txBody>
          <a:bodyPr/>
          <a:lstStyle/>
          <a:p>
            <a:fld id="{21685AD0-80E9-4E28-82B3-71D28D0F11AC}" type="slidenum">
              <a:rPr lang="en-GB" smtClean="0"/>
              <a:pPr/>
              <a:t>33</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90478">
              <a:defRPr/>
            </a:pPr>
            <a:r>
              <a:rPr lang="es-ES" dirty="0" smtClean="0"/>
              <a:t>Mediante un buen diseño experimental, hemos de maximizar las cualidades de los experimentos formales, que son éstas:</a:t>
            </a:r>
            <a:endParaRPr lang="en-US" dirty="0" smtClean="0"/>
          </a:p>
          <a:p>
            <a:endParaRPr lang="en-GB" dirty="0"/>
          </a:p>
        </p:txBody>
      </p:sp>
      <p:sp>
        <p:nvSpPr>
          <p:cNvPr id="4" name="Slide Number Placeholder 3"/>
          <p:cNvSpPr>
            <a:spLocks noGrp="1"/>
          </p:cNvSpPr>
          <p:nvPr>
            <p:ph type="sldNum" sz="quarter" idx="10"/>
          </p:nvPr>
        </p:nvSpPr>
        <p:spPr/>
        <p:txBody>
          <a:bodyPr/>
          <a:lstStyle/>
          <a:p>
            <a:fld id="{21685AD0-80E9-4E28-82B3-71D28D0F11AC}" type="slidenum">
              <a:rPr lang="en-GB" smtClean="0"/>
              <a:pPr/>
              <a:t>36</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lvl="1" defTabSz="990478">
              <a:defRPr/>
            </a:pPr>
            <a:r>
              <a:rPr lang="es-ES" dirty="0" smtClean="0"/>
              <a:t>Ahora, la variable ya no sería extraña, sino bloqueada. </a:t>
            </a:r>
          </a:p>
          <a:p>
            <a:endParaRPr lang="en-GB" dirty="0"/>
          </a:p>
        </p:txBody>
      </p:sp>
      <p:sp>
        <p:nvSpPr>
          <p:cNvPr id="4" name="Slide Number Placeholder 3"/>
          <p:cNvSpPr>
            <a:spLocks noGrp="1"/>
          </p:cNvSpPr>
          <p:nvPr>
            <p:ph type="sldNum" sz="quarter" idx="10"/>
          </p:nvPr>
        </p:nvSpPr>
        <p:spPr/>
        <p:txBody>
          <a:bodyPr/>
          <a:lstStyle/>
          <a:p>
            <a:fld id="{21685AD0-80E9-4E28-82B3-71D28D0F11AC}" type="slidenum">
              <a:rPr lang="en-GB" smtClean="0"/>
              <a:pPr/>
              <a:t>40</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12/4/2010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12/4/2010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12/4/2010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12/4/2010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12/4/2010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1D8BD707-D9CF-40AE-B4C6-C98DA3205C09}" type="datetimeFigureOut">
              <a:rPr lang="en-US" smtClean="0"/>
              <a:pPr/>
              <a:t>12/4/2010</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12/4/2010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12/4/2010</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1D8BD707-D9CF-40AE-B4C6-C98DA3205C09}" type="datetimeFigureOut">
              <a:rPr lang="en-US" smtClean="0"/>
              <a:pPr/>
              <a:t>12/4/2010</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ieeexplore.ieee.org/stamp/stamp.jsp?arnumber=1027796&amp;isnumber=2207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s-ES" b="1" dirty="0" smtClean="0"/>
              <a:t>Introducción a las técnicas de investigación.</a:t>
            </a:r>
            <a:endParaRPr lang="en-US" dirty="0"/>
          </a:p>
        </p:txBody>
      </p:sp>
      <p:sp>
        <p:nvSpPr>
          <p:cNvPr id="3" name="Subtitle 2"/>
          <p:cNvSpPr>
            <a:spLocks noGrp="1"/>
          </p:cNvSpPr>
          <p:nvPr>
            <p:ph type="subTitle" idx="1"/>
          </p:nvPr>
        </p:nvSpPr>
        <p:spPr/>
        <p:txBody>
          <a:bodyPr/>
          <a:lstStyle/>
          <a:p>
            <a:r>
              <a:rPr lang="es-ES" b="1" dirty="0" smtClean="0"/>
              <a:t>Módulo II. Introducción a las técnicas de investigación.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Contenidos</a:t>
            </a:r>
            <a:endParaRPr lang="en-GB" dirty="0"/>
          </a:p>
        </p:txBody>
      </p:sp>
      <p:sp>
        <p:nvSpPr>
          <p:cNvPr id="3" name="Content Placeholder 2"/>
          <p:cNvSpPr>
            <a:spLocks noGrp="1"/>
          </p:cNvSpPr>
          <p:nvPr>
            <p:ph idx="1"/>
          </p:nvPr>
        </p:nvSpPr>
        <p:spPr/>
        <p:txBody>
          <a:bodyPr>
            <a:normAutofit fontScale="77500" lnSpcReduction="20000"/>
          </a:bodyPr>
          <a:lstStyle/>
          <a:p>
            <a:r>
              <a:rPr lang="es-ES" dirty="0" smtClean="0"/>
              <a:t>Tipos de técnicas de investigación.</a:t>
            </a:r>
          </a:p>
          <a:p>
            <a:pPr lvl="1"/>
            <a:r>
              <a:rPr lang="es-ES" dirty="0" smtClean="0"/>
              <a:t>Cualitativos y cuantitativos.</a:t>
            </a:r>
          </a:p>
          <a:p>
            <a:pPr lvl="1"/>
            <a:r>
              <a:rPr lang="es-ES" dirty="0" smtClean="0"/>
              <a:t>Otras clasificaciones o tipos de estudios</a:t>
            </a:r>
          </a:p>
          <a:p>
            <a:pPr lvl="2"/>
            <a:r>
              <a:rPr lang="es-ES" dirty="0" smtClean="0"/>
              <a:t>Revisión sistemática de la literatura</a:t>
            </a:r>
          </a:p>
          <a:p>
            <a:pPr lvl="2"/>
            <a:r>
              <a:rPr lang="es-ES" dirty="0" smtClean="0"/>
              <a:t>Investigación basada en la evidencia</a:t>
            </a:r>
          </a:p>
          <a:p>
            <a:pPr lvl="2"/>
            <a:r>
              <a:rPr lang="es-ES" dirty="0" smtClean="0"/>
              <a:t>Comparativas (</a:t>
            </a:r>
            <a:r>
              <a:rPr lang="es-ES" i="1" dirty="0" smtClean="0"/>
              <a:t>benchmarking</a:t>
            </a:r>
            <a:r>
              <a:rPr lang="es-ES" dirty="0" smtClean="0"/>
              <a:t>) </a:t>
            </a:r>
          </a:p>
          <a:p>
            <a:r>
              <a:rPr lang="es-ES" dirty="0" smtClean="0"/>
              <a:t>Introducción al diseño de investigaciones.</a:t>
            </a:r>
          </a:p>
          <a:p>
            <a:pPr lvl="1"/>
            <a:r>
              <a:rPr lang="es-ES" dirty="0" smtClean="0"/>
              <a:t>Escalas y medición</a:t>
            </a:r>
          </a:p>
          <a:p>
            <a:pPr lvl="1"/>
            <a:r>
              <a:rPr lang="es-ES" dirty="0" smtClean="0"/>
              <a:t>Tipos de estudios empíricos</a:t>
            </a:r>
          </a:p>
          <a:p>
            <a:pPr lvl="2"/>
            <a:r>
              <a:rPr lang="es-ES" dirty="0" smtClean="0"/>
              <a:t>Encuestas, Casos de estudio, Experimentación formal</a:t>
            </a:r>
          </a:p>
          <a:p>
            <a:pPr lvl="1"/>
            <a:r>
              <a:rPr lang="es-ES" dirty="0" smtClean="0"/>
              <a:t>Proceso y diseño de la experimentación formal</a:t>
            </a:r>
          </a:p>
          <a:p>
            <a:pPr marL="457200" lvl="1" indent="0">
              <a:buNone/>
            </a:pPr>
            <a:endParaRPr lang="es-ES" dirty="0" smtClean="0"/>
          </a:p>
          <a:p>
            <a:pPr lvl="2">
              <a:buNone/>
            </a:pPr>
            <a:r>
              <a:rPr lang="es-ES" dirty="0" smtClean="0"/>
              <a:t>Agradecimientos por parte del material a </a:t>
            </a:r>
          </a:p>
          <a:p>
            <a:pPr lvl="2">
              <a:buNone/>
            </a:pPr>
            <a:r>
              <a:rPr lang="es-ES" dirty="0"/>
              <a:t>	</a:t>
            </a:r>
            <a:r>
              <a:rPr lang="es-ES" dirty="0" smtClean="0"/>
              <a:t>Javier Dolado, Universidad del País Vasco	</a:t>
            </a:r>
          </a:p>
          <a:p>
            <a:pPr marL="118872" indent="0">
              <a:buNone/>
            </a:pPr>
            <a:endParaRPr lang="es-ES" dirty="0" smtClean="0"/>
          </a:p>
          <a:p>
            <a:endParaRPr lang="es-E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s-ES" dirty="0" smtClean="0"/>
              <a:t>Tipos de técnicas de investigación.</a:t>
            </a:r>
            <a:br>
              <a:rPr lang="es-ES" dirty="0" smtClean="0"/>
            </a:br>
            <a:endParaRPr lang="en-GB" dirty="0"/>
          </a:p>
        </p:txBody>
      </p:sp>
      <p:sp>
        <p:nvSpPr>
          <p:cNvPr id="3" name="Subtitle 2"/>
          <p:cNvSpPr>
            <a:spLocks noGrp="1"/>
          </p:cNvSpPr>
          <p:nvPr>
            <p:ph type="subTitle" idx="1"/>
          </p:nvPr>
        </p:nvSpPr>
        <p:spPr/>
        <p:txBody>
          <a:bodyPr/>
          <a:lstStyle/>
          <a:p>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s-ES" sz="3600" dirty="0" smtClean="0"/>
              <a:t>Estudios cualitativos vs. cuantitativos</a:t>
            </a:r>
            <a:endParaRPr lang="es-ES" sz="3600" dirty="0"/>
          </a:p>
        </p:txBody>
      </p:sp>
      <p:sp>
        <p:nvSpPr>
          <p:cNvPr id="3" name="Content Placeholder 2"/>
          <p:cNvSpPr>
            <a:spLocks noGrp="1"/>
          </p:cNvSpPr>
          <p:nvPr>
            <p:ph idx="1"/>
          </p:nvPr>
        </p:nvSpPr>
        <p:spPr/>
        <p:txBody>
          <a:bodyPr>
            <a:normAutofit fontScale="92500" lnSpcReduction="20000"/>
          </a:bodyPr>
          <a:lstStyle/>
          <a:p>
            <a:r>
              <a:rPr lang="es-ES" dirty="0" smtClean="0"/>
              <a:t>Los estudios </a:t>
            </a:r>
            <a:r>
              <a:rPr lang="es-ES" b="1" dirty="0" smtClean="0">
                <a:solidFill>
                  <a:srgbClr val="0070C0"/>
                </a:solidFill>
              </a:rPr>
              <a:t>cualitativos</a:t>
            </a:r>
            <a:r>
              <a:rPr lang="es-ES" dirty="0" smtClean="0"/>
              <a:t> buscan la interpretación de un fenómeno en su entorno natural, por ejemplo, recabando información entre las personas involucradas. </a:t>
            </a:r>
          </a:p>
          <a:p>
            <a:r>
              <a:rPr lang="es-ES" dirty="0" smtClean="0"/>
              <a:t>Los estudios </a:t>
            </a:r>
            <a:r>
              <a:rPr lang="es-ES" b="1" dirty="0" smtClean="0">
                <a:solidFill>
                  <a:srgbClr val="0070C0"/>
                </a:solidFill>
              </a:rPr>
              <a:t>cuantitativos</a:t>
            </a:r>
            <a:r>
              <a:rPr lang="es-ES" dirty="0" smtClean="0"/>
              <a:t>, por su parte, buscan medir la </a:t>
            </a:r>
            <a:r>
              <a:rPr lang="es-ES" i="1" dirty="0" smtClean="0"/>
              <a:t>influencia</a:t>
            </a:r>
            <a:r>
              <a:rPr lang="es-ES" dirty="0" smtClean="0"/>
              <a:t> de una variable en un fenómeno, es decir la relación causa-efecto entre ambos (por ejemplo, la relación entre la profundidad en la jerarquía de clases en un diseño orientado a objetos y el número de errores en el código de una clase)</a:t>
            </a:r>
            <a:endParaRPr lang="en-GB" dirty="0" smtClean="0"/>
          </a:p>
          <a:p>
            <a:endParaRPr lang="en-GB" dirty="0" smtClean="0"/>
          </a:p>
          <a:p>
            <a:pPr>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dirty="0" err="1" smtClean="0"/>
              <a:t>Investigación</a:t>
            </a:r>
            <a:r>
              <a:rPr lang="en-GB" sz="4000" dirty="0" smtClean="0"/>
              <a:t> </a:t>
            </a:r>
            <a:r>
              <a:rPr lang="en-GB" sz="4000" dirty="0" err="1" smtClean="0"/>
              <a:t>basada</a:t>
            </a:r>
            <a:r>
              <a:rPr lang="en-GB" sz="4000" dirty="0" smtClean="0"/>
              <a:t> en la </a:t>
            </a:r>
            <a:r>
              <a:rPr lang="en-GB" sz="4000" dirty="0" err="1" smtClean="0"/>
              <a:t>evidencia</a:t>
            </a:r>
            <a:endParaRPr lang="en-GB" sz="4000" dirty="0"/>
          </a:p>
        </p:txBody>
      </p:sp>
      <p:sp>
        <p:nvSpPr>
          <p:cNvPr id="3" name="Content Placeholder 2"/>
          <p:cNvSpPr>
            <a:spLocks noGrp="1"/>
          </p:cNvSpPr>
          <p:nvPr>
            <p:ph idx="1"/>
          </p:nvPr>
        </p:nvSpPr>
        <p:spPr/>
        <p:txBody>
          <a:bodyPr>
            <a:normAutofit fontScale="77500" lnSpcReduction="20000"/>
          </a:bodyPr>
          <a:lstStyle/>
          <a:p>
            <a:r>
              <a:rPr lang="es-ES" dirty="0" smtClean="0"/>
              <a:t>El modelo se apoya en la recogida y análisis sistemáticos de todos los datos empíricos disponibles sobre un determinado fenómeno. </a:t>
            </a:r>
          </a:p>
          <a:p>
            <a:r>
              <a:rPr lang="es-ES" dirty="0" smtClean="0"/>
              <a:t>El </a:t>
            </a:r>
            <a:r>
              <a:rPr lang="es-ES" b="1" dirty="0" smtClean="0"/>
              <a:t>objetivo</a:t>
            </a:r>
            <a:r>
              <a:rPr lang="es-ES" dirty="0" smtClean="0"/>
              <a:t> último es conocer un fenómeno con mayor profundidad y perspectiva de los que los estudios individuales podrían proporcionar, ya que éstos a menudo están sesgados por factores como el contexto en que se llevan a cabo o las personas que participan.</a:t>
            </a:r>
          </a:p>
          <a:p>
            <a:r>
              <a:rPr lang="es-ES" dirty="0" smtClean="0"/>
              <a:t>Central a la investigación basada en la evidencia es la </a:t>
            </a:r>
            <a:r>
              <a:rPr lang="es-ES" b="1" dirty="0" smtClean="0"/>
              <a:t>revisión sistemática de la literatura</a:t>
            </a:r>
            <a:r>
              <a:rPr lang="es-ES" dirty="0" smtClean="0"/>
              <a:t>. </a:t>
            </a:r>
          </a:p>
          <a:p>
            <a:pPr lvl="1"/>
            <a:r>
              <a:rPr lang="es-ES" dirty="0" smtClean="0"/>
              <a:t>En medicina: </a:t>
            </a:r>
            <a:r>
              <a:rPr lang="es-ES" sz="2200" dirty="0" smtClean="0">
                <a:latin typeface="Consolas" pitchFamily="49" charset="0"/>
              </a:rPr>
              <a:t>http://es.wikipedia.org/wiki/Medicina_basada_en_la_evidencia</a:t>
            </a:r>
          </a:p>
          <a:p>
            <a:pPr lvl="1"/>
            <a:r>
              <a:rPr lang="es-ES" dirty="0" smtClean="0"/>
              <a:t>En Ingeniería del software: </a:t>
            </a:r>
            <a:br>
              <a:rPr lang="es-ES" dirty="0" smtClean="0"/>
            </a:br>
            <a:r>
              <a:rPr lang="es-ES" sz="2300" dirty="0" smtClean="0">
                <a:latin typeface="Consolas" pitchFamily="49" charset="0"/>
              </a:rPr>
              <a:t>http://www.dur.ac.uk/ebse/</a:t>
            </a:r>
          </a:p>
          <a:p>
            <a:pPr lvl="1"/>
            <a:endParaRPr lang="es-ES"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err="1" smtClean="0"/>
              <a:t>Revisión</a:t>
            </a:r>
            <a:r>
              <a:rPr lang="en-GB" dirty="0" smtClean="0"/>
              <a:t> </a:t>
            </a:r>
            <a:r>
              <a:rPr lang="en-GB" dirty="0" err="1" smtClean="0"/>
              <a:t>sistemática</a:t>
            </a:r>
            <a:r>
              <a:rPr lang="en-GB" dirty="0" smtClean="0"/>
              <a:t> de la </a:t>
            </a:r>
            <a:r>
              <a:rPr lang="en-GB" dirty="0" err="1" smtClean="0"/>
              <a:t>literatura</a:t>
            </a:r>
            <a:endParaRPr lang="en-GB" dirty="0"/>
          </a:p>
        </p:txBody>
      </p:sp>
      <p:sp>
        <p:nvSpPr>
          <p:cNvPr id="3" name="Content Placeholder 2"/>
          <p:cNvSpPr>
            <a:spLocks noGrp="1"/>
          </p:cNvSpPr>
          <p:nvPr>
            <p:ph idx="1"/>
          </p:nvPr>
        </p:nvSpPr>
        <p:spPr/>
        <p:txBody>
          <a:bodyPr>
            <a:normAutofit fontScale="92500" lnSpcReduction="20000"/>
          </a:bodyPr>
          <a:lstStyle/>
          <a:p>
            <a:r>
              <a:rPr lang="es-ES" dirty="0" smtClean="0"/>
              <a:t>Revisiones Sistemáticas (RS) son un diseño de investigación observacional y retrospectivo, que sintetiza los resultados de múltiples investigaciones.</a:t>
            </a:r>
          </a:p>
          <a:p>
            <a:r>
              <a:rPr lang="es-ES" dirty="0" smtClean="0"/>
              <a:t>Los resultados de estudios basados en un único ensayo no pueden considerarse lo suficientemente fiables como para ser generalizados. </a:t>
            </a:r>
          </a:p>
          <a:p>
            <a:r>
              <a:rPr lang="es-ES" dirty="0" smtClean="0"/>
              <a:t>Los estudios individuales que los conforman se denominan </a:t>
            </a:r>
            <a:r>
              <a:rPr lang="es-ES" i="1" dirty="0" smtClean="0">
                <a:solidFill>
                  <a:srgbClr val="0070C0"/>
                </a:solidFill>
              </a:rPr>
              <a:t>estudios primarios</a:t>
            </a:r>
            <a:r>
              <a:rPr lang="es-ES" dirty="0" smtClean="0"/>
              <a:t>, por lo que tanto la RS como el </a:t>
            </a:r>
            <a:r>
              <a:rPr lang="es-ES" b="1" dirty="0" smtClean="0"/>
              <a:t>meta-análisis</a:t>
            </a:r>
            <a:r>
              <a:rPr lang="es-ES" dirty="0" smtClean="0"/>
              <a:t> son considerados </a:t>
            </a:r>
            <a:r>
              <a:rPr lang="es-ES" i="1" dirty="0" smtClean="0">
                <a:solidFill>
                  <a:srgbClr val="0070C0"/>
                </a:solidFill>
              </a:rPr>
              <a:t>estudios secundarios</a:t>
            </a:r>
            <a:r>
              <a:rPr lang="es-ES" dirty="0" smtClean="0"/>
              <a:t>.</a:t>
            </a:r>
            <a:endParaRPr lang="en-GB"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dirty="0" smtClean="0"/>
              <a:t>Características de la RS</a:t>
            </a:r>
            <a:endParaRPr lang="es-ES" dirty="0"/>
          </a:p>
        </p:txBody>
      </p:sp>
      <p:sp>
        <p:nvSpPr>
          <p:cNvPr id="3" name="Content Placeholder 2"/>
          <p:cNvSpPr>
            <a:spLocks noGrp="1"/>
          </p:cNvSpPr>
          <p:nvPr>
            <p:ph idx="1"/>
          </p:nvPr>
        </p:nvSpPr>
        <p:spPr/>
        <p:txBody>
          <a:bodyPr>
            <a:normAutofit fontScale="55000" lnSpcReduction="20000"/>
          </a:bodyPr>
          <a:lstStyle/>
          <a:p>
            <a:r>
              <a:rPr lang="es-ES" sz="3800" dirty="0" smtClean="0"/>
              <a:t>La RS dispone de un </a:t>
            </a:r>
            <a:r>
              <a:rPr lang="es-ES" sz="3800" b="1" dirty="0" smtClean="0"/>
              <a:t>protocolo</a:t>
            </a:r>
            <a:r>
              <a:rPr lang="es-ES" sz="3800" dirty="0" smtClean="0"/>
              <a:t> en el que se especifica la pregunta de investigación y los métodos que se utilizarán para llevar a cabo la revisión. </a:t>
            </a:r>
          </a:p>
          <a:p>
            <a:r>
              <a:rPr lang="es-ES" sz="3800" dirty="0" smtClean="0"/>
              <a:t>La RS se basa en una </a:t>
            </a:r>
            <a:r>
              <a:rPr lang="es-ES" sz="3800" b="1" dirty="0" smtClean="0"/>
              <a:t>estrategia de búsqueda</a:t>
            </a:r>
            <a:r>
              <a:rPr lang="es-ES" sz="3800" dirty="0" smtClean="0"/>
              <a:t> bibliográfica elaborada de forma que se localice toda la literatura relevante posible. </a:t>
            </a:r>
          </a:p>
          <a:p>
            <a:r>
              <a:rPr lang="es-ES" sz="3800" dirty="0" smtClean="0"/>
              <a:t>La estrategia de búsqueda debe estar </a:t>
            </a:r>
            <a:r>
              <a:rPr lang="es-ES" sz="3800" b="1" dirty="0" smtClean="0"/>
              <a:t>definida de forma explícita</a:t>
            </a:r>
            <a:r>
              <a:rPr lang="es-ES" sz="3800" dirty="0" smtClean="0"/>
              <a:t>, de manera que la RS sea reproducible. </a:t>
            </a:r>
          </a:p>
          <a:p>
            <a:r>
              <a:rPr lang="es-ES" sz="3800" dirty="0" smtClean="0"/>
              <a:t>Deben documentarse los </a:t>
            </a:r>
            <a:r>
              <a:rPr lang="es-ES" sz="3800" b="1" dirty="0" smtClean="0"/>
              <a:t>criterios de inclusión y exclusión</a:t>
            </a:r>
            <a:r>
              <a:rPr lang="es-ES" sz="3800" dirty="0" smtClean="0"/>
              <a:t> de estudios. </a:t>
            </a:r>
          </a:p>
          <a:p>
            <a:r>
              <a:rPr lang="es-ES" sz="3800" dirty="0" smtClean="0"/>
              <a:t>La RS debe especificar la información obtenida de cada estudio, además de una </a:t>
            </a:r>
            <a:r>
              <a:rPr lang="es-ES" sz="3800" b="1" dirty="0" smtClean="0"/>
              <a:t>evaluación crítica de la calidad</a:t>
            </a:r>
            <a:r>
              <a:rPr lang="es-ES" sz="3800" dirty="0" smtClean="0"/>
              <a:t> de dichos estudios. </a:t>
            </a:r>
          </a:p>
          <a:p>
            <a:r>
              <a:rPr lang="es-ES" sz="3800" dirty="0" smtClean="0"/>
              <a:t>Debe existir un </a:t>
            </a:r>
            <a:r>
              <a:rPr lang="es-ES" sz="3800" b="1" dirty="0" smtClean="0"/>
              <a:t>proceso transparente de interpretación</a:t>
            </a:r>
            <a:r>
              <a:rPr lang="es-ES" sz="3800" dirty="0" smtClean="0"/>
              <a:t> de los resultados. </a:t>
            </a:r>
          </a:p>
          <a:p>
            <a:endParaRPr lang="es-ES" sz="3800" dirty="0" smtClean="0"/>
          </a:p>
          <a:p>
            <a:pPr lvl="1" algn="ctr">
              <a:buNone/>
            </a:pPr>
            <a:r>
              <a:rPr lang="es-ES" dirty="0" smtClean="0"/>
              <a:t>(G. </a:t>
            </a:r>
            <a:r>
              <a:rPr lang="es-ES" dirty="0" err="1" smtClean="0"/>
              <a:t>Atienza</a:t>
            </a:r>
            <a:r>
              <a:rPr lang="es-ES" dirty="0" smtClean="0"/>
              <a:t> et al, 2008, Las revisiones sistemáticas,  Guías Clínicas</a:t>
            </a:r>
            <a:br>
              <a:rPr lang="es-ES" dirty="0" smtClean="0"/>
            </a:br>
            <a:r>
              <a:rPr lang="es-ES" sz="2500" dirty="0" smtClean="0">
                <a:latin typeface="Consolas" pitchFamily="49" charset="0"/>
              </a:rPr>
              <a:t>http://www.fisterra.com/guias2/FMC/rrss.asp )</a:t>
            </a:r>
            <a:endParaRPr lang="es-ES" dirty="0">
              <a:latin typeface="Consolas" pitchFamily="49"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Comparación</a:t>
            </a:r>
            <a:r>
              <a:rPr lang="en-GB" dirty="0" smtClean="0"/>
              <a:t> (</a:t>
            </a:r>
            <a:r>
              <a:rPr lang="en-GB" i="1" dirty="0" smtClean="0"/>
              <a:t>Benchmarking</a:t>
            </a:r>
            <a:r>
              <a:rPr lang="en-GB" dirty="0" smtClean="0"/>
              <a:t>)</a:t>
            </a:r>
            <a:endParaRPr lang="en-GB" dirty="0"/>
          </a:p>
        </p:txBody>
      </p:sp>
      <p:sp>
        <p:nvSpPr>
          <p:cNvPr id="3" name="Content Placeholder 2"/>
          <p:cNvSpPr>
            <a:spLocks noGrp="1"/>
          </p:cNvSpPr>
          <p:nvPr>
            <p:ph idx="1"/>
          </p:nvPr>
        </p:nvSpPr>
        <p:spPr/>
        <p:txBody>
          <a:bodyPr>
            <a:normAutofit lnSpcReduction="10000"/>
          </a:bodyPr>
          <a:lstStyle/>
          <a:p>
            <a:r>
              <a:rPr lang="es-ES" dirty="0" smtClean="0"/>
              <a:t>La comparación o benchmarking consiste en comparación de unos resultados con otros considerados estándares.</a:t>
            </a:r>
          </a:p>
          <a:p>
            <a:pPr lvl="1"/>
            <a:r>
              <a:rPr lang="es-ES" dirty="0" smtClean="0"/>
              <a:t>En este ámbito, nos referimos más a comparativas de una organización con otros estándares, como la productividad ,</a:t>
            </a:r>
            <a:r>
              <a:rPr lang="es-ES" dirty="0" err="1" smtClean="0"/>
              <a:t>p.e</a:t>
            </a:r>
            <a:r>
              <a:rPr lang="es-ES" dirty="0" smtClean="0"/>
              <a:t>., </a:t>
            </a:r>
            <a:r>
              <a:rPr lang="es-ES" sz="1600" dirty="0" smtClean="0"/>
              <a:t> </a:t>
            </a:r>
            <a:r>
              <a:rPr lang="es-ES" sz="1800" dirty="0" smtClean="0">
                <a:latin typeface="Consolas" pitchFamily="49" charset="0"/>
              </a:rPr>
              <a:t>http://www.isbsg.com/</a:t>
            </a:r>
            <a:endParaRPr lang="es-ES" dirty="0" smtClean="0">
              <a:latin typeface="Consolas" pitchFamily="49" charset="0"/>
            </a:endParaRPr>
          </a:p>
          <a:p>
            <a:pPr lvl="1"/>
            <a:r>
              <a:rPr lang="es-ES" dirty="0" smtClean="0"/>
              <a:t>Puede ir desde la comparativa de un programa con ciertos programas utilizados considerados estándares, </a:t>
            </a:r>
            <a:r>
              <a:rPr lang="es-ES" dirty="0" err="1" smtClean="0"/>
              <a:t>p.e</a:t>
            </a:r>
            <a:r>
              <a:rPr lang="es-ES" sz="3200" dirty="0" smtClean="0"/>
              <a:t>.,  </a:t>
            </a:r>
            <a:r>
              <a:rPr lang="es-ES" sz="1800" dirty="0" smtClean="0"/>
              <a:t> </a:t>
            </a:r>
            <a:r>
              <a:rPr lang="es-ES" sz="1800" dirty="0" smtClean="0">
                <a:latin typeface="Consolas" pitchFamily="49" charset="0"/>
              </a:rPr>
              <a:t>http://www.phoronix.com/</a:t>
            </a:r>
            <a:endParaRPr lang="es-ES" sz="1600" dirty="0" smtClean="0">
              <a:latin typeface="Consolas" pitchFamily="49" charset="0"/>
            </a:endParaRPr>
          </a:p>
          <a:p>
            <a:pPr lvl="1"/>
            <a:endParaRPr lang="es-ES" dirty="0">
              <a:latin typeface="Consolas" pitchFamily="49"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Investigación</a:t>
            </a:r>
            <a:r>
              <a:rPr lang="en-GB" dirty="0" smtClean="0"/>
              <a:t> </a:t>
            </a:r>
            <a:r>
              <a:rPr lang="en-GB" dirty="0" err="1" smtClean="0"/>
              <a:t>empírica</a:t>
            </a:r>
            <a:endParaRPr lang="en-GB" dirty="0"/>
          </a:p>
        </p:txBody>
      </p:sp>
      <p:sp>
        <p:nvSpPr>
          <p:cNvPr id="3" name="Content Placeholder 2"/>
          <p:cNvSpPr>
            <a:spLocks noGrp="1"/>
          </p:cNvSpPr>
          <p:nvPr>
            <p:ph idx="1"/>
          </p:nvPr>
        </p:nvSpPr>
        <p:spPr/>
        <p:txBody>
          <a:bodyPr>
            <a:normAutofit fontScale="77500" lnSpcReduction="20000"/>
          </a:bodyPr>
          <a:lstStyle/>
          <a:p>
            <a:r>
              <a:rPr lang="es-ES" dirty="0" smtClean="0"/>
              <a:t>La experimentación provee una manera sistemática, disciplinada, cuantificable y controlada de evaluar </a:t>
            </a:r>
            <a:r>
              <a:rPr lang="en-GB" dirty="0" err="1" smtClean="0"/>
              <a:t>actividades</a:t>
            </a:r>
            <a:r>
              <a:rPr lang="en-GB" dirty="0" smtClean="0"/>
              <a:t> </a:t>
            </a:r>
            <a:r>
              <a:rPr lang="en-GB" dirty="0" err="1" smtClean="0"/>
              <a:t>desarrolladas</a:t>
            </a:r>
            <a:r>
              <a:rPr lang="en-GB" dirty="0" smtClean="0"/>
              <a:t> </a:t>
            </a:r>
            <a:r>
              <a:rPr lang="en-GB" dirty="0" err="1" smtClean="0"/>
              <a:t>por</a:t>
            </a:r>
            <a:r>
              <a:rPr lang="en-GB" dirty="0" smtClean="0"/>
              <a:t> </a:t>
            </a:r>
            <a:r>
              <a:rPr lang="en-GB" dirty="0" err="1" smtClean="0"/>
              <a:t>humanos</a:t>
            </a:r>
            <a:r>
              <a:rPr lang="en-GB" dirty="0" smtClean="0"/>
              <a:t> (</a:t>
            </a:r>
            <a:r>
              <a:rPr lang="en-GB" dirty="0" err="1" smtClean="0"/>
              <a:t>Wholin</a:t>
            </a:r>
            <a:r>
              <a:rPr lang="en-GB" dirty="0" smtClean="0"/>
              <a:t> et al, 2000).</a:t>
            </a:r>
          </a:p>
          <a:p>
            <a:r>
              <a:rPr lang="en-GB" dirty="0" err="1" smtClean="0"/>
              <a:t>Referencias</a:t>
            </a:r>
            <a:r>
              <a:rPr lang="en-GB" dirty="0" smtClean="0"/>
              <a:t> en la </a:t>
            </a:r>
            <a:r>
              <a:rPr lang="en-GB" dirty="0" err="1" smtClean="0"/>
              <a:t>ingeniería</a:t>
            </a:r>
            <a:r>
              <a:rPr lang="en-GB" dirty="0" smtClean="0"/>
              <a:t> del software</a:t>
            </a:r>
          </a:p>
          <a:p>
            <a:pPr lvl="1"/>
            <a:r>
              <a:rPr lang="en-GB" dirty="0" err="1" smtClean="0"/>
              <a:t>Wohlin</a:t>
            </a:r>
            <a:r>
              <a:rPr lang="en-GB" dirty="0" smtClean="0"/>
              <a:t> C., </a:t>
            </a:r>
            <a:r>
              <a:rPr lang="en-GB" dirty="0" err="1" smtClean="0"/>
              <a:t>Runeson</a:t>
            </a:r>
            <a:r>
              <a:rPr lang="en-GB" dirty="0" smtClean="0"/>
              <a:t> P., </a:t>
            </a:r>
            <a:r>
              <a:rPr lang="en-GB" dirty="0" err="1" smtClean="0"/>
              <a:t>Höst</a:t>
            </a:r>
            <a:r>
              <a:rPr lang="en-GB" dirty="0" smtClean="0"/>
              <a:t> M., </a:t>
            </a:r>
            <a:r>
              <a:rPr lang="en-GB" dirty="0" err="1" smtClean="0"/>
              <a:t>Ohlson</a:t>
            </a:r>
            <a:r>
              <a:rPr lang="en-GB" dirty="0" smtClean="0"/>
              <a:t> M., </a:t>
            </a:r>
            <a:r>
              <a:rPr lang="en-GB" dirty="0" err="1" smtClean="0"/>
              <a:t>Regnell</a:t>
            </a:r>
            <a:r>
              <a:rPr lang="en-GB" dirty="0" smtClean="0"/>
              <a:t> B. and </a:t>
            </a:r>
            <a:r>
              <a:rPr lang="en-GB" dirty="0" err="1" smtClean="0"/>
              <a:t>Wesslén</a:t>
            </a:r>
            <a:r>
              <a:rPr lang="en-GB" dirty="0" smtClean="0"/>
              <a:t> A. (2000). Experimentation in Software Engineering: An Introduction. </a:t>
            </a:r>
            <a:r>
              <a:rPr lang="en-GB" dirty="0" err="1" smtClean="0"/>
              <a:t>Kluwer</a:t>
            </a:r>
            <a:r>
              <a:rPr lang="en-GB" dirty="0" smtClean="0"/>
              <a:t> Academic Publishers.</a:t>
            </a:r>
          </a:p>
          <a:p>
            <a:pPr lvl="1"/>
            <a:r>
              <a:rPr lang="en-GB" dirty="0" err="1" smtClean="0"/>
              <a:t>Juristo</a:t>
            </a:r>
            <a:r>
              <a:rPr lang="en-GB" dirty="0" smtClean="0"/>
              <a:t> N. y Moreno A.Mª (2001). Basics of Software Engineering Experimentation. </a:t>
            </a:r>
            <a:r>
              <a:rPr lang="en-GB" dirty="0" err="1" smtClean="0"/>
              <a:t>Kluwer</a:t>
            </a:r>
            <a:r>
              <a:rPr lang="en-GB" dirty="0" smtClean="0"/>
              <a:t> Academic Publishers.</a:t>
            </a:r>
          </a:p>
          <a:p>
            <a:pPr lvl="1"/>
            <a:r>
              <a:rPr lang="en-GB" dirty="0" err="1" smtClean="0"/>
              <a:t>Dolado</a:t>
            </a:r>
            <a:r>
              <a:rPr lang="en-GB" dirty="0" smtClean="0"/>
              <a:t> </a:t>
            </a:r>
            <a:r>
              <a:rPr lang="en-GB" dirty="0" err="1" smtClean="0"/>
              <a:t>Cosín</a:t>
            </a:r>
            <a:r>
              <a:rPr lang="en-GB" dirty="0" smtClean="0"/>
              <a:t>, J.J. y </a:t>
            </a:r>
            <a:r>
              <a:rPr lang="en-GB" dirty="0" err="1" smtClean="0"/>
              <a:t>Fernández</a:t>
            </a:r>
            <a:r>
              <a:rPr lang="en-GB" dirty="0" smtClean="0"/>
              <a:t> </a:t>
            </a:r>
            <a:r>
              <a:rPr lang="en-GB" dirty="0" err="1" smtClean="0"/>
              <a:t>Sanz</a:t>
            </a:r>
            <a:r>
              <a:rPr lang="en-GB" dirty="0" smtClean="0"/>
              <a:t> L. (2000). </a:t>
            </a:r>
            <a:r>
              <a:rPr lang="en-GB" dirty="0" err="1" smtClean="0"/>
              <a:t>Medición</a:t>
            </a:r>
            <a:r>
              <a:rPr lang="en-GB" dirty="0" smtClean="0"/>
              <a:t> </a:t>
            </a:r>
            <a:r>
              <a:rPr lang="en-GB" dirty="0" err="1" smtClean="0"/>
              <a:t>para</a:t>
            </a:r>
            <a:r>
              <a:rPr lang="en-GB" dirty="0" smtClean="0"/>
              <a:t> la </a:t>
            </a:r>
            <a:r>
              <a:rPr lang="en-GB" dirty="0" err="1" smtClean="0"/>
              <a:t>gestión</a:t>
            </a:r>
            <a:r>
              <a:rPr lang="en-GB" dirty="0" smtClean="0"/>
              <a:t> en la </a:t>
            </a:r>
            <a:r>
              <a:rPr lang="en-GB" dirty="0" err="1" smtClean="0"/>
              <a:t>Ingeniería</a:t>
            </a:r>
            <a:r>
              <a:rPr lang="en-GB" dirty="0" smtClean="0"/>
              <a:t> del Software. Ra-Ma.</a:t>
            </a:r>
          </a:p>
          <a:p>
            <a:pPr lvl="1"/>
            <a:endParaRPr lang="en-GB"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Diseño</a:t>
            </a:r>
            <a:r>
              <a:rPr lang="en-US" dirty="0" smtClean="0"/>
              <a:t> experimental </a:t>
            </a:r>
            <a:endParaRPr lang="en-US" dirty="0"/>
          </a:p>
        </p:txBody>
      </p:sp>
      <p:sp>
        <p:nvSpPr>
          <p:cNvPr id="3" name="Content Placeholder 2"/>
          <p:cNvSpPr>
            <a:spLocks noGrp="1"/>
          </p:cNvSpPr>
          <p:nvPr>
            <p:ph idx="1"/>
          </p:nvPr>
        </p:nvSpPr>
        <p:spPr/>
        <p:txBody>
          <a:bodyPr>
            <a:normAutofit/>
          </a:bodyPr>
          <a:lstStyle/>
          <a:p>
            <a:r>
              <a:rPr lang="es-ES" dirty="0" smtClean="0"/>
              <a:t>Definición de los elementos y las propiedades que deben cumplir los estudios empíricos </a:t>
            </a:r>
          </a:p>
          <a:p>
            <a:r>
              <a:rPr lang="es-ES" dirty="0" smtClean="0"/>
              <a:t>Clasificación los diferentes tipos de diseños experimentales</a:t>
            </a:r>
          </a:p>
          <a:p>
            <a:r>
              <a:rPr lang="es-ES" dirty="0" smtClean="0"/>
              <a:t>Riesgos para la validez interna de cada uno de ellos, con indicación de las técnicas útiles para el control y la medición</a:t>
            </a:r>
          </a:p>
          <a:p>
            <a:r>
              <a:rPr lang="es-ES" dirty="0" smtClean="0"/>
              <a:t>Réplicas de experimentos y familias de estudios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err="1" smtClean="0"/>
              <a:t>Escalas</a:t>
            </a:r>
            <a:r>
              <a:rPr lang="en-GB" dirty="0" smtClean="0"/>
              <a:t> y </a:t>
            </a:r>
            <a:r>
              <a:rPr lang="en-GB" dirty="0" err="1" smtClean="0"/>
              <a:t>medición</a:t>
            </a:r>
            <a:endParaRPr lang="en-GB" dirty="0"/>
          </a:p>
        </p:txBody>
      </p:sp>
      <p:sp>
        <p:nvSpPr>
          <p:cNvPr id="3" name="Subtitle 2"/>
          <p:cNvSpPr>
            <a:spLocks noGrp="1"/>
          </p:cNvSpPr>
          <p:nvPr>
            <p:ph type="subTitle" idx="1"/>
          </p:nvPr>
        </p:nvSpPr>
        <p:spPr/>
        <p:txBody>
          <a:bodyPr/>
          <a:lstStyle/>
          <a:p>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Teoría</a:t>
            </a:r>
            <a:r>
              <a:rPr lang="en-GB" dirty="0" smtClean="0"/>
              <a:t> de la </a:t>
            </a:r>
            <a:r>
              <a:rPr lang="en-GB" dirty="0" err="1" smtClean="0"/>
              <a:t>representación</a:t>
            </a:r>
            <a:endParaRPr lang="en-GB" dirty="0"/>
          </a:p>
        </p:txBody>
      </p:sp>
      <p:sp>
        <p:nvSpPr>
          <p:cNvPr id="3" name="Content Placeholder 2"/>
          <p:cNvSpPr>
            <a:spLocks noGrp="1"/>
          </p:cNvSpPr>
          <p:nvPr>
            <p:ph idx="1"/>
          </p:nvPr>
        </p:nvSpPr>
        <p:spPr/>
        <p:txBody>
          <a:bodyPr>
            <a:normAutofit/>
          </a:bodyPr>
          <a:lstStyle/>
          <a:p>
            <a:r>
              <a:rPr lang="es-ES" dirty="0" smtClean="0"/>
              <a:t>La </a:t>
            </a:r>
            <a:r>
              <a:rPr lang="es-ES" b="1" dirty="0" smtClean="0">
                <a:solidFill>
                  <a:schemeClr val="tx2">
                    <a:lumMod val="60000"/>
                    <a:lumOff val="40000"/>
                  </a:schemeClr>
                </a:solidFill>
              </a:rPr>
              <a:t>teoría de la representación </a:t>
            </a:r>
            <a:r>
              <a:rPr lang="es-ES" dirty="0" smtClean="0"/>
              <a:t>de la medición establece los principios generales de la medición y su validez. </a:t>
            </a:r>
          </a:p>
          <a:p>
            <a:r>
              <a:rPr lang="es-ES" dirty="0" smtClean="0"/>
              <a:t>Esta teoría trata de expresar de forma numérica (mundo formal) las entidades del mundo real (o mundo empírico) y la correspondencia entre ambos mundos.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Entidades</a:t>
            </a:r>
            <a:r>
              <a:rPr lang="en-GB" dirty="0" smtClean="0"/>
              <a:t> y </a:t>
            </a:r>
            <a:r>
              <a:rPr lang="en-GB" dirty="0" err="1" smtClean="0"/>
              <a:t>atributos</a:t>
            </a:r>
            <a:endParaRPr lang="en-GB" dirty="0"/>
          </a:p>
        </p:txBody>
      </p:sp>
      <p:sp>
        <p:nvSpPr>
          <p:cNvPr id="3" name="Content Placeholder 2"/>
          <p:cNvSpPr>
            <a:spLocks noGrp="1"/>
          </p:cNvSpPr>
          <p:nvPr>
            <p:ph idx="1"/>
          </p:nvPr>
        </p:nvSpPr>
        <p:spPr/>
        <p:txBody>
          <a:bodyPr/>
          <a:lstStyle/>
          <a:p>
            <a:r>
              <a:rPr lang="es-ES" dirty="0" smtClean="0"/>
              <a:t>Se denomina </a:t>
            </a:r>
            <a:r>
              <a:rPr lang="es-ES" b="1" dirty="0" smtClean="0">
                <a:solidFill>
                  <a:schemeClr val="tx2">
                    <a:lumMod val="60000"/>
                    <a:lumOff val="40000"/>
                  </a:schemeClr>
                </a:solidFill>
              </a:rPr>
              <a:t>entidad</a:t>
            </a:r>
            <a:r>
              <a:rPr lang="es-ES" dirty="0" smtClean="0"/>
              <a:t> a un objeto que va a ser caracterizado mediante una medición de sus atributos. (ISO/IEC 15939)</a:t>
            </a:r>
          </a:p>
          <a:p>
            <a:r>
              <a:rPr lang="es-ES" dirty="0" smtClean="0"/>
              <a:t>Un </a:t>
            </a:r>
            <a:r>
              <a:rPr lang="es-ES" b="1" dirty="0" smtClean="0">
                <a:solidFill>
                  <a:schemeClr val="tx2">
                    <a:lumMod val="60000"/>
                    <a:lumOff val="40000"/>
                  </a:schemeClr>
                </a:solidFill>
              </a:rPr>
              <a:t>atributo</a:t>
            </a:r>
            <a:r>
              <a:rPr lang="es-ES" dirty="0" smtClean="0"/>
              <a:t> es una característica medible de una entidad.</a:t>
            </a:r>
            <a:endParaRPr lang="en-GB"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Medición</a:t>
            </a:r>
            <a:endParaRPr lang="en-GB" dirty="0"/>
          </a:p>
        </p:txBody>
      </p:sp>
      <p:sp>
        <p:nvSpPr>
          <p:cNvPr id="3" name="Content Placeholder 2"/>
          <p:cNvSpPr>
            <a:spLocks noGrp="1"/>
          </p:cNvSpPr>
          <p:nvPr>
            <p:ph idx="1"/>
          </p:nvPr>
        </p:nvSpPr>
        <p:spPr/>
        <p:txBody>
          <a:bodyPr>
            <a:normAutofit fontScale="92500" lnSpcReduction="10000"/>
          </a:bodyPr>
          <a:lstStyle/>
          <a:p>
            <a:r>
              <a:rPr lang="es-ES" dirty="0" smtClean="0"/>
              <a:t>La </a:t>
            </a:r>
            <a:r>
              <a:rPr lang="es-ES" b="1" dirty="0" smtClean="0">
                <a:solidFill>
                  <a:schemeClr val="tx2">
                    <a:lumMod val="60000"/>
                    <a:lumOff val="40000"/>
                  </a:schemeClr>
                </a:solidFill>
              </a:rPr>
              <a:t>medición</a:t>
            </a:r>
            <a:r>
              <a:rPr lang="es-ES" dirty="0" smtClean="0"/>
              <a:t> es el proceso por el que se asignan números o símbolos a atributos de entidades del mundo real para describirlos según unas reglas definidas de antemano.</a:t>
            </a:r>
          </a:p>
          <a:p>
            <a:r>
              <a:rPr lang="es-ES" b="1" dirty="0" smtClean="0">
                <a:solidFill>
                  <a:schemeClr val="tx2">
                    <a:lumMod val="60000"/>
                    <a:lumOff val="40000"/>
                  </a:schemeClr>
                </a:solidFill>
              </a:rPr>
              <a:t>Medida</a:t>
            </a:r>
            <a:r>
              <a:rPr lang="es-ES" dirty="0" smtClean="0"/>
              <a:t> es la asignación de un símbolo o número resultado de una medición a una entidad para caracterizar un atributo.</a:t>
            </a:r>
          </a:p>
          <a:p>
            <a:endParaRPr lang="es-ES" dirty="0" smtClean="0"/>
          </a:p>
          <a:p>
            <a:pPr lvl="1">
              <a:buNone/>
            </a:pPr>
            <a:r>
              <a:rPr lang="es-ES" dirty="0" err="1" smtClean="0"/>
              <a:t>Fenton</a:t>
            </a:r>
            <a:r>
              <a:rPr lang="es-ES" dirty="0" smtClean="0"/>
              <a:t>, N.E. y </a:t>
            </a:r>
            <a:r>
              <a:rPr lang="es-ES" dirty="0" err="1" smtClean="0"/>
              <a:t>Pfleeger</a:t>
            </a:r>
            <a:r>
              <a:rPr lang="es-ES" dirty="0" smtClean="0"/>
              <a:t> S.L.,</a:t>
            </a:r>
            <a:r>
              <a:rPr lang="en-GB" dirty="0" smtClean="0"/>
              <a:t> </a:t>
            </a:r>
            <a:r>
              <a:rPr lang="en-GB" i="1" dirty="0" smtClean="0"/>
              <a:t>Software Metrics: A Rigorous and Practical Approach</a:t>
            </a:r>
            <a:r>
              <a:rPr lang="en-GB" dirty="0" smtClean="0"/>
              <a:t>, 2nd edition,  1998</a:t>
            </a:r>
            <a:endParaRPr lang="es-ES" dirty="0" smtClean="0"/>
          </a:p>
          <a:p>
            <a:pPr lvl="1"/>
            <a:endParaRPr lang="en-GB"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Escalas</a:t>
            </a:r>
            <a:endParaRPr lang="en-GB" dirty="0"/>
          </a:p>
        </p:txBody>
      </p:sp>
      <p:sp>
        <p:nvSpPr>
          <p:cNvPr id="3" name="Content Placeholder 2"/>
          <p:cNvSpPr>
            <a:spLocks noGrp="1"/>
          </p:cNvSpPr>
          <p:nvPr>
            <p:ph idx="1"/>
          </p:nvPr>
        </p:nvSpPr>
        <p:spPr/>
        <p:txBody>
          <a:bodyPr/>
          <a:lstStyle/>
          <a:p>
            <a:r>
              <a:rPr lang="es-ES" dirty="0" smtClean="0"/>
              <a:t>Una escala de medición es un conjunto de valores que permite establecer relaciones entre medidas. Con frecuencia dicho conjunto es continuo, está ordenado y viene delimitado por un punto inicial y otro final.</a:t>
            </a:r>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Tipos</a:t>
            </a:r>
            <a:r>
              <a:rPr lang="en-GB" dirty="0" smtClean="0"/>
              <a:t> de </a:t>
            </a:r>
            <a:r>
              <a:rPr lang="en-GB" dirty="0" err="1" smtClean="0"/>
              <a:t>escala</a:t>
            </a:r>
            <a:endParaRPr lang="en-GB" dirty="0"/>
          </a:p>
        </p:txBody>
      </p:sp>
      <p:sp>
        <p:nvSpPr>
          <p:cNvPr id="3" name="Content Placeholder 2"/>
          <p:cNvSpPr>
            <a:spLocks noGrp="1"/>
          </p:cNvSpPr>
          <p:nvPr>
            <p:ph idx="1"/>
          </p:nvPr>
        </p:nvSpPr>
        <p:spPr/>
        <p:txBody>
          <a:bodyPr>
            <a:noAutofit/>
          </a:bodyPr>
          <a:lstStyle/>
          <a:p>
            <a:r>
              <a:rPr lang="es-ES" sz="1700" b="1" dirty="0" smtClean="0">
                <a:solidFill>
                  <a:schemeClr val="tx2">
                    <a:lumMod val="50000"/>
                  </a:schemeClr>
                </a:solidFill>
              </a:rPr>
              <a:t>Escala nominal</a:t>
            </a:r>
            <a:r>
              <a:rPr lang="es-ES" sz="1700" dirty="0" smtClean="0"/>
              <a:t>.  Formada por categorías  entre las cuales no existe ningún orden.  </a:t>
            </a:r>
            <a:r>
              <a:rPr lang="es-ES" sz="1700" dirty="0" err="1" smtClean="0"/>
              <a:t>P.e.</a:t>
            </a:r>
            <a:r>
              <a:rPr lang="es-ES" sz="1700" dirty="0" smtClean="0"/>
              <a:t>, Lenguaje: {Java, C++, </a:t>
            </a:r>
            <a:r>
              <a:rPr lang="es-ES" sz="1700" dirty="0" err="1" smtClean="0"/>
              <a:t>Phyton</a:t>
            </a:r>
            <a:r>
              <a:rPr lang="es-ES" sz="1700" dirty="0" smtClean="0"/>
              <a:t>}.</a:t>
            </a:r>
          </a:p>
          <a:p>
            <a:r>
              <a:rPr lang="es-ES" sz="1700" b="1" dirty="0" smtClean="0">
                <a:solidFill>
                  <a:schemeClr val="tx2">
                    <a:lumMod val="50000"/>
                  </a:schemeClr>
                </a:solidFill>
              </a:rPr>
              <a:t>Escala ordinal</a:t>
            </a:r>
            <a:r>
              <a:rPr lang="es-ES" sz="1700" dirty="0" smtClean="0"/>
              <a:t>. Define categorías pero existe una relación de orden "es menor que" entre ellas.  </a:t>
            </a:r>
            <a:r>
              <a:rPr lang="es-ES" sz="1700" dirty="0" err="1" smtClean="0"/>
              <a:t>P.e.</a:t>
            </a:r>
            <a:r>
              <a:rPr lang="es-ES" sz="1700" dirty="0" smtClean="0"/>
              <a:t>, la escala de </a:t>
            </a:r>
            <a:r>
              <a:rPr lang="es-ES" sz="1700" dirty="0" err="1" smtClean="0"/>
              <a:t>Likert</a:t>
            </a:r>
            <a:r>
              <a:rPr lang="es-ES" sz="1700" dirty="0" smtClean="0"/>
              <a:t>,  {Muy poco, Poco, Medio, Bastante, Mucho}. </a:t>
            </a:r>
          </a:p>
          <a:p>
            <a:r>
              <a:rPr lang="es-ES" sz="1700" b="1" dirty="0" smtClean="0">
                <a:solidFill>
                  <a:schemeClr val="tx2">
                    <a:lumMod val="50000"/>
                  </a:schemeClr>
                </a:solidFill>
              </a:rPr>
              <a:t>Escala intervalo</a:t>
            </a:r>
            <a:r>
              <a:rPr lang="es-ES" sz="1700" dirty="0" smtClean="0"/>
              <a:t>. En esta escala la distancia entre intervalos es conocida y siempre la misma, si bien no tienen un valor inicial de referencia o cero absoluto.  </a:t>
            </a:r>
          </a:p>
          <a:p>
            <a:pPr lvl="1"/>
            <a:r>
              <a:rPr lang="es-ES" sz="1700" dirty="0" err="1" smtClean="0"/>
              <a:t>P.e.</a:t>
            </a:r>
            <a:r>
              <a:rPr lang="es-ES" sz="1700" dirty="0" smtClean="0"/>
              <a:t> la temperatura en Celsius donde la diferencia entre 12ºC y 13ºC es la misma que entre 24ºC y 25ºC, pero no podemos decir que a 24ºC haga ``el doble de calor'' que a 12ºC.  Fechas,  podemos decir que un proyecto estará en el día 200, pero no que un proyecto va a empezar el ``doble de tarde'' que otro.</a:t>
            </a:r>
          </a:p>
          <a:p>
            <a:r>
              <a:rPr lang="es-ES" sz="1700" b="1" dirty="0" smtClean="0">
                <a:solidFill>
                  <a:schemeClr val="tx2">
                    <a:lumMod val="50000"/>
                  </a:schemeClr>
                </a:solidFill>
              </a:rPr>
              <a:t>Escala de ratio</a:t>
            </a:r>
            <a:r>
              <a:rPr lang="es-ES" sz="1700" dirty="0" smtClean="0"/>
              <a:t>. Tienen un valor inicial de referencia o cero absoluto, y permiten definir ratios coherentes con los valores de la escala (se pueden comparar los valores estableciendo proporciones). </a:t>
            </a:r>
            <a:r>
              <a:rPr lang="es-ES" sz="1700" dirty="0" err="1" smtClean="0"/>
              <a:t>P.e.</a:t>
            </a:r>
            <a:r>
              <a:rPr lang="es-ES" sz="1700" dirty="0" smtClean="0"/>
              <a:t>, temperatura en Kelvin.</a:t>
            </a:r>
          </a:p>
          <a:p>
            <a:r>
              <a:rPr lang="es-ES" sz="1700" b="1" dirty="0" smtClean="0">
                <a:solidFill>
                  <a:schemeClr val="tx2">
                    <a:lumMod val="50000"/>
                  </a:schemeClr>
                </a:solidFill>
              </a:rPr>
              <a:t>Escala absoluta</a:t>
            </a:r>
            <a:r>
              <a:rPr lang="es-ES" sz="1700" dirty="0" smtClean="0"/>
              <a:t>. Las escalas absolutas tienen las características de las escalas anteriores, si bien consisten simplemente en el conteo.  </a:t>
            </a:r>
            <a:r>
              <a:rPr lang="es-ES" sz="1700" dirty="0" err="1" smtClean="0"/>
              <a:t>P.e.</a:t>
            </a:r>
            <a:r>
              <a:rPr lang="es-ES" sz="1700" dirty="0" smtClean="0"/>
              <a:t>, número de programadores.</a:t>
            </a:r>
            <a:endParaRPr lang="en-GB" sz="17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S" dirty="0" smtClean="0"/>
              <a:t>Operaciones estadísticas y matemáticas permitidas</a:t>
            </a:r>
            <a:endParaRPr lang="en-GB" dirty="0"/>
          </a:p>
        </p:txBody>
      </p:sp>
      <p:graphicFrame>
        <p:nvGraphicFramePr>
          <p:cNvPr id="5" name="Content Placeholder 4"/>
          <p:cNvGraphicFramePr>
            <a:graphicFrameLocks noGrp="1"/>
          </p:cNvGraphicFramePr>
          <p:nvPr>
            <p:ph idx="1"/>
          </p:nvPr>
        </p:nvGraphicFramePr>
        <p:xfrm>
          <a:off x="457200" y="2753360"/>
          <a:ext cx="8229600" cy="245364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r>
                        <a:rPr lang="en-GB" sz="2000" dirty="0" err="1" smtClean="0"/>
                        <a:t>Escala</a:t>
                      </a:r>
                      <a:endParaRPr lang="en-GB" sz="2000" dirty="0"/>
                    </a:p>
                  </a:txBody>
                  <a:tcPr/>
                </a:tc>
                <a:tc>
                  <a:txBody>
                    <a:bodyPr/>
                    <a:lstStyle/>
                    <a:p>
                      <a:r>
                        <a:rPr lang="en-GB" sz="2000" dirty="0" err="1" smtClean="0"/>
                        <a:t>Operaciones</a:t>
                      </a:r>
                      <a:r>
                        <a:rPr lang="en-GB" sz="2000" dirty="0" smtClean="0"/>
                        <a:t> </a:t>
                      </a:r>
                      <a:r>
                        <a:rPr lang="en-GB" sz="2000" dirty="0" err="1" smtClean="0"/>
                        <a:t>estadísticas</a:t>
                      </a:r>
                      <a:endParaRPr lang="en-GB" sz="2000" dirty="0"/>
                    </a:p>
                  </a:txBody>
                  <a:tcPr/>
                </a:tc>
                <a:tc>
                  <a:txBody>
                    <a:bodyPr/>
                    <a:lstStyle/>
                    <a:p>
                      <a:r>
                        <a:rPr lang="en-GB" sz="2000" dirty="0" err="1" smtClean="0"/>
                        <a:t>Operaciones</a:t>
                      </a:r>
                      <a:r>
                        <a:rPr lang="en-GB" sz="2000" baseline="0" dirty="0" smtClean="0"/>
                        <a:t> </a:t>
                      </a:r>
                      <a:r>
                        <a:rPr lang="en-GB" sz="2000" baseline="0" dirty="0" err="1" smtClean="0"/>
                        <a:t>matemáticas</a:t>
                      </a:r>
                      <a:endParaRPr lang="en-GB" sz="2000" dirty="0"/>
                    </a:p>
                  </a:txBody>
                  <a:tcPr/>
                </a:tc>
              </a:tr>
              <a:tr h="370840">
                <a:tc>
                  <a:txBody>
                    <a:bodyPr/>
                    <a:lstStyle/>
                    <a:p>
                      <a:r>
                        <a:rPr lang="en-GB" dirty="0" smtClean="0"/>
                        <a:t>Nominal</a:t>
                      </a:r>
                      <a:endParaRPr lang="en-GB" dirty="0"/>
                    </a:p>
                  </a:txBody>
                  <a:tcPr/>
                </a:tc>
                <a:tc>
                  <a:txBody>
                    <a:bodyPr/>
                    <a:lstStyle/>
                    <a:p>
                      <a:r>
                        <a:rPr lang="en-GB" dirty="0" err="1" smtClean="0"/>
                        <a:t>moda</a:t>
                      </a:r>
                      <a:endParaRPr lang="en-GB" dirty="0"/>
                    </a:p>
                  </a:txBody>
                  <a:tcPr/>
                </a:tc>
                <a:tc>
                  <a:txBody>
                    <a:bodyPr/>
                    <a:lstStyle/>
                    <a:p>
                      <a:r>
                        <a:rPr lang="en-GB" dirty="0" smtClean="0"/>
                        <a:t>=</a:t>
                      </a:r>
                      <a:endParaRPr lang="en-GB" dirty="0"/>
                    </a:p>
                  </a:txBody>
                  <a:tcPr/>
                </a:tc>
              </a:tr>
              <a:tr h="370840">
                <a:tc>
                  <a:txBody>
                    <a:bodyPr/>
                    <a:lstStyle/>
                    <a:p>
                      <a:r>
                        <a:rPr lang="en-GB" dirty="0" smtClean="0"/>
                        <a:t>Ordinal</a:t>
                      </a:r>
                      <a:endParaRPr lang="en-GB" dirty="0"/>
                    </a:p>
                  </a:txBody>
                  <a:tcPr/>
                </a:tc>
                <a:tc>
                  <a:txBody>
                    <a:bodyPr/>
                    <a:lstStyle/>
                    <a:p>
                      <a:r>
                        <a:rPr lang="en-GB" dirty="0" smtClean="0"/>
                        <a:t>medina</a:t>
                      </a:r>
                      <a:endParaRPr lang="en-GB" dirty="0"/>
                    </a:p>
                  </a:txBody>
                  <a:tcPr/>
                </a:tc>
                <a:tc>
                  <a:txBody>
                    <a:bodyPr/>
                    <a:lstStyle/>
                    <a:p>
                      <a:r>
                        <a:rPr lang="en-GB" dirty="0" smtClean="0"/>
                        <a:t>&gt;, &lt;</a:t>
                      </a:r>
                      <a:endParaRPr lang="en-GB" dirty="0"/>
                    </a:p>
                  </a:txBody>
                  <a:tcPr/>
                </a:tc>
              </a:tr>
              <a:tr h="370840">
                <a:tc>
                  <a:txBody>
                    <a:bodyPr/>
                    <a:lstStyle/>
                    <a:p>
                      <a:r>
                        <a:rPr lang="en-GB" dirty="0" err="1" smtClean="0"/>
                        <a:t>Intervalo</a:t>
                      </a:r>
                      <a:endParaRPr lang="en-GB" dirty="0"/>
                    </a:p>
                  </a:txBody>
                  <a:tcPr/>
                </a:tc>
                <a:tc>
                  <a:txBody>
                    <a:bodyPr/>
                    <a:lstStyle/>
                    <a:p>
                      <a:r>
                        <a:rPr lang="en-GB" dirty="0" smtClean="0"/>
                        <a:t>Media,</a:t>
                      </a:r>
                      <a:r>
                        <a:rPr lang="en-GB" baseline="0" dirty="0" smtClean="0"/>
                        <a:t> </a:t>
                      </a:r>
                      <a:r>
                        <a:rPr lang="en-GB" baseline="0" dirty="0" err="1" smtClean="0"/>
                        <a:t>desvacion</a:t>
                      </a:r>
                      <a:r>
                        <a:rPr lang="en-GB" baseline="0" dirty="0" smtClean="0"/>
                        <a:t> </a:t>
                      </a:r>
                      <a:r>
                        <a:rPr lang="en-GB" baseline="0" dirty="0" err="1" smtClean="0"/>
                        <a:t>estándar</a:t>
                      </a:r>
                      <a:r>
                        <a:rPr lang="en-GB" baseline="0" dirty="0" smtClean="0"/>
                        <a:t> </a:t>
                      </a:r>
                      <a:endParaRPr lang="en-GB" dirty="0"/>
                    </a:p>
                  </a:txBody>
                  <a:tcPr/>
                </a:tc>
                <a:tc>
                  <a:txBody>
                    <a:bodyPr/>
                    <a:lstStyle/>
                    <a:p>
                      <a:r>
                        <a:rPr lang="en-GB" dirty="0" smtClean="0"/>
                        <a:t>+, -</a:t>
                      </a:r>
                      <a:endParaRPr lang="en-GB" dirty="0"/>
                    </a:p>
                  </a:txBody>
                  <a:tcPr/>
                </a:tc>
              </a:tr>
              <a:tr h="370840">
                <a:tc>
                  <a:txBody>
                    <a:bodyPr/>
                    <a:lstStyle/>
                    <a:p>
                      <a:r>
                        <a:rPr lang="en-GB" dirty="0" smtClean="0"/>
                        <a:t>Ratio</a:t>
                      </a:r>
                      <a:endParaRPr lang="en-GB" dirty="0"/>
                    </a:p>
                  </a:txBody>
                  <a:tcPr/>
                </a:tc>
                <a:tc>
                  <a:txBody>
                    <a:bodyPr/>
                    <a:lstStyle/>
                    <a:p>
                      <a:r>
                        <a:rPr lang="en-GB" dirty="0" smtClean="0"/>
                        <a:t>Media </a:t>
                      </a:r>
                      <a:r>
                        <a:rPr lang="en-GB" dirty="0" err="1" smtClean="0"/>
                        <a:t>geométrica</a:t>
                      </a:r>
                      <a:r>
                        <a:rPr lang="en-GB" dirty="0" smtClean="0"/>
                        <a:t>, </a:t>
                      </a:r>
                      <a:r>
                        <a:rPr lang="en-GB" dirty="0" err="1" smtClean="0"/>
                        <a:t>Coeficiente</a:t>
                      </a:r>
                      <a:r>
                        <a:rPr lang="en-GB" dirty="0" smtClean="0"/>
                        <a:t> de </a:t>
                      </a:r>
                      <a:r>
                        <a:rPr lang="en-GB" dirty="0" err="1" smtClean="0"/>
                        <a:t>variación</a:t>
                      </a:r>
                      <a:endParaRPr lang="en-GB" dirty="0"/>
                    </a:p>
                  </a:txBody>
                  <a:tcPr/>
                </a:tc>
                <a:tc>
                  <a:txBody>
                    <a:bodyPr/>
                    <a:lstStyle/>
                    <a:p>
                      <a:r>
                        <a:rPr lang="en-GB" dirty="0" smtClean="0"/>
                        <a:t>+, -, ×, ÷</a:t>
                      </a:r>
                      <a:endParaRPr lang="en-GB" dirty="0"/>
                    </a:p>
                  </a:txBody>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err="1" smtClean="0"/>
              <a:t>Evaluación</a:t>
            </a:r>
            <a:r>
              <a:rPr lang="en-GB" dirty="0" smtClean="0"/>
              <a:t> </a:t>
            </a:r>
            <a:r>
              <a:rPr lang="en-GB" dirty="0" err="1" smtClean="0"/>
              <a:t>empírica</a:t>
            </a:r>
            <a:endParaRPr lang="en-GB" dirty="0"/>
          </a:p>
        </p:txBody>
      </p:sp>
      <p:sp>
        <p:nvSpPr>
          <p:cNvPr id="3" name="Subtitle 2"/>
          <p:cNvSpPr>
            <a:spLocks noGrp="1"/>
          </p:cNvSpPr>
          <p:nvPr>
            <p:ph type="subTitle" idx="1"/>
          </p:nvPr>
        </p:nvSpPr>
        <p:spPr/>
        <p:txBody>
          <a:bodyPr/>
          <a:lstStyle/>
          <a:p>
            <a:endParaRPr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Tipos</a:t>
            </a:r>
            <a:r>
              <a:rPr lang="en-GB" dirty="0" smtClean="0"/>
              <a:t> de </a:t>
            </a:r>
            <a:r>
              <a:rPr lang="en-GB" dirty="0" err="1" smtClean="0"/>
              <a:t>evaluación</a:t>
            </a:r>
            <a:r>
              <a:rPr lang="en-GB" dirty="0" smtClean="0"/>
              <a:t> </a:t>
            </a:r>
            <a:r>
              <a:rPr lang="en-GB" dirty="0" err="1" smtClean="0"/>
              <a:t>empírica</a:t>
            </a:r>
            <a:endParaRPr lang="en-GB" dirty="0"/>
          </a:p>
        </p:txBody>
      </p:sp>
      <p:sp>
        <p:nvSpPr>
          <p:cNvPr id="3" name="Content Placeholder 2"/>
          <p:cNvSpPr>
            <a:spLocks noGrp="1"/>
          </p:cNvSpPr>
          <p:nvPr>
            <p:ph idx="1"/>
          </p:nvPr>
        </p:nvSpPr>
        <p:spPr/>
        <p:txBody>
          <a:bodyPr>
            <a:normAutofit fontScale="92500" lnSpcReduction="20000"/>
          </a:bodyPr>
          <a:lstStyle/>
          <a:p>
            <a:r>
              <a:rPr lang="es-ES" dirty="0" smtClean="0"/>
              <a:t>Las </a:t>
            </a:r>
            <a:r>
              <a:rPr lang="es-ES" b="1" dirty="0" smtClean="0"/>
              <a:t>encuestas</a:t>
            </a:r>
            <a:r>
              <a:rPr lang="es-ES" dirty="0" smtClean="0"/>
              <a:t> son estudios retrospectivos cuya intención es documentar relaciones y resultados, siendo una de las herramientas más útiles para recabar un buen número de datos que posteriormente serán analizados. </a:t>
            </a:r>
          </a:p>
          <a:p>
            <a:r>
              <a:rPr lang="es-ES" dirty="0" smtClean="0"/>
              <a:t>Los </a:t>
            </a:r>
            <a:r>
              <a:rPr lang="es-ES" b="1" dirty="0" smtClean="0"/>
              <a:t>Casos de estudio </a:t>
            </a:r>
            <a:r>
              <a:rPr lang="es-ES" dirty="0" smtClean="0"/>
              <a:t>son empleados para identificar y documentar factores clave que pueden afectar los resultados de una actividad.</a:t>
            </a:r>
          </a:p>
          <a:p>
            <a:r>
              <a:rPr lang="en-GB" b="1" dirty="0" err="1" smtClean="0"/>
              <a:t>Experimentos</a:t>
            </a:r>
            <a:r>
              <a:rPr lang="en-GB" b="1" dirty="0" smtClean="0"/>
              <a:t> </a:t>
            </a:r>
            <a:r>
              <a:rPr lang="en-GB" b="1" dirty="0" err="1" smtClean="0"/>
              <a:t>formales</a:t>
            </a:r>
            <a:r>
              <a:rPr lang="en-GB" b="1" dirty="0" smtClean="0"/>
              <a:t> </a:t>
            </a:r>
            <a:r>
              <a:rPr lang="en-GB" dirty="0" smtClean="0"/>
              <a:t>se </a:t>
            </a:r>
            <a:r>
              <a:rPr lang="en-GB" dirty="0" err="1" smtClean="0"/>
              <a:t>emplean</a:t>
            </a:r>
            <a:r>
              <a:rPr lang="en-GB" dirty="0" smtClean="0"/>
              <a:t> </a:t>
            </a:r>
            <a:r>
              <a:rPr lang="en-GB" dirty="0" err="1" smtClean="0"/>
              <a:t>para</a:t>
            </a:r>
            <a:r>
              <a:rPr lang="en-GB" dirty="0" smtClean="0"/>
              <a:t>, de forma   </a:t>
            </a:r>
            <a:r>
              <a:rPr lang="en-GB" dirty="0" err="1" smtClean="0"/>
              <a:t>controlada</a:t>
            </a:r>
            <a:r>
              <a:rPr lang="en-GB" dirty="0" smtClean="0"/>
              <a:t> y </a:t>
            </a:r>
            <a:r>
              <a:rPr lang="en-GB" dirty="0" err="1" smtClean="0"/>
              <a:t>rigurosa</a:t>
            </a:r>
            <a:r>
              <a:rPr lang="en-GB" dirty="0" smtClean="0"/>
              <a:t>, </a:t>
            </a:r>
            <a:r>
              <a:rPr lang="en-GB" dirty="0" err="1" smtClean="0"/>
              <a:t>investigar</a:t>
            </a:r>
            <a:r>
              <a:rPr lang="en-GB" dirty="0" smtClean="0"/>
              <a:t> </a:t>
            </a:r>
            <a:r>
              <a:rPr lang="en-GB" dirty="0" err="1" smtClean="0"/>
              <a:t>cuantitativamente</a:t>
            </a:r>
            <a:r>
              <a:rPr lang="en-GB" dirty="0" smtClean="0"/>
              <a:t>    </a:t>
            </a:r>
            <a:r>
              <a:rPr lang="en-GB" dirty="0" err="1" smtClean="0"/>
              <a:t>aquellos</a:t>
            </a:r>
            <a:r>
              <a:rPr lang="en-GB" dirty="0" smtClean="0"/>
              <a:t> </a:t>
            </a:r>
            <a:r>
              <a:rPr lang="en-GB" dirty="0" err="1" smtClean="0"/>
              <a:t>factores</a:t>
            </a:r>
            <a:r>
              <a:rPr lang="en-GB" dirty="0" smtClean="0"/>
              <a:t> </a:t>
            </a:r>
            <a:r>
              <a:rPr lang="en-GB" dirty="0" err="1" smtClean="0"/>
              <a:t>que</a:t>
            </a:r>
            <a:r>
              <a:rPr lang="en-GB" dirty="0" smtClean="0"/>
              <a:t> </a:t>
            </a:r>
            <a:r>
              <a:rPr lang="en-GB" dirty="0" err="1" smtClean="0"/>
              <a:t>afectan</a:t>
            </a:r>
            <a:r>
              <a:rPr lang="en-GB" dirty="0" smtClean="0"/>
              <a:t> a </a:t>
            </a:r>
            <a:r>
              <a:rPr lang="en-GB" dirty="0" err="1" smtClean="0"/>
              <a:t>las</a:t>
            </a:r>
            <a:r>
              <a:rPr lang="en-GB" dirty="0" smtClean="0"/>
              <a:t> </a:t>
            </a:r>
            <a:r>
              <a:rPr lang="en-GB" dirty="0" err="1" smtClean="0"/>
              <a:t>actividades</a:t>
            </a:r>
            <a:r>
              <a:rPr lang="en-GB" dirty="0" smtClean="0"/>
              <a:t> a   </a:t>
            </a:r>
            <a:r>
              <a:rPr lang="en-GB" dirty="0" err="1" smtClean="0"/>
              <a:t>realizar</a:t>
            </a:r>
            <a:r>
              <a:rPr lang="en-GB" dirty="0" smtClean="0"/>
              <a:t>.</a:t>
            </a:r>
            <a:endParaRPr lang="en-GB"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Encuestas</a:t>
            </a:r>
            <a:endParaRPr lang="en-GB" dirty="0"/>
          </a:p>
        </p:txBody>
      </p:sp>
      <p:sp>
        <p:nvSpPr>
          <p:cNvPr id="3" name="Content Placeholder 2"/>
          <p:cNvSpPr>
            <a:spLocks noGrp="1"/>
          </p:cNvSpPr>
          <p:nvPr>
            <p:ph idx="1"/>
          </p:nvPr>
        </p:nvSpPr>
        <p:spPr/>
        <p:txBody>
          <a:bodyPr>
            <a:normAutofit fontScale="70000" lnSpcReduction="20000"/>
          </a:bodyPr>
          <a:lstStyle/>
          <a:p>
            <a:r>
              <a:rPr lang="es-ES" dirty="0" smtClean="0"/>
              <a:t>Las encuestas son un método que se emplea para recabar datos que están en la memoria de los entrevistados. </a:t>
            </a:r>
          </a:p>
          <a:p>
            <a:pPr lvl="1"/>
            <a:r>
              <a:rPr lang="es-ES" dirty="0" smtClean="0"/>
              <a:t>Por ejemplo, puede evaluarse un nuevo método o herramienta en una organización a través de un cuestionario de los empleados.</a:t>
            </a:r>
          </a:p>
          <a:p>
            <a:r>
              <a:rPr lang="es-ES" dirty="0" smtClean="0"/>
              <a:t>Las encuestas forman parte de lo que se conoce como investigación a gran escala </a:t>
            </a:r>
            <a:r>
              <a:rPr lang="en-GB" dirty="0" smtClean="0"/>
              <a:t>(</a:t>
            </a:r>
            <a:r>
              <a:rPr lang="es-ES" i="1" dirty="0" err="1" smtClean="0"/>
              <a:t>research</a:t>
            </a:r>
            <a:r>
              <a:rPr lang="es-ES" i="1" dirty="0" smtClean="0"/>
              <a:t> in-</a:t>
            </a:r>
            <a:r>
              <a:rPr lang="es-ES" i="1" dirty="0" err="1" smtClean="0"/>
              <a:t>the</a:t>
            </a:r>
            <a:r>
              <a:rPr lang="es-ES" i="1" dirty="0" smtClean="0"/>
              <a:t>-</a:t>
            </a:r>
            <a:r>
              <a:rPr lang="es-ES" i="1" dirty="0" err="1" smtClean="0"/>
              <a:t>large</a:t>
            </a:r>
            <a:r>
              <a:rPr lang="es-ES" dirty="0" smtClean="0"/>
              <a:t>),  pues sirven para recopilar un gran número de datos acerca de diferentes personas y proyectos. </a:t>
            </a:r>
          </a:p>
          <a:p>
            <a:pPr lvl="1"/>
            <a:r>
              <a:rPr lang="es-ES" dirty="0" smtClean="0"/>
              <a:t>Esto además permite que las conclusiones puedan generalizarse, siempre y cuando la selección de los entrevistados haya sido realmente aleatoria y significativa.</a:t>
            </a:r>
          </a:p>
          <a:p>
            <a:r>
              <a:rPr lang="es-ES" dirty="0" smtClean="0"/>
              <a:t>Una vez establecido el objeto(s) de interés, y dependiendo tanto de la población seleccionada como del porcentaje de respuestas esperadas, las entrevistas pueden diseñarse para ser realizadas cara a cara, por correo o a través de Internet (Web o email). </a:t>
            </a:r>
          </a:p>
          <a:p>
            <a:endParaRPr lang="es-ES" dirty="0" smtClean="0"/>
          </a:p>
          <a:p>
            <a:endParaRPr lang="en-GB"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Tipos</a:t>
            </a:r>
            <a:r>
              <a:rPr lang="en-GB" dirty="0" smtClean="0"/>
              <a:t> de </a:t>
            </a:r>
            <a:r>
              <a:rPr lang="en-GB" dirty="0" err="1" smtClean="0"/>
              <a:t>encuestas</a:t>
            </a:r>
            <a:endParaRPr lang="en-GB" dirty="0"/>
          </a:p>
        </p:txBody>
      </p:sp>
      <p:sp>
        <p:nvSpPr>
          <p:cNvPr id="3" name="Content Placeholder 2"/>
          <p:cNvSpPr>
            <a:spLocks noGrp="1"/>
          </p:cNvSpPr>
          <p:nvPr>
            <p:ph idx="1"/>
          </p:nvPr>
        </p:nvSpPr>
        <p:spPr/>
        <p:txBody>
          <a:bodyPr>
            <a:normAutofit fontScale="85000" lnSpcReduction="20000"/>
          </a:bodyPr>
          <a:lstStyle/>
          <a:p>
            <a:r>
              <a:rPr lang="es-ES" dirty="0" smtClean="0"/>
              <a:t>Dependiendo del método utilizado existen tres maneras de llevar a cabo las entrevistas:</a:t>
            </a:r>
          </a:p>
          <a:p>
            <a:pPr lvl="1"/>
            <a:r>
              <a:rPr lang="es-ES" b="1" dirty="0" smtClean="0"/>
              <a:t>Entrevistas estructuradas</a:t>
            </a:r>
            <a:r>
              <a:rPr lang="es-ES" dirty="0" smtClean="0"/>
              <a:t>, en las que las preguntas corren a cargo del entrevistador. Dichas preguntas están fijadas de antemano, son las mismas para todos los entrevistados y no se modifican durante la entrevista.</a:t>
            </a:r>
          </a:p>
          <a:p>
            <a:pPr lvl="1"/>
            <a:r>
              <a:rPr lang="es-ES" b="1" dirty="0" smtClean="0"/>
              <a:t>Entrevistas  no estructuradas</a:t>
            </a:r>
            <a:r>
              <a:rPr lang="es-ES" dirty="0" smtClean="0"/>
              <a:t>, donde el entrevistado puede ser la fuente tanto de respuestas como de preguntas. El objetivo es obtener la mayor información posible del entrevistado.</a:t>
            </a:r>
          </a:p>
          <a:p>
            <a:pPr lvl="1"/>
            <a:r>
              <a:rPr lang="es-ES" b="1" dirty="0" smtClean="0"/>
              <a:t>Entrevistas </a:t>
            </a:r>
            <a:r>
              <a:rPr lang="es-ES" b="1" dirty="0" err="1" smtClean="0"/>
              <a:t>semi</a:t>
            </a:r>
            <a:r>
              <a:rPr lang="es-ES" b="1" dirty="0" smtClean="0"/>
              <a:t>-estructuradas</a:t>
            </a:r>
            <a:r>
              <a:rPr lang="es-ES" dirty="0" smtClean="0"/>
              <a:t>, formadas por un conjunto de preguntas abiertas que facilitan el que el entrevistado pueda ofrecer información no prevista por el entrevistador.</a:t>
            </a:r>
            <a:endParaRPr lang="en-GB"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Objetivo</a:t>
            </a:r>
            <a:r>
              <a:rPr lang="en-GB" dirty="0" smtClean="0"/>
              <a:t> de </a:t>
            </a:r>
            <a:r>
              <a:rPr lang="en-GB" dirty="0" err="1" smtClean="0"/>
              <a:t>las</a:t>
            </a:r>
            <a:r>
              <a:rPr lang="en-GB" dirty="0" smtClean="0"/>
              <a:t> </a:t>
            </a:r>
            <a:r>
              <a:rPr lang="en-GB" dirty="0" err="1" smtClean="0"/>
              <a:t>encuestas</a:t>
            </a:r>
            <a:endParaRPr lang="en-GB" dirty="0"/>
          </a:p>
        </p:txBody>
      </p:sp>
      <p:sp>
        <p:nvSpPr>
          <p:cNvPr id="3" name="Content Placeholder 2"/>
          <p:cNvSpPr>
            <a:spLocks noGrp="1"/>
          </p:cNvSpPr>
          <p:nvPr>
            <p:ph idx="1"/>
          </p:nvPr>
        </p:nvSpPr>
        <p:spPr/>
        <p:txBody>
          <a:bodyPr>
            <a:noAutofit/>
          </a:bodyPr>
          <a:lstStyle/>
          <a:p>
            <a:r>
              <a:rPr lang="es-ES" sz="2000" dirty="0" smtClean="0"/>
              <a:t>Pueden utilizarse tanto para generar teorías como para confirmarlas.</a:t>
            </a:r>
          </a:p>
          <a:p>
            <a:pPr lvl="1"/>
            <a:r>
              <a:rPr lang="es-ES" sz="1600" dirty="0" smtClean="0"/>
              <a:t>La </a:t>
            </a:r>
            <a:r>
              <a:rPr lang="es-ES" sz="1600" b="1" dirty="0" smtClean="0"/>
              <a:t>generación de teorías </a:t>
            </a:r>
            <a:r>
              <a:rPr lang="es-ES" sz="1600" dirty="0" smtClean="0"/>
              <a:t>se realiza extrayendo de las notas de las entrevistas que permitan ``afirmaciones'' avaladas por los datos, es decir, son estudios descriptivos o explicativos.  </a:t>
            </a:r>
          </a:p>
          <a:p>
            <a:pPr lvl="1"/>
            <a:r>
              <a:rPr lang="es-ES" sz="1600" dirty="0" smtClean="0"/>
              <a:t>Por otro lado, las entrevistas ayudan a la </a:t>
            </a:r>
            <a:r>
              <a:rPr lang="es-ES" sz="1600" b="1" dirty="0" smtClean="0"/>
              <a:t>formulación de hipótesis</a:t>
            </a:r>
            <a:r>
              <a:rPr lang="es-ES" sz="1600" dirty="0" smtClean="0"/>
              <a:t>, es decir como estudios exploratorios que ayudan a buscar futuras líneas de investigación.</a:t>
            </a:r>
          </a:p>
          <a:p>
            <a:r>
              <a:rPr lang="es-ES" sz="2000" dirty="0" smtClean="0"/>
              <a:t>Existen guías tanto para la correcta planificación y realización de los cuestionarios como para su análisis. En éste último caso, pueden utilizarse técnicas estadísticas si lo que se desea evaluar son los resultados de cuestionarios cuantitativos. </a:t>
            </a:r>
          </a:p>
          <a:p>
            <a:r>
              <a:rPr lang="es-ES" sz="2000" dirty="0" smtClean="0"/>
              <a:t>Para datos cualitativos y generación de teorías pueden utilizarse por ejemplo el </a:t>
            </a:r>
            <a:r>
              <a:rPr lang="es-ES" sz="2000" i="1" dirty="0" smtClean="0"/>
              <a:t>método de comparación constante </a:t>
            </a:r>
            <a:r>
              <a:rPr lang="es-ES" sz="2000" dirty="0" smtClean="0"/>
              <a:t>y </a:t>
            </a:r>
            <a:r>
              <a:rPr lang="es-ES" sz="2000" b="1" i="1" dirty="0" smtClean="0"/>
              <a:t>teoría fundamentada</a:t>
            </a:r>
            <a:r>
              <a:rPr lang="es-ES" sz="2000" dirty="0" smtClean="0"/>
              <a:t>.</a:t>
            </a:r>
          </a:p>
          <a:p>
            <a:r>
              <a:rPr lang="es-ES" sz="2000" dirty="0" smtClean="0"/>
              <a:t>Generalmente las encuestas son cualitativas, aunque pueden ser cuantitativas dependiendo de cómo se haya diseñado la encuesta. </a:t>
            </a:r>
          </a:p>
          <a:p>
            <a:endParaRPr lang="en-GB" sz="18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err="1" smtClean="0"/>
              <a:t>Teoría</a:t>
            </a:r>
            <a:r>
              <a:rPr lang="en-GB" dirty="0" smtClean="0"/>
              <a:t> </a:t>
            </a:r>
            <a:r>
              <a:rPr lang="en-GB" dirty="0" err="1" smtClean="0"/>
              <a:t>fundamentada</a:t>
            </a:r>
            <a:r>
              <a:rPr lang="en-GB" dirty="0" smtClean="0"/>
              <a:t> </a:t>
            </a:r>
            <a:br>
              <a:rPr lang="en-GB" dirty="0" smtClean="0"/>
            </a:br>
            <a:r>
              <a:rPr lang="en-GB" dirty="0" smtClean="0"/>
              <a:t>(</a:t>
            </a:r>
            <a:r>
              <a:rPr lang="en-GB" i="1" dirty="0" smtClean="0"/>
              <a:t>Grounded Theory</a:t>
            </a:r>
            <a:r>
              <a:rPr lang="en-GB" dirty="0" smtClean="0"/>
              <a:t>)</a:t>
            </a:r>
            <a:endParaRPr lang="en-GB" dirty="0"/>
          </a:p>
        </p:txBody>
      </p:sp>
      <p:sp>
        <p:nvSpPr>
          <p:cNvPr id="3" name="Content Placeholder 2"/>
          <p:cNvSpPr>
            <a:spLocks noGrp="1"/>
          </p:cNvSpPr>
          <p:nvPr>
            <p:ph idx="1"/>
          </p:nvPr>
        </p:nvSpPr>
        <p:spPr/>
        <p:txBody>
          <a:bodyPr>
            <a:normAutofit fontScale="92500" lnSpcReduction="10000"/>
          </a:bodyPr>
          <a:lstStyle/>
          <a:p>
            <a:r>
              <a:rPr lang="es-ES" dirty="0" smtClean="0"/>
              <a:t>Principalmente una técnica cualitativa, que a partir de observaciones o entrevistas, que siguiendo un proceso permiten definir teorías a basándose en anotaciones o códigos (</a:t>
            </a:r>
            <a:r>
              <a:rPr lang="es-ES" i="1" dirty="0" err="1" smtClean="0"/>
              <a:t>codes</a:t>
            </a:r>
            <a:r>
              <a:rPr lang="es-ES" i="1" dirty="0" smtClean="0"/>
              <a:t>).</a:t>
            </a:r>
            <a:endParaRPr lang="es-ES" dirty="0" smtClean="0"/>
          </a:p>
          <a:p>
            <a:r>
              <a:rPr lang="es-ES" dirty="0" smtClean="0"/>
              <a:t>que consiste en añadir códigos a los resultados, agrupar la información según los códigos y sintetizar las conclusiones..</a:t>
            </a:r>
          </a:p>
          <a:p>
            <a:r>
              <a:rPr lang="es-ES" dirty="0" smtClean="0"/>
              <a:t>Más información:</a:t>
            </a:r>
          </a:p>
          <a:p>
            <a:pPr lvl="1"/>
            <a:r>
              <a:rPr lang="es-ES" sz="1800" dirty="0" smtClean="0">
                <a:latin typeface="Consolas" pitchFamily="49" charset="0"/>
              </a:rPr>
              <a:t>http://en.wikipedia.org/wiki/Grounded_theory</a:t>
            </a:r>
          </a:p>
          <a:p>
            <a:pPr lvl="1"/>
            <a:r>
              <a:rPr lang="es-ES" sz="1800" dirty="0" smtClean="0">
                <a:latin typeface="Consolas" pitchFamily="49" charset="0"/>
              </a:rPr>
              <a:t>http://www.groundedtheory.com/</a:t>
            </a:r>
          </a:p>
          <a:p>
            <a:pPr lvl="1"/>
            <a:r>
              <a:rPr lang="es-ES" sz="1800" dirty="0" smtClean="0">
                <a:latin typeface="Consolas" pitchFamily="49" charset="0"/>
              </a:rPr>
              <a:t>http://www.scu.edu.au/schools/gcm/ar/arp/grounded.html</a:t>
            </a:r>
            <a:endParaRPr lang="es-ES" sz="1800" dirty="0">
              <a:latin typeface="Consolas" pitchFamily="49"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Casos</a:t>
            </a:r>
            <a:r>
              <a:rPr lang="en-GB" dirty="0" smtClean="0"/>
              <a:t> de </a:t>
            </a:r>
            <a:r>
              <a:rPr lang="en-GB" dirty="0" err="1" smtClean="0"/>
              <a:t>estudio</a:t>
            </a:r>
            <a:endParaRPr lang="en-GB" dirty="0"/>
          </a:p>
        </p:txBody>
      </p:sp>
      <p:sp>
        <p:nvSpPr>
          <p:cNvPr id="3" name="Content Placeholder 2"/>
          <p:cNvSpPr>
            <a:spLocks noGrp="1"/>
          </p:cNvSpPr>
          <p:nvPr>
            <p:ph idx="1"/>
          </p:nvPr>
        </p:nvSpPr>
        <p:spPr/>
        <p:txBody>
          <a:bodyPr>
            <a:normAutofit fontScale="85000" lnSpcReduction="10000"/>
          </a:bodyPr>
          <a:lstStyle/>
          <a:p>
            <a:r>
              <a:rPr lang="es-ES" dirty="0" smtClean="0"/>
              <a:t>Los casos de estudio constituyen una técnica de investigación que se basa en la observación de entornos reales para contrastar o validar datos, encontrar relaciones y descubrir tendencias. </a:t>
            </a:r>
          </a:p>
          <a:p>
            <a:r>
              <a:rPr lang="es-ES" dirty="0" smtClean="0"/>
              <a:t>Por ejemplo, en la ingeniería del software se usan mucho para comparar métodos o herramientas, pudiendo ser tanto cuantitativos como cualitativos. </a:t>
            </a:r>
          </a:p>
          <a:p>
            <a:pPr lvl="2"/>
            <a:r>
              <a:rPr lang="es-ES" dirty="0" smtClean="0"/>
              <a:t>Si se desea introducir una nueva herramienta en una organización pero no se está seguro de si el incremento en la productividad merecerá la pena el esfuerzo en inversión, podría diseñarse un caso de estudio como parte de un proyecto piloto cuyo único objeto fuese comparar la productividad de la nueva herramienta con la de la herramienta actual.</a:t>
            </a:r>
            <a:endParaRPr lang="en-GB"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Casos</a:t>
            </a:r>
            <a:r>
              <a:rPr lang="en-GB" dirty="0" smtClean="0"/>
              <a:t> de </a:t>
            </a:r>
            <a:r>
              <a:rPr lang="en-GB" dirty="0" err="1" smtClean="0"/>
              <a:t>estudio</a:t>
            </a:r>
            <a:endParaRPr lang="en-GB" dirty="0"/>
          </a:p>
        </p:txBody>
      </p:sp>
      <p:sp>
        <p:nvSpPr>
          <p:cNvPr id="3" name="Content Placeholder 2"/>
          <p:cNvSpPr>
            <a:spLocks noGrp="1"/>
          </p:cNvSpPr>
          <p:nvPr>
            <p:ph idx="1"/>
          </p:nvPr>
        </p:nvSpPr>
        <p:spPr/>
        <p:txBody>
          <a:bodyPr>
            <a:normAutofit fontScale="70000" lnSpcReduction="20000"/>
          </a:bodyPr>
          <a:lstStyle/>
          <a:p>
            <a:r>
              <a:rPr lang="es-ES" dirty="0" smtClean="0"/>
              <a:t>Los casos de estudio se clasifican como “investigación en lo típico” (</a:t>
            </a:r>
            <a:r>
              <a:rPr lang="es-ES" i="1" dirty="0" err="1" smtClean="0"/>
              <a:t>research</a:t>
            </a:r>
            <a:r>
              <a:rPr lang="es-ES" i="1" dirty="0" smtClean="0"/>
              <a:t> in </a:t>
            </a:r>
            <a:r>
              <a:rPr lang="es-ES" i="1" dirty="0" err="1" smtClean="0"/>
              <a:t>the</a:t>
            </a:r>
            <a:r>
              <a:rPr lang="es-ES" i="1" dirty="0" smtClean="0"/>
              <a:t> </a:t>
            </a:r>
            <a:r>
              <a:rPr lang="es-ES" i="1" dirty="0" err="1" smtClean="0"/>
              <a:t>typical</a:t>
            </a:r>
            <a:r>
              <a:rPr lang="es-ES" dirty="0" smtClean="0"/>
              <a:t>) pues reflejan preferentemente la información de un proyecto representativo en lugar de toda la casuística con la que nos podríamos encontrar. </a:t>
            </a:r>
          </a:p>
          <a:p>
            <a:r>
              <a:rPr lang="es-ES" dirty="0" smtClean="0"/>
              <a:t>La diferencia entre los casos de estudio y los experimentos formales es que en los experimentos las variables son manipuladas, mientras que en los casos de estudio simplemente se analizan dentro de su contexto. </a:t>
            </a:r>
          </a:p>
          <a:p>
            <a:r>
              <a:rPr lang="es-ES" dirty="0" smtClean="0"/>
              <a:t>Los casos de estudio tienen la ventaja de que son más fáciles de diseñar que los experimentos formales, aunque son difíciles de replicar pues se realizan generalmente en entornos industriales concretos. </a:t>
            </a:r>
          </a:p>
          <a:p>
            <a:pPr lvl="1"/>
            <a:r>
              <a:rPr lang="es-ES" dirty="0" smtClean="0"/>
              <a:t>Al no tener los investigadores ningún control sobre las variables, el establecimiento de relaciones causales entre ellas es más difícil y por tanto la generalización de las conclusiones más complicada.</a:t>
            </a:r>
            <a:endParaRPr lang="en-GB"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Experimentación</a:t>
            </a:r>
            <a:r>
              <a:rPr lang="en-GB" dirty="0" smtClean="0"/>
              <a:t> formal</a:t>
            </a:r>
            <a:endParaRPr lang="en-GB" dirty="0"/>
          </a:p>
        </p:txBody>
      </p:sp>
      <p:sp>
        <p:nvSpPr>
          <p:cNvPr id="3" name="Content Placeholder 2"/>
          <p:cNvSpPr>
            <a:spLocks noGrp="1"/>
          </p:cNvSpPr>
          <p:nvPr>
            <p:ph idx="1"/>
          </p:nvPr>
        </p:nvSpPr>
        <p:spPr/>
        <p:txBody>
          <a:bodyPr>
            <a:normAutofit/>
          </a:bodyPr>
          <a:lstStyle/>
          <a:p>
            <a:r>
              <a:rPr lang="es-ES" sz="1800" dirty="0" smtClean="0"/>
              <a:t>La experimentación formal busca </a:t>
            </a:r>
            <a:r>
              <a:rPr lang="es-ES" sz="1800" b="1" dirty="0" smtClean="0"/>
              <a:t>medir relaciones causales </a:t>
            </a:r>
            <a:r>
              <a:rPr lang="es-ES" sz="1800" dirty="0" smtClean="0"/>
              <a:t>con la mayor exactitud posible, </a:t>
            </a:r>
            <a:r>
              <a:rPr lang="es-ES" sz="1800" dirty="0" err="1" smtClean="0"/>
              <a:t>i.e.</a:t>
            </a:r>
            <a:r>
              <a:rPr lang="es-ES" sz="1800" dirty="0" smtClean="0"/>
              <a:t>, establecer el grado de influencia de unas variables en otras. </a:t>
            </a:r>
          </a:p>
          <a:p>
            <a:pPr lvl="1"/>
            <a:r>
              <a:rPr lang="es-ES" sz="1400" dirty="0" smtClean="0"/>
              <a:t>Para ello es necesario configurar entornos en los que se tenga un alto nivel de control sobre las variables para, modificándolas, medir sus efectos. </a:t>
            </a:r>
          </a:p>
          <a:p>
            <a:pPr lvl="1"/>
            <a:r>
              <a:rPr lang="es-ES" sz="1400" dirty="0" err="1" smtClean="0"/>
              <a:t>Fenton</a:t>
            </a:r>
            <a:r>
              <a:rPr lang="es-ES" sz="1400" dirty="0" smtClean="0"/>
              <a:t> y </a:t>
            </a:r>
            <a:r>
              <a:rPr lang="es-ES" sz="1400" dirty="0" err="1" smtClean="0"/>
              <a:t>Plfeeger</a:t>
            </a:r>
            <a:r>
              <a:rPr lang="es-ES" sz="1400" dirty="0" smtClean="0"/>
              <a:t> clasifican la experimentación formal como investigación a pequeña escala (</a:t>
            </a:r>
            <a:r>
              <a:rPr lang="es-ES" sz="1400" i="1" dirty="0" err="1" smtClean="0"/>
              <a:t>research</a:t>
            </a:r>
            <a:r>
              <a:rPr lang="es-ES" sz="1400" i="1" dirty="0" smtClean="0"/>
              <a:t> in </a:t>
            </a:r>
            <a:r>
              <a:rPr lang="es-ES" sz="1400" i="1" dirty="0" err="1" smtClean="0"/>
              <a:t>the</a:t>
            </a:r>
            <a:r>
              <a:rPr lang="es-ES" sz="1400" i="1" dirty="0" smtClean="0"/>
              <a:t> </a:t>
            </a:r>
            <a:r>
              <a:rPr lang="es-ES" sz="1400" i="1" dirty="0" err="1" smtClean="0"/>
              <a:t>small</a:t>
            </a:r>
            <a:r>
              <a:rPr lang="es-ES" sz="1400" dirty="0" smtClean="0"/>
              <a:t>) debido a la dificultad de controlar todos los posibles factores. </a:t>
            </a:r>
          </a:p>
          <a:p>
            <a:pPr lvl="1"/>
            <a:r>
              <a:rPr lang="es-ES" sz="1400" dirty="0" smtClean="0"/>
              <a:t>Se suelen realizar en entornos académicos  o en organizaciones con un grupo reducido de trabajadores, precisamente por la dificultad mencionada, lo que ha hecho que a estos estudios también se los conozca como experimentos </a:t>
            </a:r>
            <a:r>
              <a:rPr lang="es-ES" sz="1400" i="1" dirty="0" smtClean="0"/>
              <a:t>in vitro</a:t>
            </a:r>
            <a:r>
              <a:rPr lang="es-ES" sz="1400" dirty="0" smtClean="0"/>
              <a:t>.</a:t>
            </a:r>
          </a:p>
          <a:p>
            <a:r>
              <a:rPr lang="es-ES" sz="1800" dirty="0" smtClean="0"/>
              <a:t>Los experimentos formales son por tanto más difíciles de diseñar y más costosos que las encuestas o los casos de estudio. </a:t>
            </a:r>
          </a:p>
          <a:p>
            <a:r>
              <a:rPr lang="es-ES" sz="1800" dirty="0" smtClean="0"/>
              <a:t>La experimentación formal ayuda a confirmar teorías, explorar relaciones causa-efecto entre variables, corroborar o rechazar creencias sobre métodos, procesos y tecnologías, validar métricas, etc.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err="1" smtClean="0"/>
              <a:t>Diseño</a:t>
            </a:r>
            <a:r>
              <a:rPr lang="en-GB" dirty="0" smtClean="0"/>
              <a:t> de </a:t>
            </a:r>
            <a:r>
              <a:rPr lang="en-GB" dirty="0" err="1" smtClean="0"/>
              <a:t>experimentos</a:t>
            </a:r>
            <a:r>
              <a:rPr lang="en-GB" dirty="0" smtClean="0"/>
              <a:t> </a:t>
            </a:r>
            <a:r>
              <a:rPr lang="en-GB" dirty="0" err="1" smtClean="0"/>
              <a:t>formales</a:t>
            </a:r>
            <a:endParaRPr lang="en-GB" dirty="0"/>
          </a:p>
        </p:txBody>
      </p:sp>
      <p:sp>
        <p:nvSpPr>
          <p:cNvPr id="3" name="Subtitle 2"/>
          <p:cNvSpPr>
            <a:spLocks noGrp="1"/>
          </p:cNvSpPr>
          <p:nvPr>
            <p:ph type="subTitle" idx="1"/>
          </p:nvPr>
        </p:nvSpPr>
        <p:spPr/>
        <p:txBody>
          <a:bodyPr/>
          <a:lstStyle/>
          <a:p>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err="1" smtClean="0"/>
              <a:t>Proceso</a:t>
            </a:r>
            <a:r>
              <a:rPr lang="en-GB" dirty="0" smtClean="0"/>
              <a:t> y </a:t>
            </a:r>
            <a:r>
              <a:rPr lang="en-GB" dirty="0" err="1" smtClean="0"/>
              <a:t>diseño</a:t>
            </a:r>
            <a:r>
              <a:rPr lang="en-GB" dirty="0" smtClean="0"/>
              <a:t> de </a:t>
            </a:r>
            <a:r>
              <a:rPr lang="en-GB" dirty="0" err="1" smtClean="0"/>
              <a:t>experimentos</a:t>
            </a:r>
            <a:endParaRPr lang="en-US" dirty="0"/>
          </a:p>
        </p:txBody>
      </p:sp>
      <p:pic>
        <p:nvPicPr>
          <p:cNvPr id="8193" name="Picture 1"/>
          <p:cNvPicPr>
            <a:picLocks noGrp="1" noChangeAspect="1" noChangeArrowheads="1"/>
          </p:cNvPicPr>
          <p:nvPr>
            <p:ph idx="1"/>
          </p:nvPr>
        </p:nvPicPr>
        <p:blipFill>
          <a:blip r:embed="rId2" cstate="print"/>
          <a:stretch>
            <a:fillRect/>
          </a:stretch>
        </p:blipFill>
        <p:spPr bwMode="auto">
          <a:xfrm>
            <a:off x="550358" y="1774825"/>
            <a:ext cx="8043284" cy="4625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err="1" smtClean="0"/>
              <a:t>Proceso</a:t>
            </a:r>
            <a:r>
              <a:rPr lang="en-GB" dirty="0" smtClean="0"/>
              <a:t> en la </a:t>
            </a:r>
            <a:r>
              <a:rPr lang="en-GB" dirty="0" err="1" smtClean="0"/>
              <a:t>experimentación</a:t>
            </a:r>
            <a:r>
              <a:rPr lang="en-GB" dirty="0" smtClean="0"/>
              <a:t> formal</a:t>
            </a:r>
            <a:endParaRPr lang="en-GB" dirty="0"/>
          </a:p>
        </p:txBody>
      </p:sp>
      <p:sp>
        <p:nvSpPr>
          <p:cNvPr id="3" name="Content Placeholder 2"/>
          <p:cNvSpPr>
            <a:spLocks noGrp="1"/>
          </p:cNvSpPr>
          <p:nvPr>
            <p:ph idx="1"/>
          </p:nvPr>
        </p:nvSpPr>
        <p:spPr/>
        <p:txBody>
          <a:bodyPr>
            <a:noAutofit/>
          </a:bodyPr>
          <a:lstStyle/>
          <a:p>
            <a:r>
              <a:rPr lang="es-ES" sz="1600" b="1" dirty="0" smtClean="0"/>
              <a:t>Definición</a:t>
            </a:r>
            <a:r>
              <a:rPr lang="es-ES" sz="1600" dirty="0" smtClean="0"/>
              <a:t>:  intención del experimento, es decir, cuáles son sus objetivos, en qué contexto se llevará a cabo, cuál es su propósito, etc. </a:t>
            </a:r>
          </a:p>
          <a:p>
            <a:r>
              <a:rPr lang="es-ES" sz="1600" b="1" dirty="0" smtClean="0"/>
              <a:t>Planificación</a:t>
            </a:r>
            <a:r>
              <a:rPr lang="es-ES" sz="1600" dirty="0" smtClean="0"/>
              <a:t>: Se diseña el experimento mediante el enunciado de las hipótesis, la selección de variables de estudio, la selección de los sujetos y finalmente el diseño del experimento propiamente dicho. </a:t>
            </a:r>
          </a:p>
          <a:p>
            <a:r>
              <a:rPr lang="es-ES" sz="1600" b="1" dirty="0" smtClean="0"/>
              <a:t>Operación</a:t>
            </a:r>
            <a:r>
              <a:rPr lang="es-ES" sz="1600" dirty="0" smtClean="0"/>
              <a:t>: es la fase de preparación del experimento, que consiste en realizar la selección de participantes, formularios y guías para que los participantes entiendan el proceso, entrenar a los participantes si es necesario, y acciones necesarias para poner en marcha el experimento. </a:t>
            </a:r>
            <a:r>
              <a:rPr lang="es-ES" sz="1800" dirty="0" smtClean="0"/>
              <a:t>S</a:t>
            </a:r>
            <a:r>
              <a:rPr lang="es-ES" sz="1600" dirty="0" smtClean="0"/>
              <a:t>uele realizarse un </a:t>
            </a:r>
            <a:r>
              <a:rPr lang="es-ES" sz="1600" b="1" i="1" dirty="0" smtClean="0"/>
              <a:t>estudio piloto </a:t>
            </a:r>
            <a:r>
              <a:rPr lang="es-ES" sz="1600" dirty="0" smtClean="0"/>
              <a:t>para encontrar errores en el diseño. </a:t>
            </a:r>
            <a:endParaRPr lang="es-ES" sz="1400" dirty="0" smtClean="0"/>
          </a:p>
          <a:p>
            <a:r>
              <a:rPr lang="es-ES" sz="1600" b="1" dirty="0" smtClean="0"/>
              <a:t>Interpretación</a:t>
            </a:r>
            <a:r>
              <a:rPr lang="es-ES" sz="1600" dirty="0" smtClean="0"/>
              <a:t>: A la hora de analizar e interpretar los resultados, el tipo de análisis está condicionado por la hipótesis del experimento, el tipo de variables seleccionadas según su escala y el diseño experimental. El primer paso es caracterizar los datos utilizando estadística descriptiva, para  posteriormente realizar el </a:t>
            </a:r>
            <a:r>
              <a:rPr lang="es-ES" sz="1600" i="1" dirty="0" smtClean="0"/>
              <a:t>test de hipótesis</a:t>
            </a:r>
            <a:r>
              <a:rPr lang="es-ES" sz="1600" dirty="0" smtClean="0"/>
              <a:t> con el fin de confirmar o rechazar las hipótesis enunciadas.</a:t>
            </a:r>
          </a:p>
          <a:p>
            <a:r>
              <a:rPr lang="es-ES" sz="1600" b="1" dirty="0" smtClean="0"/>
              <a:t>Conclusiones y presentación de resultados</a:t>
            </a:r>
            <a:r>
              <a:rPr lang="es-ES" sz="1600" dirty="0" smtClean="0"/>
              <a:t>: Informe comentado del proceso seguido. En este informe se debe enfatizar por qué es relevante la hipótesis del estudio y cómo se han solventado o minimizado las amenazas a la validez e información que permita crear posibles réplicas del experimento.</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Hipótesis</a:t>
            </a:r>
            <a:endParaRPr lang="en-US" dirty="0"/>
          </a:p>
        </p:txBody>
      </p:sp>
      <p:sp>
        <p:nvSpPr>
          <p:cNvPr id="3" name="Content Placeholder 2"/>
          <p:cNvSpPr>
            <a:spLocks noGrp="1"/>
          </p:cNvSpPr>
          <p:nvPr>
            <p:ph idx="1"/>
          </p:nvPr>
        </p:nvSpPr>
        <p:spPr/>
        <p:txBody>
          <a:bodyPr>
            <a:normAutofit/>
          </a:bodyPr>
          <a:lstStyle/>
          <a:p>
            <a:r>
              <a:rPr lang="es-ES" dirty="0" smtClean="0"/>
              <a:t>Se plantean dos tipos de hipótesis:</a:t>
            </a:r>
            <a:endParaRPr lang="en-US" dirty="0" smtClean="0"/>
          </a:p>
          <a:p>
            <a:pPr lvl="1"/>
            <a:r>
              <a:rPr lang="es-ES" b="1" dirty="0" smtClean="0"/>
              <a:t>Hipótesis Nula </a:t>
            </a:r>
            <a:r>
              <a:rPr lang="es-ES" dirty="0" smtClean="0"/>
              <a:t>(</a:t>
            </a:r>
            <a:r>
              <a:rPr lang="es-ES" i="1" dirty="0" smtClean="0"/>
              <a:t>H</a:t>
            </a:r>
            <a:r>
              <a:rPr lang="es-ES" i="1" baseline="-25000" dirty="0" smtClean="0"/>
              <a:t>0</a:t>
            </a:r>
            <a:r>
              <a:rPr lang="es-ES" dirty="0" smtClean="0"/>
              <a:t>): no hay diferencia entre dos o más tratamientos (es decir, entre dos o más métodos, herramientas u otras condiciones cuyos efectos se quieran medir) con respecto a la variable dependiente que se mide (por ejemplo, la calidad, la eficacia o la productividad).</a:t>
            </a:r>
            <a:endParaRPr lang="en-US" dirty="0" smtClean="0"/>
          </a:p>
          <a:p>
            <a:pPr lvl="1"/>
            <a:r>
              <a:rPr lang="es-ES" b="1" dirty="0" smtClean="0"/>
              <a:t>Hipótesis alternativa </a:t>
            </a:r>
            <a:r>
              <a:rPr lang="es-ES" dirty="0" smtClean="0"/>
              <a:t>o experimental (</a:t>
            </a:r>
            <a:r>
              <a:rPr lang="es-ES" i="1" dirty="0" smtClean="0"/>
              <a:t>H</a:t>
            </a:r>
            <a:r>
              <a:rPr lang="es-ES" i="1" baseline="-25000" dirty="0" smtClean="0"/>
              <a:t>a</a:t>
            </a:r>
            <a:r>
              <a:rPr lang="es-ES" dirty="0" smtClean="0"/>
              <a:t>): sí hay diferencia significativa.</a:t>
            </a:r>
            <a:endParaRPr lang="en-US" dirty="0" smtClean="0"/>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Validación</a:t>
            </a:r>
            <a:r>
              <a:rPr lang="en-US" dirty="0" smtClean="0"/>
              <a:t> de la </a:t>
            </a:r>
            <a:r>
              <a:rPr lang="en-US" dirty="0" err="1" smtClean="0"/>
              <a:t>hipótesis</a:t>
            </a:r>
            <a:endParaRPr lang="en-US" dirty="0"/>
          </a:p>
        </p:txBody>
      </p:sp>
      <p:sp>
        <p:nvSpPr>
          <p:cNvPr id="3" name="Content Placeholder 2"/>
          <p:cNvSpPr>
            <a:spLocks noGrp="1"/>
          </p:cNvSpPr>
          <p:nvPr>
            <p:ph idx="1"/>
          </p:nvPr>
        </p:nvSpPr>
        <p:spPr/>
        <p:txBody>
          <a:bodyPr>
            <a:normAutofit fontScale="85000" lnSpcReduction="20000"/>
          </a:bodyPr>
          <a:lstStyle/>
          <a:p>
            <a:r>
              <a:rPr lang="es-ES" dirty="0" smtClean="0"/>
              <a:t>Se supone que la hipótesis nula es cierta. </a:t>
            </a:r>
          </a:p>
          <a:p>
            <a:r>
              <a:rPr lang="es-ES" dirty="0" smtClean="0"/>
              <a:t>Para decidir si hay o no una diferencia estadísticamente significativa entre dos o más tratamientos, es necesario contrastar la hipótesis nula y fijar un nivel de confianza </a:t>
            </a:r>
          </a:p>
          <a:p>
            <a:pPr lvl="1"/>
            <a:r>
              <a:rPr lang="es-ES" dirty="0" smtClean="0"/>
              <a:t>sus valores más frecuentes suelen ser 0,95 y 0,99</a:t>
            </a:r>
            <a:r>
              <a:rPr lang="es-ES" dirty="0"/>
              <a:t>.</a:t>
            </a:r>
            <a:endParaRPr lang="es-ES" dirty="0" smtClean="0"/>
          </a:p>
          <a:p>
            <a:r>
              <a:rPr lang="es-ES" dirty="0" smtClean="0"/>
              <a:t>Hasta que no se acaba de analizar todos los datos y de aplicar el test estadístico adecuado, no se sabe si se acepta o se rechaza la hipótesis nula con un nivel de significación (0,05 o 0,01). </a:t>
            </a:r>
          </a:p>
          <a:p>
            <a:r>
              <a:rPr lang="es-ES" dirty="0" smtClean="0"/>
              <a:t>Las reglas de decisión del contraste establecen que el rechazo de </a:t>
            </a:r>
            <a:r>
              <a:rPr lang="es-ES" i="1" dirty="0" smtClean="0"/>
              <a:t>H</a:t>
            </a:r>
            <a:r>
              <a:rPr lang="es-ES" i="1" baseline="-25000" dirty="0" smtClean="0"/>
              <a:t>0</a:t>
            </a:r>
            <a:r>
              <a:rPr lang="es-ES" dirty="0" smtClean="0"/>
              <a:t> implica la aceptación de </a:t>
            </a:r>
            <a:r>
              <a:rPr lang="es-ES" i="1" dirty="0" smtClean="0"/>
              <a:t>H</a:t>
            </a:r>
            <a:r>
              <a:rPr lang="es-ES" i="1" baseline="-25000" dirty="0" smtClean="0"/>
              <a:t>a</a:t>
            </a:r>
            <a:r>
              <a:rPr lang="es-ES" dirty="0" smtClean="0"/>
              <a:t> y, recíprocamente, si se acepta </a:t>
            </a:r>
            <a:r>
              <a:rPr lang="es-ES" i="1" dirty="0" smtClean="0"/>
              <a:t>H</a:t>
            </a:r>
            <a:r>
              <a:rPr lang="es-ES" i="1" baseline="-25000" dirty="0" smtClean="0"/>
              <a:t>0</a:t>
            </a:r>
            <a:r>
              <a:rPr lang="es-ES" dirty="0" smtClean="0"/>
              <a:t> se rechaza </a:t>
            </a:r>
            <a:r>
              <a:rPr lang="es-ES" i="1" dirty="0" err="1" smtClean="0"/>
              <a:t>H</a:t>
            </a:r>
            <a:r>
              <a:rPr lang="es-ES" i="1" baseline="-25000" dirty="0" err="1" smtClean="0"/>
              <a:t>a</a:t>
            </a:r>
            <a:r>
              <a:rPr lang="es-ES" dirty="0" err="1" smtClean="0"/>
              <a:t>.</a:t>
            </a:r>
            <a:endParaRPr lang="en-US" dirty="0" smtClean="0"/>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Tipos</a:t>
            </a:r>
            <a:r>
              <a:rPr lang="en-GB" dirty="0" smtClean="0"/>
              <a:t> de </a:t>
            </a:r>
            <a:r>
              <a:rPr lang="en-GB" dirty="0" err="1" smtClean="0"/>
              <a:t>errores</a:t>
            </a:r>
            <a:r>
              <a:rPr lang="en-GB" dirty="0" smtClean="0"/>
              <a:t> y </a:t>
            </a:r>
            <a:r>
              <a:rPr lang="en-GB" dirty="0" err="1" smtClean="0"/>
              <a:t>Potencia</a:t>
            </a:r>
            <a:r>
              <a:rPr lang="en-GB" dirty="0" smtClean="0"/>
              <a:t> </a:t>
            </a:r>
            <a:endParaRPr lang="en-US" dirty="0"/>
          </a:p>
        </p:txBody>
      </p:sp>
      <p:sp>
        <p:nvSpPr>
          <p:cNvPr id="3" name="Content Placeholder 2"/>
          <p:cNvSpPr>
            <a:spLocks noGrp="1"/>
          </p:cNvSpPr>
          <p:nvPr>
            <p:ph idx="1"/>
          </p:nvPr>
        </p:nvSpPr>
        <p:spPr/>
        <p:txBody>
          <a:bodyPr>
            <a:normAutofit fontScale="77500" lnSpcReduction="20000"/>
          </a:bodyPr>
          <a:lstStyle/>
          <a:p>
            <a:r>
              <a:rPr lang="es-ES" b="1" dirty="0" smtClean="0"/>
              <a:t>Error de tipo I</a:t>
            </a:r>
            <a:r>
              <a:rPr lang="es-ES" dirty="0"/>
              <a:t> </a:t>
            </a:r>
            <a:r>
              <a:rPr lang="es-ES" dirty="0" smtClean="0"/>
              <a:t>consiste en rechazar incorrectamente </a:t>
            </a:r>
            <a:r>
              <a:rPr lang="es-ES" i="1" dirty="0" smtClean="0"/>
              <a:t>H</a:t>
            </a:r>
            <a:r>
              <a:rPr lang="es-ES" i="1" baseline="-25000" dirty="0" smtClean="0"/>
              <a:t>0</a:t>
            </a:r>
            <a:r>
              <a:rPr lang="es-ES" dirty="0" smtClean="0"/>
              <a:t>, está bajo control a través del nivel de significación, también llamado </a:t>
            </a:r>
            <a:r>
              <a:rPr lang="es-ES" i="1" dirty="0" smtClean="0">
                <a:sym typeface="Symbol"/>
              </a:rPr>
              <a:t></a:t>
            </a:r>
            <a:r>
              <a:rPr lang="es-ES" dirty="0" smtClean="0"/>
              <a:t>. </a:t>
            </a:r>
          </a:p>
          <a:p>
            <a:r>
              <a:rPr lang="es-ES" b="1" dirty="0" smtClean="0"/>
              <a:t>Error de tipo II</a:t>
            </a:r>
            <a:r>
              <a:rPr lang="es-ES" dirty="0"/>
              <a:t> </a:t>
            </a:r>
            <a:r>
              <a:rPr lang="es-ES" dirty="0" smtClean="0"/>
              <a:t>consiste aceptar </a:t>
            </a:r>
            <a:r>
              <a:rPr lang="es-ES" i="1" dirty="0" smtClean="0"/>
              <a:t>H</a:t>
            </a:r>
            <a:r>
              <a:rPr lang="es-ES" i="1" baseline="-25000" dirty="0" smtClean="0"/>
              <a:t>0</a:t>
            </a:r>
            <a:r>
              <a:rPr lang="es-ES" dirty="0" smtClean="0"/>
              <a:t> siendo falsa, se controla principalmente mediante el diseño experimental. </a:t>
            </a:r>
          </a:p>
          <a:p>
            <a:r>
              <a:rPr lang="es-ES" b="1" dirty="0" smtClean="0"/>
              <a:t>Potencia del contraste estadístico</a:t>
            </a:r>
            <a:r>
              <a:rPr lang="es-ES" dirty="0" smtClean="0"/>
              <a:t>, definida por </a:t>
            </a:r>
            <a:r>
              <a:rPr lang="es-ES" i="1" dirty="0" smtClean="0"/>
              <a:t>1-</a:t>
            </a:r>
            <a:r>
              <a:rPr lang="es-ES" i="1" dirty="0" smtClean="0">
                <a:sym typeface="Symbol"/>
              </a:rPr>
              <a:t></a:t>
            </a:r>
            <a:r>
              <a:rPr lang="es-ES" i="1" dirty="0" smtClean="0"/>
              <a:t>,</a:t>
            </a:r>
            <a:r>
              <a:rPr lang="es-ES" dirty="0" smtClean="0"/>
              <a:t> que mide la probabilidad de rechazo de la hipótesis nula cuando realmente es falsa. Por eso no hay que omitir los dos tipos de errores que se pueden cometer en una investigación empírica. </a:t>
            </a:r>
          </a:p>
          <a:p>
            <a:pPr lvl="1"/>
            <a:r>
              <a:rPr lang="es-ES" dirty="0" smtClean="0"/>
              <a:t>De aquí se deduce que si la potencia depende de </a:t>
            </a:r>
            <a:r>
              <a:rPr lang="es-ES" i="1" dirty="0" smtClean="0">
                <a:sym typeface="Symbol"/>
              </a:rPr>
              <a:t></a:t>
            </a:r>
            <a:r>
              <a:rPr lang="es-ES" dirty="0" smtClean="0"/>
              <a:t>, del tamaño de la muestra y del tamaño del efecto y, además, estos dos últimos factores se consideran constantes en el diseño, es posible aumentar la potencia del contraste estadístico o disminuir el riesgo </a:t>
            </a:r>
            <a:r>
              <a:rPr lang="es-ES" i="1" dirty="0" smtClean="0">
                <a:sym typeface="Symbol"/>
              </a:rPr>
              <a:t></a:t>
            </a:r>
            <a:r>
              <a:rPr lang="es-ES" dirty="0" smtClean="0"/>
              <a:t> a expensas de incrementar </a:t>
            </a:r>
            <a:r>
              <a:rPr lang="es-ES" i="1" dirty="0" smtClean="0">
                <a:sym typeface="Symbol"/>
              </a:rPr>
              <a:t>.</a:t>
            </a:r>
            <a:endParaRPr lang="en-US" dirty="0" smtClean="0"/>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S" dirty="0" smtClean="0"/>
              <a:t>Tratamientos, unidades y sujetos experimentales</a:t>
            </a:r>
            <a:endParaRPr lang="en-US" dirty="0"/>
          </a:p>
        </p:txBody>
      </p:sp>
      <p:sp>
        <p:nvSpPr>
          <p:cNvPr id="3" name="Content Placeholder 2"/>
          <p:cNvSpPr>
            <a:spLocks noGrp="1"/>
          </p:cNvSpPr>
          <p:nvPr>
            <p:ph idx="1"/>
          </p:nvPr>
        </p:nvSpPr>
        <p:spPr/>
        <p:txBody>
          <a:bodyPr>
            <a:normAutofit fontScale="70000" lnSpcReduction="20000"/>
          </a:bodyPr>
          <a:lstStyle/>
          <a:p>
            <a:r>
              <a:rPr lang="es-ES" dirty="0" smtClean="0"/>
              <a:t>El siguiente paso es concretar la hipótesis planteada, lo que lleva a identificar tanto los tratamientos como las unidades y los sujetos experimentales. </a:t>
            </a:r>
          </a:p>
          <a:p>
            <a:r>
              <a:rPr lang="es-ES" dirty="0" smtClean="0"/>
              <a:t>Un experimento tiene por objeto descubrir las relaciones existentes entre las variables, fundamentalmente, determinar el efecto de la variable independiente, también denominada factor, sobre la dependiente. </a:t>
            </a:r>
          </a:p>
          <a:p>
            <a:r>
              <a:rPr lang="es-ES" dirty="0" smtClean="0"/>
              <a:t>Cada factor se divide en un número determinado de niveles. En el caso de que el estudio se lleve a cabo con dos variables independientes, la combinación del nivel de un factor con el nivel de otro constituye un tratamiento. </a:t>
            </a:r>
          </a:p>
          <a:p>
            <a:pPr lvl="1"/>
            <a:r>
              <a:rPr lang="es-ES" dirty="0"/>
              <a:t>P</a:t>
            </a:r>
            <a:r>
              <a:rPr lang="es-ES" dirty="0" smtClean="0"/>
              <a:t>or esta razón, cuando se trata de una sola variable independiente, el término “tratamientos” equivale a “niveles”. </a:t>
            </a:r>
          </a:p>
          <a:p>
            <a:pPr lvl="1"/>
            <a:r>
              <a:rPr lang="es-ES" dirty="0" smtClean="0"/>
              <a:t>Así pues, las unidades y los sujetos experimentales son los objetos materiales y las personas participantes, a los que se aplica un tratamiento. </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Variables</a:t>
            </a:r>
            <a:endParaRPr lang="en-US" dirty="0"/>
          </a:p>
        </p:txBody>
      </p:sp>
      <p:sp>
        <p:nvSpPr>
          <p:cNvPr id="3" name="Content Placeholder 2"/>
          <p:cNvSpPr>
            <a:spLocks noGrp="1"/>
          </p:cNvSpPr>
          <p:nvPr>
            <p:ph idx="1"/>
          </p:nvPr>
        </p:nvSpPr>
        <p:spPr/>
        <p:txBody>
          <a:bodyPr>
            <a:normAutofit fontScale="62500" lnSpcReduction="20000"/>
          </a:bodyPr>
          <a:lstStyle/>
          <a:p>
            <a:r>
              <a:rPr lang="es-ES" dirty="0" smtClean="0"/>
              <a:t>Las variables determinan los tipos de análisis estadísticos que se pueden aplicar (por ejemplo, el tipo de escala)</a:t>
            </a:r>
          </a:p>
          <a:p>
            <a:r>
              <a:rPr lang="es-ES" dirty="0" smtClean="0"/>
              <a:t>Las variables en un experimento formal son la variable independiente y la dependiente, estableciendo la hipótesis de que la variable independiente influye en la dependiente.</a:t>
            </a:r>
          </a:p>
          <a:p>
            <a:r>
              <a:rPr lang="es-ES" dirty="0" smtClean="0"/>
              <a:t>Existen otras de gran importancia que también representan una “fuente de variación” en tal variable [</a:t>
            </a:r>
            <a:r>
              <a:rPr lang="es-ES" dirty="0" err="1" smtClean="0"/>
              <a:t>Kish</a:t>
            </a:r>
            <a:r>
              <a:rPr lang="es-ES" dirty="0" smtClean="0"/>
              <a:t>, 1995]:</a:t>
            </a:r>
            <a:endParaRPr lang="en-US" dirty="0" smtClean="0"/>
          </a:p>
          <a:p>
            <a:pPr lvl="1"/>
            <a:r>
              <a:rPr lang="es-ES" dirty="0" smtClean="0"/>
              <a:t>Controlada (</a:t>
            </a:r>
            <a:r>
              <a:rPr lang="es-ES" i="1" dirty="0" err="1" smtClean="0"/>
              <a:t>controlled</a:t>
            </a:r>
            <a:r>
              <a:rPr lang="es-ES" dirty="0" smtClean="0"/>
              <a:t>): es una variable extraña que puede ser adecuadamente controlada mediante el diseño experimental.</a:t>
            </a:r>
            <a:endParaRPr lang="en-US" dirty="0" smtClean="0"/>
          </a:p>
          <a:p>
            <a:pPr lvl="1"/>
            <a:r>
              <a:rPr lang="es-ES" dirty="0" smtClean="0"/>
              <a:t>Enmascarada (</a:t>
            </a:r>
            <a:r>
              <a:rPr lang="es-ES" i="1" dirty="0" err="1" smtClean="0"/>
              <a:t>confounded</a:t>
            </a:r>
            <a:r>
              <a:rPr lang="es-ES" i="1" dirty="0" smtClean="0"/>
              <a:t> variable</a:t>
            </a:r>
            <a:r>
              <a:rPr lang="es-ES" dirty="0" smtClean="0"/>
              <a:t>): es una variable extraña no controlada que tiene la propiedad de variar simultáneamente con los cambios en los niveles de la variable independiente. Esta circunstancia hace que rivalice con la variable independiente como posible causa. </a:t>
            </a:r>
            <a:endParaRPr lang="en-US" dirty="0" smtClean="0"/>
          </a:p>
          <a:p>
            <a:pPr lvl="1"/>
            <a:r>
              <a:rPr lang="es-ES" dirty="0" smtClean="0"/>
              <a:t>Aleatoria (</a:t>
            </a:r>
            <a:r>
              <a:rPr lang="es-ES" i="1" dirty="0" err="1" smtClean="0"/>
              <a:t>randomized</a:t>
            </a:r>
            <a:r>
              <a:rPr lang="es-ES" dirty="0" smtClean="0"/>
              <a:t>): es una variable extraña no controlada que se trata como un error aleatorio. La </a:t>
            </a:r>
            <a:r>
              <a:rPr lang="es-ES" dirty="0" err="1" smtClean="0"/>
              <a:t>aleatorización</a:t>
            </a:r>
            <a:r>
              <a:rPr lang="es-ES" dirty="0" smtClean="0"/>
              <a:t> se puede considerar como una forma de control experimental, si bien es distinta de las que se aplican en las variables controladas. </a:t>
            </a:r>
            <a:endParaRPr lang="en-US" dirty="0" smtClean="0"/>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1"/>
            <a:ext cx="8229600" cy="1904999"/>
          </a:xfrm>
        </p:spPr>
        <p:txBody>
          <a:bodyPr>
            <a:normAutofit fontScale="70000" lnSpcReduction="20000"/>
          </a:bodyPr>
          <a:lstStyle/>
          <a:p>
            <a:r>
              <a:rPr lang="es-ES" dirty="0" smtClean="0"/>
              <a:t>Un experimento constituye un proceso con variables independientes (</a:t>
            </a:r>
            <a:r>
              <a:rPr lang="es-ES" i="1" dirty="0" smtClean="0"/>
              <a:t>X</a:t>
            </a:r>
            <a:r>
              <a:rPr lang="es-ES" i="1" baseline="-25000" dirty="0" smtClean="0"/>
              <a:t>1</a:t>
            </a:r>
            <a:r>
              <a:rPr lang="es-ES" i="1" dirty="0" smtClean="0"/>
              <a:t>, X</a:t>
            </a:r>
            <a:r>
              <a:rPr lang="es-ES" i="1" baseline="-25000" dirty="0" smtClean="0"/>
              <a:t>2</a:t>
            </a:r>
            <a:r>
              <a:rPr lang="es-ES" i="1" dirty="0" smtClean="0"/>
              <a:t>... </a:t>
            </a:r>
            <a:r>
              <a:rPr lang="es-ES" i="1" dirty="0" err="1" smtClean="0"/>
              <a:t>X</a:t>
            </a:r>
            <a:r>
              <a:rPr lang="es-ES" i="1" baseline="-25000" dirty="0" err="1" smtClean="0"/>
              <a:t>m</a:t>
            </a:r>
            <a:r>
              <a:rPr lang="es-ES" dirty="0" smtClean="0"/>
              <a:t>) tan poderosas como sea posible, gracias a la aplicación de un control interno casi perfecto, y con variables dependientes (Y</a:t>
            </a:r>
            <a:r>
              <a:rPr lang="es-ES" baseline="-25000" dirty="0" smtClean="0"/>
              <a:t>1</a:t>
            </a:r>
            <a:r>
              <a:rPr lang="es-ES" dirty="0" smtClean="0"/>
              <a:t>, Y</a:t>
            </a:r>
            <a:r>
              <a:rPr lang="es-ES" baseline="-25000" dirty="0" smtClean="0"/>
              <a:t>2</a:t>
            </a:r>
            <a:r>
              <a:rPr lang="es-ES" dirty="0" smtClean="0"/>
              <a:t>... </a:t>
            </a:r>
            <a:r>
              <a:rPr lang="es-ES" dirty="0" err="1" smtClean="0"/>
              <a:t>Y</a:t>
            </a:r>
            <a:r>
              <a:rPr lang="es-ES" baseline="-25000" dirty="0" err="1" smtClean="0"/>
              <a:t>n</a:t>
            </a:r>
            <a:r>
              <a:rPr lang="es-ES" dirty="0" smtClean="0"/>
              <a:t>) lo suficientemente sensibles como para detectar las diferencias.</a:t>
            </a:r>
            <a:r>
              <a:rPr lang="en-US" dirty="0" smtClean="0"/>
              <a:t/>
            </a:r>
            <a:br>
              <a:rPr lang="en-US" dirty="0" smtClean="0"/>
            </a:br>
            <a:endParaRPr lang="en-US" dirty="0"/>
          </a:p>
        </p:txBody>
      </p:sp>
      <p:graphicFrame>
        <p:nvGraphicFramePr>
          <p:cNvPr id="1026" name="Object 2"/>
          <p:cNvGraphicFramePr>
            <a:graphicFrameLocks noChangeAspect="1"/>
          </p:cNvGraphicFramePr>
          <p:nvPr/>
        </p:nvGraphicFramePr>
        <p:xfrm>
          <a:off x="2209800" y="3200400"/>
          <a:ext cx="4419600" cy="2909602"/>
        </p:xfrm>
        <a:graphic>
          <a:graphicData uri="http://schemas.openxmlformats.org/presentationml/2006/ole">
            <mc:AlternateContent xmlns:mc="http://schemas.openxmlformats.org/markup-compatibility/2006">
              <mc:Choice xmlns:v="urn:schemas-microsoft-com:vml" Requires="v">
                <p:oleObj spid="_x0000_s1027" name="Picture" r:id="rId3" imgW="3749040" imgH="2468880" progId="Word.Picture.8">
                  <p:embed/>
                </p:oleObj>
              </mc:Choice>
              <mc:Fallback>
                <p:oleObj name="Picture" r:id="rId3" imgW="3749040" imgH="2468880" progId="Word.Picture.8">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3200400"/>
                        <a:ext cx="4419600" cy="29096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Propiedades</a:t>
            </a:r>
            <a:endParaRPr lang="en-US" dirty="0"/>
          </a:p>
        </p:txBody>
      </p:sp>
      <p:sp>
        <p:nvSpPr>
          <p:cNvPr id="3" name="Content Placeholder 2"/>
          <p:cNvSpPr>
            <a:spLocks noGrp="1"/>
          </p:cNvSpPr>
          <p:nvPr>
            <p:ph idx="1"/>
          </p:nvPr>
        </p:nvSpPr>
        <p:spPr/>
        <p:txBody>
          <a:bodyPr>
            <a:normAutofit fontScale="77500" lnSpcReduction="20000"/>
          </a:bodyPr>
          <a:lstStyle/>
          <a:p>
            <a:r>
              <a:rPr lang="es-ES" b="1" dirty="0" smtClean="0"/>
              <a:t>Fiabilidad</a:t>
            </a:r>
            <a:r>
              <a:rPr lang="es-ES" dirty="0" smtClean="0"/>
              <a:t>. Se dice que un experimento es fiable cuando, al repetirse, se obtienen los mismos resultados. Para ello es preciso el control y la replicación, interna o externa, del experimento.</a:t>
            </a:r>
            <a:endParaRPr lang="en-US" dirty="0" smtClean="0"/>
          </a:p>
          <a:p>
            <a:r>
              <a:rPr lang="es-ES" b="1" dirty="0" smtClean="0"/>
              <a:t>Validez constructiva</a:t>
            </a:r>
            <a:r>
              <a:rPr lang="es-ES" dirty="0" smtClean="0"/>
              <a:t>. Es el grado con que, tanto las variables independientes como las dependientes, reflejan o miden con certeza las hipótesis del experimento.</a:t>
            </a:r>
            <a:endParaRPr lang="en-US" dirty="0" smtClean="0"/>
          </a:p>
          <a:p>
            <a:r>
              <a:rPr lang="es-ES" b="1" dirty="0" smtClean="0"/>
              <a:t>Validez interna</a:t>
            </a:r>
            <a:r>
              <a:rPr lang="es-ES" dirty="0" smtClean="0"/>
              <a:t>. Es el grado de seguridad con el que se puede atribuir que los cambios de la variable dependiente se deben a la influencia de la variable independiente que se estudia.</a:t>
            </a:r>
            <a:endParaRPr lang="en-US" dirty="0" smtClean="0"/>
          </a:p>
          <a:p>
            <a:r>
              <a:rPr lang="es-ES" b="1" dirty="0" smtClean="0"/>
              <a:t>Validez externa</a:t>
            </a:r>
            <a:r>
              <a:rPr lang="es-ES" dirty="0" smtClean="0"/>
              <a:t>. Es el poder de generalización de los resultados obtenidos en el laboratorio a las condiciones normales. </a:t>
            </a:r>
            <a:endParaRPr lang="en-US" dirty="0" smtClean="0"/>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dirty="0" smtClean="0"/>
              <a:t>Amenazas de la validez interna</a:t>
            </a:r>
            <a:endParaRPr lang="en-US" dirty="0"/>
          </a:p>
        </p:txBody>
      </p:sp>
      <p:sp>
        <p:nvSpPr>
          <p:cNvPr id="3" name="Content Placeholder 2"/>
          <p:cNvSpPr>
            <a:spLocks noGrp="1"/>
          </p:cNvSpPr>
          <p:nvPr>
            <p:ph idx="1"/>
          </p:nvPr>
        </p:nvSpPr>
        <p:spPr/>
        <p:txBody>
          <a:bodyPr>
            <a:normAutofit fontScale="55000" lnSpcReduction="20000"/>
          </a:bodyPr>
          <a:lstStyle/>
          <a:p>
            <a:r>
              <a:rPr lang="es-ES" dirty="0" smtClean="0"/>
              <a:t>Los efectos de la </a:t>
            </a:r>
            <a:r>
              <a:rPr lang="es-ES" b="1" dirty="0" smtClean="0"/>
              <a:t>selección</a:t>
            </a:r>
            <a:r>
              <a:rPr lang="es-ES" dirty="0" smtClean="0"/>
              <a:t> tienen su origen en las variaciones naturales en el rendimiento de cada sujeto. Algunos ejemplos son la experiencia previa al experimento programando en un cierto lenguaje, la inteligencia o la habilidad.</a:t>
            </a:r>
            <a:endParaRPr lang="en-US" dirty="0" smtClean="0"/>
          </a:p>
          <a:p>
            <a:r>
              <a:rPr lang="es-ES" dirty="0" smtClean="0"/>
              <a:t>Los efectos de la </a:t>
            </a:r>
            <a:r>
              <a:rPr lang="es-ES" b="1" dirty="0" smtClean="0"/>
              <a:t>maduración</a:t>
            </a:r>
            <a:r>
              <a:rPr lang="es-ES" dirty="0" smtClean="0"/>
              <a:t> son causados por el paso del tiempo, concretamente, por el cansancio o por el aprendizaje de los sujetos según avanza el experimento.</a:t>
            </a:r>
            <a:endParaRPr lang="en-US" dirty="0" smtClean="0"/>
          </a:p>
          <a:p>
            <a:r>
              <a:rPr lang="es-ES" dirty="0" smtClean="0"/>
              <a:t>Los efectos de la </a:t>
            </a:r>
            <a:r>
              <a:rPr lang="es-ES" b="1" dirty="0" smtClean="0"/>
              <a:t>historia</a:t>
            </a:r>
            <a:r>
              <a:rPr lang="es-ES" dirty="0" smtClean="0"/>
              <a:t> se deben a eventos específicos que podrían ocurrir en el transcurso de un experimento. Es un ejemplo el caso del investigador que ha enfermado y al que hay que reemplazar, un fallo en el ordenador o cualquier otra interrupción no deseada.</a:t>
            </a:r>
            <a:endParaRPr lang="en-US" dirty="0" smtClean="0"/>
          </a:p>
          <a:p>
            <a:r>
              <a:rPr lang="es-ES" dirty="0" smtClean="0"/>
              <a:t>Los efectos de la </a:t>
            </a:r>
            <a:r>
              <a:rPr lang="es-ES" b="1" dirty="0" smtClean="0"/>
              <a:t>instrumentación</a:t>
            </a:r>
            <a:r>
              <a:rPr lang="es-ES" dirty="0" smtClean="0"/>
              <a:t> pueden tener su origen en las diferencias en los materiales experimentales que se emplean.</a:t>
            </a:r>
            <a:endParaRPr lang="en-US" dirty="0" smtClean="0"/>
          </a:p>
          <a:p>
            <a:r>
              <a:rPr lang="es-ES" dirty="0" smtClean="0"/>
              <a:t>Los efectos de la </a:t>
            </a:r>
            <a:r>
              <a:rPr lang="es-ES" b="1" dirty="0" smtClean="0"/>
              <a:t>mortalidad</a:t>
            </a:r>
            <a:r>
              <a:rPr lang="es-ES" dirty="0" smtClean="0"/>
              <a:t> son debidos a la pérdida de sujetos a lo largo de un experimento. Puede servir como ejemplo la falta de motivación, originada por el trabajo reiterativo, y su larga duración.</a:t>
            </a:r>
            <a:endParaRPr lang="en-US" dirty="0" smtClean="0"/>
          </a:p>
          <a:p>
            <a:r>
              <a:rPr lang="es-ES" dirty="0" smtClean="0"/>
              <a:t>La causa de los efectos de la </a:t>
            </a:r>
            <a:r>
              <a:rPr lang="es-ES" b="1" dirty="0" smtClean="0"/>
              <a:t>práctica</a:t>
            </a:r>
            <a:r>
              <a:rPr lang="es-ES" dirty="0" smtClean="0"/>
              <a:t> o del </a:t>
            </a:r>
            <a:r>
              <a:rPr lang="es-ES" b="1" dirty="0" smtClean="0"/>
              <a:t>orden de presentación</a:t>
            </a:r>
            <a:r>
              <a:rPr lang="es-ES" dirty="0" smtClean="0"/>
              <a:t> es la cantidad de práctica realizada antes de la presentación correspondiente a un tratamiento determinado.</a:t>
            </a:r>
            <a:endParaRPr lang="en-US" dirty="0" smtClean="0"/>
          </a:p>
          <a:p>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dirty="0" smtClean="0"/>
              <a:t>Taxonomía de los experimentos</a:t>
            </a:r>
            <a:endParaRPr lang="en-US" dirty="0"/>
          </a:p>
        </p:txBody>
      </p:sp>
      <p:sp>
        <p:nvSpPr>
          <p:cNvPr id="3" name="Content Placeholder 2"/>
          <p:cNvSpPr>
            <a:spLocks noGrp="1"/>
          </p:cNvSpPr>
          <p:nvPr>
            <p:ph idx="1"/>
          </p:nvPr>
        </p:nvSpPr>
        <p:spPr/>
        <p:txBody>
          <a:bodyPr/>
          <a:lstStyle/>
          <a:p>
            <a:pPr>
              <a:buNone/>
            </a:pPr>
            <a:r>
              <a:rPr lang="en-GB" dirty="0" smtClean="0"/>
              <a:t> </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371600" y="1402404"/>
            <a:ext cx="6781800" cy="515128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Diseños</a:t>
            </a:r>
            <a:r>
              <a:rPr lang="en-US" dirty="0" smtClean="0"/>
              <a:t> simples – </a:t>
            </a:r>
            <a:r>
              <a:rPr lang="es-ES" dirty="0" smtClean="0"/>
              <a:t>Inter-sujetos</a:t>
            </a:r>
            <a:br>
              <a:rPr lang="es-ES" dirty="0" smtClean="0"/>
            </a:br>
            <a:r>
              <a:rPr lang="es-ES" dirty="0" smtClean="0"/>
              <a:t>Grupos aleatorios</a:t>
            </a:r>
            <a:endParaRPr lang="en-US" dirty="0"/>
          </a:p>
        </p:txBody>
      </p:sp>
      <p:sp>
        <p:nvSpPr>
          <p:cNvPr id="3" name="Content Placeholder 2"/>
          <p:cNvSpPr>
            <a:spLocks noGrp="1"/>
          </p:cNvSpPr>
          <p:nvPr>
            <p:ph idx="1"/>
          </p:nvPr>
        </p:nvSpPr>
        <p:spPr/>
        <p:txBody>
          <a:bodyPr>
            <a:normAutofit fontScale="92500" lnSpcReduction="10000"/>
          </a:bodyPr>
          <a:lstStyle/>
          <a:p>
            <a:r>
              <a:rPr lang="es-ES" dirty="0" smtClean="0"/>
              <a:t>Grupos aleatorios o también denominada grupos independientes</a:t>
            </a:r>
          </a:p>
          <a:p>
            <a:r>
              <a:rPr lang="es-ES" dirty="0" smtClean="0"/>
              <a:t>A </a:t>
            </a:r>
            <a:r>
              <a:rPr lang="es-ES" dirty="0"/>
              <a:t>cada sujeto se le asigna un único tratamiento</a:t>
            </a:r>
            <a:endParaRPr lang="es-ES" dirty="0" smtClean="0"/>
          </a:p>
          <a:p>
            <a:r>
              <a:rPr lang="es-ES" dirty="0" smtClean="0"/>
              <a:t>Los grupos de sujetos correspondientes a los distintos niveles de la variable independiente se forman mediante asignación aleatoria. </a:t>
            </a:r>
          </a:p>
          <a:p>
            <a:r>
              <a:rPr lang="es-ES" dirty="0" smtClean="0"/>
              <a:t>Con esta técnica se controla, por equilibrado, las variables extrañas que están presentes en los sujetos (experiencia, etc.)</a:t>
            </a:r>
          </a:p>
          <a:p>
            <a:r>
              <a:rPr lang="es-ES" dirty="0" smtClean="0"/>
              <a:t>En general se recomiendan los diseños simples</a:t>
            </a:r>
          </a:p>
          <a:p>
            <a:pPr lvl="2"/>
            <a:r>
              <a:rPr lang="es-ES" dirty="0" smtClean="0"/>
              <a:t>Más fáciles de diseñar y evaluar.</a:t>
            </a:r>
          </a:p>
          <a:p>
            <a:pPr lvl="1"/>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Diseños</a:t>
            </a:r>
            <a:r>
              <a:rPr lang="en-US" dirty="0" smtClean="0"/>
              <a:t> simples – </a:t>
            </a:r>
            <a:r>
              <a:rPr lang="es-ES" dirty="0" smtClean="0"/>
              <a:t>Inter-sujetos</a:t>
            </a:r>
            <a:br>
              <a:rPr lang="es-ES" dirty="0" smtClean="0"/>
            </a:br>
            <a:r>
              <a:rPr lang="es-ES" dirty="0" smtClean="0"/>
              <a:t>Grupos aleatorios con bloques</a:t>
            </a:r>
            <a:endParaRPr lang="en-US" dirty="0"/>
          </a:p>
        </p:txBody>
      </p:sp>
      <p:sp>
        <p:nvSpPr>
          <p:cNvPr id="3" name="Content Placeholder 2"/>
          <p:cNvSpPr>
            <a:spLocks noGrp="1"/>
          </p:cNvSpPr>
          <p:nvPr>
            <p:ph idx="1"/>
          </p:nvPr>
        </p:nvSpPr>
        <p:spPr/>
        <p:txBody>
          <a:bodyPr>
            <a:noAutofit/>
          </a:bodyPr>
          <a:lstStyle/>
          <a:p>
            <a:r>
              <a:rPr lang="es-ES" sz="1800" dirty="0" smtClean="0"/>
              <a:t>Grupos aleatorios con bloques o grupos relacionados</a:t>
            </a:r>
          </a:p>
          <a:p>
            <a:r>
              <a:rPr lang="es-ES" sz="1800" dirty="0" smtClean="0"/>
              <a:t>La técnica de control con la que se consiguen grupos emparejados (</a:t>
            </a:r>
            <a:r>
              <a:rPr lang="es-ES" sz="1800" i="1" dirty="0" err="1" smtClean="0"/>
              <a:t>matched</a:t>
            </a:r>
            <a:r>
              <a:rPr lang="es-ES" sz="1800" dirty="0" smtClean="0"/>
              <a:t>) se denomina bloqueo, ya que se forman bloques en una variable relacionada con la variable dependiente. </a:t>
            </a:r>
          </a:p>
          <a:p>
            <a:r>
              <a:rPr lang="es-ES" sz="1800" dirty="0" smtClean="0"/>
              <a:t>Por ejemplo, </a:t>
            </a:r>
            <a:r>
              <a:rPr lang="es-ES" sz="1800" dirty="0" err="1" smtClean="0"/>
              <a:t>Tryggeseth</a:t>
            </a:r>
            <a:r>
              <a:rPr lang="es-ES" sz="1800" dirty="0" smtClean="0"/>
              <a:t> (1997) aplica esta técnica e un experimento para evaluar la función de la documentación en el mantenimiento del software. </a:t>
            </a:r>
          </a:p>
          <a:p>
            <a:pPr lvl="1"/>
            <a:r>
              <a:rPr lang="es-ES" sz="1800" dirty="0" smtClean="0"/>
              <a:t>Antes de ejecutarlo, los 34 estudiantes se dividen en dos grupos, pero no aleatoriamente. Con el fin de asegurar una distribución homogénea de ambos grupos respecto a la variable habilidad con el lenguaje C++, se procede así:</a:t>
            </a:r>
            <a:endParaRPr lang="en-US" sz="1800" dirty="0" smtClean="0"/>
          </a:p>
          <a:p>
            <a:pPr lvl="2"/>
            <a:r>
              <a:rPr lang="es-ES" sz="1800" dirty="0" smtClean="0"/>
              <a:t>Se mide a los participantes en la variable extraña que se quiere controlar, es decir, la habilidad con el lenguaje C++, mediante un test.</a:t>
            </a:r>
            <a:endParaRPr lang="en-US" sz="1800" dirty="0" smtClean="0"/>
          </a:p>
          <a:p>
            <a:pPr lvl="2"/>
            <a:r>
              <a:rPr lang="es-ES" sz="1800" dirty="0" smtClean="0"/>
              <a:t>Se agrupa a los sujetos en cuatro bloques con valores similares en dicha variable.</a:t>
            </a:r>
            <a:endParaRPr lang="en-US" sz="1800" dirty="0" smtClean="0"/>
          </a:p>
          <a:p>
            <a:pPr lvl="2"/>
            <a:r>
              <a:rPr lang="es-ES" sz="1800" dirty="0" smtClean="0"/>
              <a:t>Se asigna al azar a los sujetos de cada bloque a uno de los dos grupos del experimento, hasta que ambos tengan el mismo tamaño.</a:t>
            </a:r>
          </a:p>
          <a:p>
            <a:pPr lvl="1">
              <a:buNone/>
            </a:pPr>
            <a:r>
              <a:rPr lang="en-GB" sz="1400" dirty="0" err="1" smtClean="0"/>
              <a:t>Tryggeseth</a:t>
            </a:r>
            <a:r>
              <a:rPr lang="en-GB" sz="1400" dirty="0" smtClean="0"/>
              <a:t>, E., “Report from an experiment: impact of documentation on maintenance”, Empirical Software Engineering, vol. 2 (2) 1997, pp. 201-207</a:t>
            </a:r>
            <a:endParaRPr lang="en-US" sz="14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dirty="0" smtClean="0"/>
              <a:t>Diseños simples – </a:t>
            </a:r>
            <a:r>
              <a:rPr lang="es-ES" dirty="0" err="1" smtClean="0"/>
              <a:t>intra</a:t>
            </a:r>
            <a:r>
              <a:rPr lang="es-ES" dirty="0" smtClean="0"/>
              <a:t>-sujetos</a:t>
            </a:r>
            <a:endParaRPr lang="en-US" dirty="0"/>
          </a:p>
        </p:txBody>
      </p:sp>
      <p:sp>
        <p:nvSpPr>
          <p:cNvPr id="3" name="Content Placeholder 2"/>
          <p:cNvSpPr>
            <a:spLocks noGrp="1"/>
          </p:cNvSpPr>
          <p:nvPr>
            <p:ph idx="1"/>
          </p:nvPr>
        </p:nvSpPr>
        <p:spPr/>
        <p:txBody>
          <a:bodyPr>
            <a:normAutofit fontScale="47500" lnSpcReduction="20000"/>
          </a:bodyPr>
          <a:lstStyle/>
          <a:p>
            <a:r>
              <a:rPr lang="es-ES" dirty="0" smtClean="0"/>
              <a:t>A  cada sujeto  se le asignan todos los tratamientos.  En lugar de intentar que los distintos grupos sean lo más parecidos posibles, una fórmula mejor consiste en que los grupos asignados a los distintos tratamientos estén formados por los mismos sujetos.  </a:t>
            </a:r>
          </a:p>
          <a:p>
            <a:r>
              <a:rPr lang="es-ES" dirty="0" smtClean="0"/>
              <a:t>Ventajas:</a:t>
            </a:r>
          </a:p>
          <a:p>
            <a:pPr lvl="1"/>
            <a:r>
              <a:rPr lang="es-ES" dirty="0" smtClean="0"/>
              <a:t>se garantiza el control de todas las variables achacables a las diferencias entre los sujetos que pudieran contaminar los resultados del experimento; </a:t>
            </a:r>
          </a:p>
          <a:p>
            <a:pPr lvl="1"/>
            <a:r>
              <a:rPr lang="es-ES" dirty="0" smtClean="0"/>
              <a:t>Se ahorra esfuerzo, pues se consigue la misma información con un número menor de sujetos. A este tipo de diseños se les denomina diseños con los mismos sujetos o diseños de medidas repetidas.</a:t>
            </a:r>
            <a:endParaRPr lang="en-US" dirty="0" smtClean="0"/>
          </a:p>
          <a:p>
            <a:pPr lvl="1"/>
            <a:r>
              <a:rPr lang="es-ES" dirty="0" smtClean="0"/>
              <a:t>Los diseños de medidas repetidas reducen las amenazas a la validez interna debidas a las diferencias individuales.  </a:t>
            </a:r>
          </a:p>
          <a:p>
            <a:r>
              <a:rPr lang="es-ES" dirty="0" smtClean="0"/>
              <a:t>Pero , se pueden dar efectos distorsionantes por la maduración, la instrumentación, la mortalidad y la práctica se tienen que controlar. </a:t>
            </a:r>
          </a:p>
          <a:p>
            <a:pPr lvl="1"/>
            <a:r>
              <a:rPr lang="es-ES" dirty="0" smtClean="0"/>
              <a:t>Un modo de amortiguar el efecto del aprendizaje consiste en que todos los sujetos participen en todos los tratamientos de forma rotatoria y en días diferentes para contrarrestar el cansancio. </a:t>
            </a:r>
          </a:p>
          <a:p>
            <a:r>
              <a:rPr lang="es-ES" dirty="0" smtClean="0"/>
              <a:t>Sin embargo, pese a los esfuerzos por controlarlos, siempre está presente el efecto de la práctica (orden de los tratamientos) , que se controla y/o se mide con un adecuado plan en cuanto al orden de presentación de los niveles de la variable independiente. Las estrategias con las que se controla son:</a:t>
            </a:r>
            <a:endParaRPr lang="es-ES" dirty="0"/>
          </a:p>
          <a:p>
            <a:pPr lvl="1"/>
            <a:r>
              <a:rPr lang="en-GB" dirty="0" err="1" smtClean="0"/>
              <a:t>Aleatorización</a:t>
            </a:r>
            <a:endParaRPr lang="en-GB" dirty="0"/>
          </a:p>
          <a:p>
            <a:pPr lvl="1"/>
            <a:r>
              <a:rPr lang="es-ES" dirty="0" smtClean="0"/>
              <a:t>Reequilibrado (</a:t>
            </a:r>
            <a:r>
              <a:rPr lang="es-ES" i="1" dirty="0" err="1" smtClean="0"/>
              <a:t>counter-balancing</a:t>
            </a:r>
            <a:r>
              <a:rPr lang="es-ES" dirty="0" smtClean="0"/>
              <a:t>) o cuadrado latino (</a:t>
            </a:r>
            <a:r>
              <a:rPr lang="es-ES" i="1" dirty="0" err="1" smtClean="0"/>
              <a:t>latin</a:t>
            </a:r>
            <a:r>
              <a:rPr lang="es-ES" i="1" dirty="0" smtClean="0"/>
              <a:t> </a:t>
            </a:r>
            <a:r>
              <a:rPr lang="es-ES" i="1" dirty="0" err="1" smtClean="0"/>
              <a:t>square</a:t>
            </a:r>
            <a:r>
              <a:rPr lang="es-ES" dirty="0" smtClean="0"/>
              <a:t>) dependiendo si los niveles de la variable independiente son dos , o mayor o igual a 3 respectivamente, que además permiten </a:t>
            </a:r>
            <a:r>
              <a:rPr lang="es-ES" dirty="0"/>
              <a:t>medir el efecto de la </a:t>
            </a:r>
            <a:r>
              <a:rPr lang="es-ES" dirty="0" smtClean="0"/>
              <a:t>práctica</a:t>
            </a:r>
            <a:r>
              <a:rPr lang="es-ES" dirty="0"/>
              <a:t>.</a:t>
            </a:r>
            <a:endParaRPr lang="en-US" dirty="0" smtClean="0"/>
          </a:p>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S" dirty="0" smtClean="0"/>
              <a:t>Diseño simple – </a:t>
            </a:r>
            <a:r>
              <a:rPr lang="es-ES" dirty="0" err="1" smtClean="0"/>
              <a:t>Intra</a:t>
            </a:r>
            <a:r>
              <a:rPr lang="es-ES" dirty="0"/>
              <a:t>-</a:t>
            </a:r>
            <a:r>
              <a:rPr lang="es-ES" dirty="0" smtClean="0"/>
              <a:t>sujetos </a:t>
            </a:r>
            <a:br>
              <a:rPr lang="es-ES" dirty="0" smtClean="0"/>
            </a:br>
            <a:r>
              <a:rPr lang="es-ES" dirty="0" smtClean="0"/>
              <a:t>Control mediante </a:t>
            </a:r>
            <a:r>
              <a:rPr lang="es-ES" dirty="0" err="1" smtClean="0"/>
              <a:t>aleatorización</a:t>
            </a:r>
            <a:endParaRPr lang="en-US" dirty="0"/>
          </a:p>
        </p:txBody>
      </p:sp>
      <p:sp>
        <p:nvSpPr>
          <p:cNvPr id="3" name="Content Placeholder 2"/>
          <p:cNvSpPr>
            <a:spLocks noGrp="1"/>
          </p:cNvSpPr>
          <p:nvPr>
            <p:ph idx="1"/>
          </p:nvPr>
        </p:nvSpPr>
        <p:spPr/>
        <p:txBody>
          <a:bodyPr>
            <a:normAutofit fontScale="92500" lnSpcReduction="20000"/>
          </a:bodyPr>
          <a:lstStyle/>
          <a:p>
            <a:r>
              <a:rPr lang="es-ES" dirty="0" smtClean="0"/>
              <a:t>Cuando no interesa conocer la cuantía del efecto de la práctica, es suficiente para su control una estrategia de </a:t>
            </a:r>
            <a:r>
              <a:rPr lang="es-ES" dirty="0" err="1" smtClean="0"/>
              <a:t>aleatorización</a:t>
            </a:r>
            <a:r>
              <a:rPr lang="es-ES" dirty="0" smtClean="0"/>
              <a:t>: simple o por bloques. </a:t>
            </a:r>
          </a:p>
          <a:p>
            <a:pPr lvl="1"/>
            <a:r>
              <a:rPr lang="es-ES" dirty="0" smtClean="0"/>
              <a:t>Estas dos técnicas ofrecen una cierta garantía de que un posible efecto del orden de presentación queda amortiguado. </a:t>
            </a:r>
          </a:p>
          <a:p>
            <a:pPr lvl="1"/>
            <a:r>
              <a:rPr lang="es-ES" dirty="0" smtClean="0"/>
              <a:t>Este hecho resulta más evidente en la </a:t>
            </a:r>
            <a:r>
              <a:rPr lang="es-ES" dirty="0" err="1" smtClean="0"/>
              <a:t>aleatorización</a:t>
            </a:r>
            <a:r>
              <a:rPr lang="es-ES" dirty="0" smtClean="0"/>
              <a:t> por bloques, puesto que la amenaza del orden de presentación se reparte de forma bastante homogénea entre los diferentes tratamientos experimentales</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S" dirty="0" smtClean="0"/>
              <a:t>Diseño simple – </a:t>
            </a:r>
            <a:r>
              <a:rPr lang="es-ES" dirty="0" err="1" smtClean="0"/>
              <a:t>Intra</a:t>
            </a:r>
            <a:r>
              <a:rPr lang="es-ES" dirty="0" smtClean="0"/>
              <a:t>-sujetos Reequilibrado</a:t>
            </a:r>
            <a:endParaRPr lang="en-US" dirty="0"/>
          </a:p>
        </p:txBody>
      </p:sp>
      <p:sp>
        <p:nvSpPr>
          <p:cNvPr id="3" name="Content Placeholder 2"/>
          <p:cNvSpPr>
            <a:spLocks noGrp="1"/>
          </p:cNvSpPr>
          <p:nvPr>
            <p:ph idx="1"/>
          </p:nvPr>
        </p:nvSpPr>
        <p:spPr/>
        <p:txBody>
          <a:bodyPr>
            <a:normAutofit fontScale="77500" lnSpcReduction="20000"/>
          </a:bodyPr>
          <a:lstStyle/>
          <a:p>
            <a:r>
              <a:rPr lang="es-ES" dirty="0" smtClean="0"/>
              <a:t>La técnica del reequilibrado consiste en repetir los dos tratamientos experimentales, </a:t>
            </a:r>
            <a:r>
              <a:rPr lang="es-ES" i="1" dirty="0" smtClean="0"/>
              <a:t>A</a:t>
            </a:r>
            <a:r>
              <a:rPr lang="es-ES" dirty="0" smtClean="0"/>
              <a:t> y </a:t>
            </a:r>
            <a:r>
              <a:rPr lang="es-ES" i="1" dirty="0" smtClean="0"/>
              <a:t>B</a:t>
            </a:r>
            <a:r>
              <a:rPr lang="es-ES" dirty="0" smtClean="0"/>
              <a:t>, de tal forma que primero se presentan en un orden y, después, en el inverso.</a:t>
            </a:r>
          </a:p>
          <a:p>
            <a:r>
              <a:rPr lang="es-ES" dirty="0" smtClean="0"/>
              <a:t>Si el primer tratamiento afecta al segundo, produciendo un desequilibrio,  se anula, al invertirse este efecto en la segunda repetición, y queda reequilibrado. </a:t>
            </a:r>
          </a:p>
          <a:p>
            <a:pPr lvl="1"/>
            <a:r>
              <a:rPr lang="es-ES" dirty="0" smtClean="0"/>
              <a:t>Se habla de </a:t>
            </a:r>
            <a:r>
              <a:rPr lang="es-ES" b="1" dirty="0" smtClean="0"/>
              <a:t>reequilibrado incompleto </a:t>
            </a:r>
            <a:r>
              <a:rPr lang="es-ES" dirty="0" smtClean="0"/>
              <a:t>cuando el control del orden de presentación abarca a todo el colectivo; es decir, los tratamientos se aplican en el orden </a:t>
            </a:r>
            <a:r>
              <a:rPr lang="es-ES" i="1" dirty="0" smtClean="0"/>
              <a:t>(AB)</a:t>
            </a:r>
            <a:r>
              <a:rPr lang="es-ES" dirty="0" smtClean="0"/>
              <a:t> a un grupo y en el orden inverso </a:t>
            </a:r>
            <a:r>
              <a:rPr lang="es-ES" i="1" dirty="0" smtClean="0"/>
              <a:t>(BA)</a:t>
            </a:r>
            <a:r>
              <a:rPr lang="es-ES" dirty="0" smtClean="0"/>
              <a:t> al otro. </a:t>
            </a:r>
          </a:p>
          <a:p>
            <a:pPr lvl="1"/>
            <a:r>
              <a:rPr lang="es-ES" dirty="0" smtClean="0"/>
              <a:t>En cambio, se dice que es </a:t>
            </a:r>
            <a:r>
              <a:rPr lang="es-ES" b="1" dirty="0" smtClean="0"/>
              <a:t>reequilibrado completo </a:t>
            </a:r>
            <a:r>
              <a:rPr lang="es-ES" dirty="0" smtClean="0"/>
              <a:t>cuando la secuencia </a:t>
            </a:r>
            <a:r>
              <a:rPr lang="es-ES" i="1" dirty="0" smtClean="0"/>
              <a:t>ABBA</a:t>
            </a:r>
            <a:r>
              <a:rPr lang="es-ES" dirty="0" smtClean="0"/>
              <a:t> se aplica a todos los sujetos.</a:t>
            </a:r>
            <a:endParaRPr lang="en-US" dirty="0"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S" dirty="0" smtClean="0"/>
              <a:t>Diseño simple – </a:t>
            </a:r>
            <a:r>
              <a:rPr lang="es-ES" dirty="0" err="1" smtClean="0"/>
              <a:t>Intra</a:t>
            </a:r>
            <a:r>
              <a:rPr lang="es-ES" dirty="0" smtClean="0"/>
              <a:t>-sujetos Reequilibrado. Ejemplo</a:t>
            </a:r>
            <a:endParaRPr lang="en-GB" dirty="0"/>
          </a:p>
        </p:txBody>
      </p:sp>
      <p:sp>
        <p:nvSpPr>
          <p:cNvPr id="3" name="Content Placeholder 2"/>
          <p:cNvSpPr>
            <a:spLocks noGrp="1"/>
          </p:cNvSpPr>
          <p:nvPr>
            <p:ph idx="1"/>
          </p:nvPr>
        </p:nvSpPr>
        <p:spPr>
          <a:xfrm>
            <a:off x="457200" y="1775191"/>
            <a:ext cx="8229600" cy="3711209"/>
          </a:xfrm>
        </p:spPr>
        <p:txBody>
          <a:bodyPr>
            <a:normAutofit fontScale="70000" lnSpcReduction="20000"/>
          </a:bodyPr>
          <a:lstStyle/>
          <a:p>
            <a:r>
              <a:rPr lang="es-ES" dirty="0" err="1" smtClean="0"/>
              <a:t>Daly</a:t>
            </a:r>
            <a:r>
              <a:rPr lang="es-ES" dirty="0" smtClean="0"/>
              <a:t> </a:t>
            </a:r>
            <a:r>
              <a:rPr lang="es-ES" i="1" dirty="0" smtClean="0"/>
              <a:t>et al.</a:t>
            </a:r>
            <a:r>
              <a:rPr lang="es-ES" dirty="0" smtClean="0"/>
              <a:t> (1996</a:t>
            </a:r>
            <a:r>
              <a:rPr lang="es-ES" dirty="0"/>
              <a:t>)</a:t>
            </a:r>
            <a:r>
              <a:rPr lang="es-ES" dirty="0" smtClean="0"/>
              <a:t> describe 2 experimentos ideados para evaluar la profundidad de herencia, cuya única diferencia es el nivel de jerarquía: 3 en uno y 5 en el otro. </a:t>
            </a:r>
          </a:p>
          <a:p>
            <a:pPr lvl="1"/>
            <a:r>
              <a:rPr lang="es-ES" dirty="0" smtClean="0"/>
              <a:t>El diseño usado es de medidas repetidas con bloques aleatorios</a:t>
            </a:r>
          </a:p>
          <a:p>
            <a:pPr lvl="1"/>
            <a:r>
              <a:rPr lang="es-ES" dirty="0" smtClean="0"/>
              <a:t>Todos los sujetos se miden con respecto a los dos niveles de la variable independiente, y se emparejan sobre la base de su conocimiento en programación orientada a objetos, para su posterior asignación al azar a uno de los dos grupos: </a:t>
            </a:r>
            <a:r>
              <a:rPr lang="es-ES" i="1" dirty="0" smtClean="0"/>
              <a:t>A</a:t>
            </a:r>
            <a:r>
              <a:rPr lang="es-ES" dirty="0" smtClean="0"/>
              <a:t> o </a:t>
            </a:r>
            <a:r>
              <a:rPr lang="es-ES" i="1" dirty="0" smtClean="0"/>
              <a:t>B</a:t>
            </a:r>
            <a:r>
              <a:rPr lang="es-ES" dirty="0" smtClean="0"/>
              <a:t>. </a:t>
            </a:r>
          </a:p>
          <a:p>
            <a:pPr lvl="1"/>
            <a:r>
              <a:rPr lang="es-ES" dirty="0" smtClean="0"/>
              <a:t>En estos estudios empíricos, la variable experimental es la profundidad de la herencia: nivel máximo (3 o 5) o nivel 1 (no tiene jerarquía). Para amortiguar el efecto del aprendizaje se construyen dos programas, mientras que para controlar el efecto de la práctica se emplea la técnica de reequilibrado incompleto.</a:t>
            </a:r>
            <a:endParaRPr lang="en-US" dirty="0" smtClean="0"/>
          </a:p>
          <a:p>
            <a:endParaRPr lang="en-GB" dirty="0"/>
          </a:p>
        </p:txBody>
      </p:sp>
      <p:graphicFrame>
        <p:nvGraphicFramePr>
          <p:cNvPr id="5" name="Table 4"/>
          <p:cNvGraphicFramePr>
            <a:graphicFrameLocks noGrp="1"/>
          </p:cNvGraphicFramePr>
          <p:nvPr/>
        </p:nvGraphicFramePr>
        <p:xfrm>
          <a:off x="2362200" y="5562600"/>
          <a:ext cx="4267201" cy="838200"/>
        </p:xfrm>
        <a:graphic>
          <a:graphicData uri="http://schemas.openxmlformats.org/drawingml/2006/table">
            <a:tbl>
              <a:tblPr>
                <a:tableStyleId>{9D7B26C5-4107-4FEC-AEDC-1716B250A1EF}</a:tableStyleId>
              </a:tblPr>
              <a:tblGrid>
                <a:gridCol w="2059978"/>
                <a:gridCol w="1103611"/>
                <a:gridCol w="1019941"/>
                <a:gridCol w="83671"/>
              </a:tblGrid>
              <a:tr h="306010">
                <a:tc>
                  <a:txBody>
                    <a:bodyPr/>
                    <a:lstStyle/>
                    <a:p>
                      <a:pPr algn="ctr">
                        <a:lnSpc>
                          <a:spcPts val="1200"/>
                        </a:lnSpc>
                        <a:spcAft>
                          <a:spcPts val="0"/>
                        </a:spcAft>
                      </a:pPr>
                      <a:endParaRPr lang="es-ES" sz="1200" spc="-15" dirty="0">
                        <a:latin typeface="Times New Roman"/>
                        <a:ea typeface="Times New Roman"/>
                      </a:endParaRPr>
                    </a:p>
                  </a:txBody>
                  <a:tcPr marL="44450" marR="44450" marT="0" marB="0"/>
                </a:tc>
                <a:tc>
                  <a:txBody>
                    <a:bodyPr/>
                    <a:lstStyle/>
                    <a:p>
                      <a:pPr algn="ctr">
                        <a:lnSpc>
                          <a:spcPts val="1200"/>
                        </a:lnSpc>
                        <a:spcAft>
                          <a:spcPts val="0"/>
                        </a:spcAft>
                      </a:pPr>
                      <a:r>
                        <a:rPr lang="es-ES" sz="1200" spc="-15"/>
                        <a:t>Sesión 1</a:t>
                      </a:r>
                      <a:endParaRPr lang="en-GB" sz="1400">
                        <a:latin typeface="Times New Roman"/>
                        <a:ea typeface="Times New Roman"/>
                      </a:endParaRPr>
                    </a:p>
                  </a:txBody>
                  <a:tcPr marL="44450" marR="44450" marT="0" marB="0"/>
                </a:tc>
                <a:tc>
                  <a:txBody>
                    <a:bodyPr/>
                    <a:lstStyle/>
                    <a:p>
                      <a:pPr algn="ctr">
                        <a:lnSpc>
                          <a:spcPts val="1200"/>
                        </a:lnSpc>
                        <a:spcAft>
                          <a:spcPts val="0"/>
                        </a:spcAft>
                      </a:pPr>
                      <a:r>
                        <a:rPr lang="es-ES" sz="1200" spc="-15"/>
                        <a:t>Sesión 2</a:t>
                      </a:r>
                      <a:endParaRPr lang="en-GB" sz="1400">
                        <a:latin typeface="Times New Roman"/>
                        <a:ea typeface="Times New Roman"/>
                      </a:endParaRPr>
                    </a:p>
                  </a:txBody>
                  <a:tcPr marL="44450" marR="44450" marT="0" marB="0"/>
                </a:tc>
                <a:tc>
                  <a:txBody>
                    <a:bodyPr/>
                    <a:lstStyle/>
                    <a:p>
                      <a:pPr>
                        <a:lnSpc>
                          <a:spcPct val="115000"/>
                        </a:lnSpc>
                        <a:spcAft>
                          <a:spcPts val="0"/>
                        </a:spcAft>
                      </a:pPr>
                      <a:r>
                        <a:rPr lang="en-GB" sz="1000"/>
                        <a:t> </a:t>
                      </a:r>
                      <a:endParaRPr lang="en-GB" sz="1000">
                        <a:latin typeface="Times New Roman"/>
                        <a:ea typeface="Times New Roman"/>
                      </a:endParaRPr>
                    </a:p>
                  </a:txBody>
                  <a:tcPr marL="0" marR="0" marT="0" marB="0" anchor="ctr"/>
                </a:tc>
              </a:tr>
              <a:tr h="266095">
                <a:tc>
                  <a:txBody>
                    <a:bodyPr/>
                    <a:lstStyle/>
                    <a:p>
                      <a:pPr algn="ctr">
                        <a:lnSpc>
                          <a:spcPts val="1200"/>
                        </a:lnSpc>
                        <a:spcAft>
                          <a:spcPts val="0"/>
                        </a:spcAft>
                      </a:pPr>
                      <a:r>
                        <a:rPr lang="es-ES" sz="1200" spc="-15"/>
                        <a:t>Grupo A (16)</a:t>
                      </a:r>
                      <a:endParaRPr lang="en-GB" sz="1400">
                        <a:latin typeface="Times New Roman"/>
                        <a:ea typeface="Times New Roman"/>
                      </a:endParaRPr>
                    </a:p>
                  </a:txBody>
                  <a:tcPr marL="44450" marR="44450" marT="0" marB="0"/>
                </a:tc>
                <a:tc>
                  <a:txBody>
                    <a:bodyPr/>
                    <a:lstStyle/>
                    <a:p>
                      <a:pPr algn="ctr">
                        <a:lnSpc>
                          <a:spcPts val="1200"/>
                        </a:lnSpc>
                        <a:spcAft>
                          <a:spcPts val="0"/>
                        </a:spcAft>
                      </a:pPr>
                      <a:r>
                        <a:rPr lang="es-ES" sz="1200" spc="-15" dirty="0"/>
                        <a:t>Prog1conH</a:t>
                      </a:r>
                      <a:endParaRPr lang="en-GB" sz="1400" dirty="0">
                        <a:latin typeface="Times New Roman"/>
                        <a:ea typeface="Times New Roman"/>
                      </a:endParaRPr>
                    </a:p>
                  </a:txBody>
                  <a:tcPr marL="44450" marR="44450" marT="0" marB="0"/>
                </a:tc>
                <a:tc gridSpan="2">
                  <a:txBody>
                    <a:bodyPr/>
                    <a:lstStyle/>
                    <a:p>
                      <a:pPr algn="ctr">
                        <a:lnSpc>
                          <a:spcPts val="1200"/>
                        </a:lnSpc>
                        <a:spcAft>
                          <a:spcPts val="0"/>
                        </a:spcAft>
                      </a:pPr>
                      <a:r>
                        <a:rPr lang="es-ES" sz="1200" spc="-15"/>
                        <a:t>Prog2sinH</a:t>
                      </a:r>
                      <a:endParaRPr lang="en-GB" sz="1400">
                        <a:latin typeface="Times New Roman"/>
                        <a:ea typeface="Times New Roman"/>
                      </a:endParaRPr>
                    </a:p>
                  </a:txBody>
                  <a:tcPr marL="44450" marR="44450" marT="0" marB="0"/>
                </a:tc>
                <a:tc hMerge="1">
                  <a:txBody>
                    <a:bodyPr/>
                    <a:lstStyle/>
                    <a:p>
                      <a:endParaRPr lang="en-GB"/>
                    </a:p>
                  </a:txBody>
                  <a:tcPr/>
                </a:tc>
              </a:tr>
              <a:tr h="266095">
                <a:tc>
                  <a:txBody>
                    <a:bodyPr/>
                    <a:lstStyle/>
                    <a:p>
                      <a:pPr algn="ctr">
                        <a:lnSpc>
                          <a:spcPts val="1200"/>
                        </a:lnSpc>
                        <a:spcAft>
                          <a:spcPts val="0"/>
                        </a:spcAft>
                      </a:pPr>
                      <a:r>
                        <a:rPr lang="es-ES" sz="1200" spc="-15"/>
                        <a:t>Grupo B (15)</a:t>
                      </a:r>
                      <a:endParaRPr lang="en-GB" sz="1400">
                        <a:latin typeface="Times New Roman"/>
                        <a:ea typeface="Times New Roman"/>
                      </a:endParaRPr>
                    </a:p>
                  </a:txBody>
                  <a:tcPr marL="44450" marR="44450" marT="0" marB="0"/>
                </a:tc>
                <a:tc>
                  <a:txBody>
                    <a:bodyPr/>
                    <a:lstStyle/>
                    <a:p>
                      <a:pPr algn="ctr">
                        <a:lnSpc>
                          <a:spcPts val="1200"/>
                        </a:lnSpc>
                        <a:spcAft>
                          <a:spcPts val="0"/>
                        </a:spcAft>
                      </a:pPr>
                      <a:r>
                        <a:rPr lang="es-ES" sz="1200" spc="-15" dirty="0"/>
                        <a:t>Prog1sinH</a:t>
                      </a:r>
                      <a:endParaRPr lang="en-GB" sz="1400" dirty="0">
                        <a:latin typeface="Times New Roman"/>
                        <a:ea typeface="Times New Roman"/>
                      </a:endParaRPr>
                    </a:p>
                  </a:txBody>
                  <a:tcPr marL="44450" marR="44450" marT="0" marB="0"/>
                </a:tc>
                <a:tc gridSpan="2">
                  <a:txBody>
                    <a:bodyPr/>
                    <a:lstStyle/>
                    <a:p>
                      <a:pPr algn="ctr">
                        <a:lnSpc>
                          <a:spcPts val="1200"/>
                        </a:lnSpc>
                        <a:spcAft>
                          <a:spcPts val="0"/>
                        </a:spcAft>
                      </a:pPr>
                      <a:r>
                        <a:rPr lang="es-ES" sz="1200" spc="-15" dirty="0"/>
                        <a:t>Prog2conH</a:t>
                      </a:r>
                      <a:endParaRPr lang="en-GB" sz="1400" dirty="0">
                        <a:latin typeface="Times New Roman"/>
                        <a:ea typeface="Times New Roman"/>
                      </a:endParaRPr>
                    </a:p>
                  </a:txBody>
                  <a:tcPr marL="44450" marR="44450" marT="0" marB="0"/>
                </a:tc>
                <a:tc hMerge="1">
                  <a:txBody>
                    <a:bodyPr/>
                    <a:lstStyle/>
                    <a:p>
                      <a:endParaRPr lang="en-GB"/>
                    </a:p>
                  </a:txBody>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S" dirty="0" smtClean="0"/>
              <a:t>Diseño simple – </a:t>
            </a:r>
            <a:r>
              <a:rPr lang="es-ES" dirty="0" err="1" smtClean="0"/>
              <a:t>Intra</a:t>
            </a:r>
            <a:r>
              <a:rPr lang="es-ES" dirty="0" smtClean="0"/>
              <a:t>-sujetos Cuadrado latino</a:t>
            </a:r>
            <a:endParaRPr lang="en-US" dirty="0"/>
          </a:p>
        </p:txBody>
      </p:sp>
      <p:sp>
        <p:nvSpPr>
          <p:cNvPr id="3" name="Content Placeholder 2"/>
          <p:cNvSpPr>
            <a:spLocks noGrp="1"/>
          </p:cNvSpPr>
          <p:nvPr>
            <p:ph idx="1"/>
          </p:nvPr>
        </p:nvSpPr>
        <p:spPr/>
        <p:txBody>
          <a:bodyPr>
            <a:normAutofit fontScale="62500" lnSpcReduction="20000"/>
          </a:bodyPr>
          <a:lstStyle/>
          <a:p>
            <a:r>
              <a:rPr lang="es-ES" dirty="0" smtClean="0"/>
              <a:t>La lógica implícita en la técnica de control mediante con dos niveles en la variable independiente es compensar los efectos de la práctica aplicando dos tratamientos en los dos órdenes posibles: </a:t>
            </a:r>
            <a:r>
              <a:rPr lang="es-ES" i="1" dirty="0" smtClean="0"/>
              <a:t>AB</a:t>
            </a:r>
            <a:r>
              <a:rPr lang="es-ES" dirty="0" smtClean="0"/>
              <a:t> y </a:t>
            </a:r>
            <a:r>
              <a:rPr lang="es-ES" i="1" dirty="0" smtClean="0"/>
              <a:t>BA</a:t>
            </a:r>
            <a:r>
              <a:rPr lang="es-ES" dirty="0" smtClean="0"/>
              <a:t>. </a:t>
            </a:r>
          </a:p>
          <a:p>
            <a:r>
              <a:rPr lang="es-ES" dirty="0" smtClean="0"/>
              <a:t>Pero si la variable independiente tuviese 3 niveles, habría que aplicar esos niveles en 6 secuencias diferentes: </a:t>
            </a:r>
            <a:r>
              <a:rPr lang="es-ES" i="1" dirty="0" smtClean="0"/>
              <a:t>ABC</a:t>
            </a:r>
            <a:r>
              <a:rPr lang="es-ES" dirty="0" smtClean="0"/>
              <a:t>, </a:t>
            </a:r>
            <a:r>
              <a:rPr lang="es-ES" i="1" dirty="0" smtClean="0"/>
              <a:t>ACB</a:t>
            </a:r>
            <a:r>
              <a:rPr lang="es-ES" dirty="0" smtClean="0"/>
              <a:t>, </a:t>
            </a:r>
            <a:r>
              <a:rPr lang="es-ES" i="1" dirty="0" smtClean="0"/>
              <a:t>BAC</a:t>
            </a:r>
            <a:r>
              <a:rPr lang="es-ES" dirty="0" smtClean="0"/>
              <a:t>, </a:t>
            </a:r>
            <a:r>
              <a:rPr lang="es-ES" i="1" dirty="0" smtClean="0"/>
              <a:t>BCA</a:t>
            </a:r>
            <a:r>
              <a:rPr lang="es-ES" dirty="0" smtClean="0"/>
              <a:t>, </a:t>
            </a:r>
            <a:r>
              <a:rPr lang="es-ES" i="1" dirty="0" smtClean="0"/>
              <a:t>CAB</a:t>
            </a:r>
            <a:r>
              <a:rPr lang="es-ES" dirty="0" smtClean="0"/>
              <a:t> y </a:t>
            </a:r>
            <a:r>
              <a:rPr lang="es-ES" i="1" dirty="0" smtClean="0"/>
              <a:t>CBA</a:t>
            </a:r>
            <a:r>
              <a:rPr lang="es-ES" dirty="0" smtClean="0"/>
              <a:t>. </a:t>
            </a:r>
          </a:p>
          <a:p>
            <a:pPr lvl="1"/>
            <a:r>
              <a:rPr lang="es-ES" dirty="0" smtClean="0"/>
              <a:t>Como esto requiere un gran esfuerzo, se han desarrollado técnicas para controlar el posible efecto de la práctica cuando se presentan más de dos tratamientos.  </a:t>
            </a:r>
          </a:p>
          <a:p>
            <a:r>
              <a:rPr lang="es-ES" dirty="0" smtClean="0"/>
              <a:t>Estas técnicas permiten los denominados diseños de cuadrado latino. </a:t>
            </a:r>
          </a:p>
          <a:p>
            <a:pPr lvl="1"/>
            <a:r>
              <a:rPr lang="es-ES" dirty="0" smtClean="0"/>
              <a:t>En este tipo de diseños el control del efecto de la práctica se lleva a cabo seleccionando un grupo de secuencias de presentación entre todas las posibles. Se eligen tantas secuencias como tratamientos haya en el experimento, de tal modo que cada tratamiento sólo ocurra una vez en cada posición dentro del conjunto de secuencias elegidas. Por ejemplo los tres órdenes de presentación para el caso de tres niveles seleccionados entre las seis permutaciones mencionadas.</a:t>
            </a:r>
            <a:endParaRPr lang="en-US" dirty="0"/>
          </a:p>
        </p:txBody>
      </p:sp>
      <p:graphicFrame>
        <p:nvGraphicFramePr>
          <p:cNvPr id="4" name="Table 3"/>
          <p:cNvGraphicFramePr>
            <a:graphicFrameLocks noGrp="1"/>
          </p:cNvGraphicFramePr>
          <p:nvPr/>
        </p:nvGraphicFramePr>
        <p:xfrm>
          <a:off x="3810000" y="5715000"/>
          <a:ext cx="1752600" cy="656082"/>
        </p:xfrm>
        <a:graphic>
          <a:graphicData uri="http://schemas.openxmlformats.org/drawingml/2006/table">
            <a:tbl>
              <a:tblPr>
                <a:tableStyleId>{2D5ABB26-0587-4C30-8999-92F81FD0307C}</a:tableStyleId>
              </a:tblPr>
              <a:tblGrid>
                <a:gridCol w="584200"/>
                <a:gridCol w="584200"/>
                <a:gridCol w="584200"/>
              </a:tblGrid>
              <a:tr h="218694">
                <a:tc>
                  <a:txBody>
                    <a:bodyPr/>
                    <a:lstStyle/>
                    <a:p>
                      <a:pPr algn="ctr">
                        <a:lnSpc>
                          <a:spcPts val="1200"/>
                        </a:lnSpc>
                        <a:spcAft>
                          <a:spcPts val="0"/>
                        </a:spcAft>
                      </a:pPr>
                      <a:r>
                        <a:rPr lang="es-ES" sz="1600" spc="-15" dirty="0"/>
                        <a:t>B</a:t>
                      </a:r>
                      <a:endParaRPr lang="en-US" sz="1800" dirty="0">
                        <a:latin typeface="+mn-lt"/>
                        <a:ea typeface="Times New Roman"/>
                      </a:endParaRPr>
                    </a:p>
                  </a:txBody>
                  <a:tcPr marL="44450" marR="44450" marT="0" marB="0"/>
                </a:tc>
                <a:tc>
                  <a:txBody>
                    <a:bodyPr/>
                    <a:lstStyle/>
                    <a:p>
                      <a:pPr algn="ctr">
                        <a:lnSpc>
                          <a:spcPts val="1200"/>
                        </a:lnSpc>
                        <a:spcAft>
                          <a:spcPts val="0"/>
                        </a:spcAft>
                      </a:pPr>
                      <a:r>
                        <a:rPr lang="es-ES" sz="1600" spc="-15" dirty="0"/>
                        <a:t>A</a:t>
                      </a:r>
                      <a:endParaRPr lang="en-US" sz="1800" dirty="0">
                        <a:latin typeface="+mn-lt"/>
                        <a:ea typeface="Times New Roman"/>
                      </a:endParaRPr>
                    </a:p>
                  </a:txBody>
                  <a:tcPr marL="44450" marR="44450" marT="0" marB="0"/>
                </a:tc>
                <a:tc>
                  <a:txBody>
                    <a:bodyPr/>
                    <a:lstStyle/>
                    <a:p>
                      <a:pPr algn="ctr">
                        <a:lnSpc>
                          <a:spcPts val="1200"/>
                        </a:lnSpc>
                        <a:spcAft>
                          <a:spcPts val="0"/>
                        </a:spcAft>
                      </a:pPr>
                      <a:r>
                        <a:rPr lang="es-ES" sz="1600" spc="-15"/>
                        <a:t>C</a:t>
                      </a:r>
                      <a:endParaRPr lang="en-US" sz="1800">
                        <a:latin typeface="+mn-lt"/>
                        <a:ea typeface="Times New Roman"/>
                      </a:endParaRPr>
                    </a:p>
                  </a:txBody>
                  <a:tcPr marL="44450" marR="44450" marT="0" marB="0"/>
                </a:tc>
              </a:tr>
              <a:tr h="218694">
                <a:tc>
                  <a:txBody>
                    <a:bodyPr/>
                    <a:lstStyle/>
                    <a:p>
                      <a:pPr algn="ctr">
                        <a:lnSpc>
                          <a:spcPts val="1200"/>
                        </a:lnSpc>
                        <a:spcAft>
                          <a:spcPts val="0"/>
                        </a:spcAft>
                      </a:pPr>
                      <a:r>
                        <a:rPr lang="es-ES" sz="1600" spc="-15"/>
                        <a:t>C</a:t>
                      </a:r>
                      <a:endParaRPr lang="en-US" sz="1800">
                        <a:latin typeface="+mn-lt"/>
                        <a:ea typeface="Times New Roman"/>
                      </a:endParaRPr>
                    </a:p>
                  </a:txBody>
                  <a:tcPr marL="44450" marR="44450" marT="0" marB="0"/>
                </a:tc>
                <a:tc>
                  <a:txBody>
                    <a:bodyPr/>
                    <a:lstStyle/>
                    <a:p>
                      <a:pPr algn="ctr">
                        <a:lnSpc>
                          <a:spcPts val="1200"/>
                        </a:lnSpc>
                        <a:spcAft>
                          <a:spcPts val="0"/>
                        </a:spcAft>
                      </a:pPr>
                      <a:r>
                        <a:rPr lang="es-ES" sz="1600" spc="-15"/>
                        <a:t>B</a:t>
                      </a:r>
                      <a:endParaRPr lang="en-US" sz="1800">
                        <a:latin typeface="+mn-lt"/>
                        <a:ea typeface="Times New Roman"/>
                      </a:endParaRPr>
                    </a:p>
                  </a:txBody>
                  <a:tcPr marL="44450" marR="44450" marT="0" marB="0"/>
                </a:tc>
                <a:tc>
                  <a:txBody>
                    <a:bodyPr/>
                    <a:lstStyle/>
                    <a:p>
                      <a:pPr algn="ctr">
                        <a:lnSpc>
                          <a:spcPts val="1200"/>
                        </a:lnSpc>
                        <a:spcAft>
                          <a:spcPts val="0"/>
                        </a:spcAft>
                      </a:pPr>
                      <a:r>
                        <a:rPr lang="es-ES" sz="1600" spc="-15"/>
                        <a:t>A</a:t>
                      </a:r>
                      <a:endParaRPr lang="en-US" sz="1800">
                        <a:latin typeface="+mn-lt"/>
                        <a:ea typeface="Times New Roman"/>
                      </a:endParaRPr>
                    </a:p>
                  </a:txBody>
                  <a:tcPr marL="44450" marR="44450" marT="0" marB="0"/>
                </a:tc>
              </a:tr>
              <a:tr h="218694">
                <a:tc>
                  <a:txBody>
                    <a:bodyPr/>
                    <a:lstStyle/>
                    <a:p>
                      <a:pPr algn="ctr">
                        <a:lnSpc>
                          <a:spcPts val="1200"/>
                        </a:lnSpc>
                        <a:spcAft>
                          <a:spcPts val="0"/>
                        </a:spcAft>
                      </a:pPr>
                      <a:r>
                        <a:rPr lang="es-ES" sz="1600" spc="-15"/>
                        <a:t>A</a:t>
                      </a:r>
                      <a:endParaRPr lang="en-US" sz="1800">
                        <a:latin typeface="+mn-lt"/>
                        <a:ea typeface="Times New Roman"/>
                      </a:endParaRPr>
                    </a:p>
                  </a:txBody>
                  <a:tcPr marL="44450" marR="44450" marT="0" marB="0"/>
                </a:tc>
                <a:tc>
                  <a:txBody>
                    <a:bodyPr/>
                    <a:lstStyle/>
                    <a:p>
                      <a:pPr algn="ctr">
                        <a:lnSpc>
                          <a:spcPts val="1200"/>
                        </a:lnSpc>
                        <a:spcAft>
                          <a:spcPts val="0"/>
                        </a:spcAft>
                      </a:pPr>
                      <a:r>
                        <a:rPr lang="es-ES" sz="1600" spc="-15" dirty="0"/>
                        <a:t>C</a:t>
                      </a:r>
                      <a:endParaRPr lang="en-US" sz="1800" dirty="0">
                        <a:latin typeface="+mn-lt"/>
                        <a:ea typeface="Times New Roman"/>
                      </a:endParaRPr>
                    </a:p>
                  </a:txBody>
                  <a:tcPr marL="44450" marR="44450" marT="0" marB="0"/>
                </a:tc>
                <a:tc>
                  <a:txBody>
                    <a:bodyPr/>
                    <a:lstStyle/>
                    <a:p>
                      <a:pPr algn="ctr">
                        <a:lnSpc>
                          <a:spcPts val="1200"/>
                        </a:lnSpc>
                        <a:spcAft>
                          <a:spcPts val="0"/>
                        </a:spcAft>
                      </a:pPr>
                      <a:r>
                        <a:rPr lang="es-ES" sz="1600" spc="-15" dirty="0"/>
                        <a:t>B</a:t>
                      </a:r>
                      <a:endParaRPr lang="en-US" sz="1800" dirty="0">
                        <a:latin typeface="+mn-lt"/>
                        <a:ea typeface="Times New Roman"/>
                      </a:endParaRPr>
                    </a:p>
                  </a:txBody>
                  <a:tcPr marL="44450" marR="44450" marT="0" marB="0"/>
                </a:tc>
              </a:tr>
            </a:tbl>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Diseños</a:t>
            </a:r>
            <a:r>
              <a:rPr lang="en-US" dirty="0" smtClean="0"/>
              <a:t> </a:t>
            </a:r>
            <a:r>
              <a:rPr lang="en-US" dirty="0" err="1" smtClean="0"/>
              <a:t>complejos</a:t>
            </a:r>
            <a:r>
              <a:rPr lang="en-US" dirty="0" smtClean="0"/>
              <a:t> o </a:t>
            </a:r>
            <a:r>
              <a:rPr lang="en-US" dirty="0" err="1" smtClean="0"/>
              <a:t>factoriales</a:t>
            </a:r>
            <a:endParaRPr lang="en-US" dirty="0"/>
          </a:p>
        </p:txBody>
      </p:sp>
      <p:sp>
        <p:nvSpPr>
          <p:cNvPr id="3" name="Content Placeholder 2"/>
          <p:cNvSpPr>
            <a:spLocks noGrp="1"/>
          </p:cNvSpPr>
          <p:nvPr>
            <p:ph idx="1"/>
          </p:nvPr>
        </p:nvSpPr>
        <p:spPr/>
        <p:txBody>
          <a:bodyPr>
            <a:normAutofit fontScale="77500" lnSpcReduction="20000"/>
          </a:bodyPr>
          <a:lstStyle/>
          <a:p>
            <a:r>
              <a:rPr lang="es-ES" dirty="0" smtClean="0"/>
              <a:t>Los diseños factoriales se caracterizan por estudiar dos o más variables independientes (</a:t>
            </a:r>
            <a:r>
              <a:rPr lang="es-ES" i="1" dirty="0" smtClean="0"/>
              <a:t>vi</a:t>
            </a:r>
            <a:r>
              <a:rPr lang="es-ES" dirty="0" smtClean="0"/>
              <a:t>), denominadas factores que, a su vez, se dividen en niveles. </a:t>
            </a:r>
            <a:endParaRPr lang="en-US" dirty="0" smtClean="0"/>
          </a:p>
          <a:p>
            <a:r>
              <a:rPr lang="es-ES" dirty="0" smtClean="0"/>
              <a:t>Una primera clasificación de diseños factoriales (por ejemplo, 2 x 2 o 2</a:t>
            </a:r>
            <a:r>
              <a:rPr lang="es-ES" baseline="30000" dirty="0" smtClean="0"/>
              <a:t>2</a:t>
            </a:r>
            <a:r>
              <a:rPr lang="es-ES" dirty="0" smtClean="0"/>
              <a:t>) distingue entre diseños cruzados y anidados:</a:t>
            </a:r>
            <a:endParaRPr lang="en-US" dirty="0" smtClean="0"/>
          </a:p>
          <a:p>
            <a:pPr lvl="1"/>
            <a:r>
              <a:rPr lang="es-ES" b="1" dirty="0" smtClean="0"/>
              <a:t>Diseños cruzados</a:t>
            </a:r>
            <a:r>
              <a:rPr lang="es-ES" dirty="0" smtClean="0"/>
              <a:t>. Todos los niveles de una </a:t>
            </a:r>
            <a:r>
              <a:rPr lang="es-ES" i="1" dirty="0" smtClean="0"/>
              <a:t>vi</a:t>
            </a:r>
            <a:r>
              <a:rPr lang="es-ES" dirty="0" smtClean="0"/>
              <a:t> (factor </a:t>
            </a:r>
            <a:r>
              <a:rPr lang="es-ES" i="1" dirty="0" smtClean="0"/>
              <a:t>A</a:t>
            </a:r>
            <a:r>
              <a:rPr lang="es-ES" dirty="0" smtClean="0"/>
              <a:t>) se combinan con los niveles de la otra (factor </a:t>
            </a:r>
            <a:r>
              <a:rPr lang="es-ES" i="1" dirty="0" smtClean="0"/>
              <a:t>B</a:t>
            </a:r>
            <a:r>
              <a:rPr lang="es-ES" dirty="0" smtClean="0"/>
              <a:t>). Por eso, es posible examinar la influencia de la interacción </a:t>
            </a:r>
            <a:r>
              <a:rPr lang="es-ES" i="1" dirty="0" smtClean="0"/>
              <a:t>A x B</a:t>
            </a:r>
            <a:r>
              <a:rPr lang="es-ES" dirty="0" smtClean="0"/>
              <a:t> sobre la variable dependiente. Si no hay interacción, entonces hay que explorar los efectos principales debidos a los factores </a:t>
            </a:r>
            <a:r>
              <a:rPr lang="es-ES" i="1" dirty="0" smtClean="0"/>
              <a:t>A</a:t>
            </a:r>
            <a:r>
              <a:rPr lang="es-ES" dirty="0" smtClean="0"/>
              <a:t> y </a:t>
            </a:r>
            <a:r>
              <a:rPr lang="es-ES" i="1" dirty="0" smtClean="0"/>
              <a:t>B</a:t>
            </a:r>
            <a:r>
              <a:rPr lang="es-ES" dirty="0" smtClean="0"/>
              <a:t>.</a:t>
            </a:r>
            <a:endParaRPr lang="en-US" dirty="0"/>
          </a:p>
          <a:p>
            <a:pPr lvl="1"/>
            <a:r>
              <a:rPr lang="es-ES" b="1" dirty="0" smtClean="0"/>
              <a:t>Diseños anidados</a:t>
            </a:r>
            <a:r>
              <a:rPr lang="es-ES" dirty="0" smtClean="0"/>
              <a:t>. Los niveles del factor </a:t>
            </a:r>
            <a:r>
              <a:rPr lang="es-ES" i="1" dirty="0" smtClean="0"/>
              <a:t>B</a:t>
            </a:r>
            <a:r>
              <a:rPr lang="es-ES" dirty="0" smtClean="0"/>
              <a:t> están anidados dentro de los niveles del factor </a:t>
            </a:r>
            <a:r>
              <a:rPr lang="es-ES" i="1" dirty="0" smtClean="0"/>
              <a:t>A</a:t>
            </a:r>
            <a:r>
              <a:rPr lang="es-ES" dirty="0" smtClean="0"/>
              <a:t>. Es imposible estudiar la interacción </a:t>
            </a:r>
            <a:r>
              <a:rPr lang="es-ES" i="1" dirty="0" smtClean="0"/>
              <a:t>A x B</a:t>
            </a:r>
            <a:r>
              <a:rPr lang="es-ES" dirty="0" smtClean="0"/>
              <a:t>, y el efecto principal del factor </a:t>
            </a:r>
            <a:r>
              <a:rPr lang="es-ES" i="1" dirty="0" smtClean="0"/>
              <a:t>B</a:t>
            </a:r>
            <a:r>
              <a:rPr lang="es-ES" dirty="0" smtClean="0"/>
              <a:t> sólo se puede explorar dentro de cada nivel del factor </a:t>
            </a:r>
            <a:r>
              <a:rPr lang="es-ES" i="1" dirty="0" smtClean="0"/>
              <a:t>A</a:t>
            </a:r>
            <a:r>
              <a:rPr lang="es-ES" dirty="0" smtClean="0"/>
              <a:t>.</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Diseños</a:t>
            </a:r>
            <a:r>
              <a:rPr lang="en-US" dirty="0" smtClean="0"/>
              <a:t> </a:t>
            </a:r>
            <a:r>
              <a:rPr lang="en-US" dirty="0" err="1" smtClean="0"/>
              <a:t>cruzado</a:t>
            </a:r>
            <a:r>
              <a:rPr lang="en-US" dirty="0" smtClean="0"/>
              <a:t> vs. </a:t>
            </a:r>
            <a:r>
              <a:rPr lang="en-US" dirty="0" err="1" smtClean="0"/>
              <a:t>anidados</a:t>
            </a:r>
            <a:endParaRPr lang="en-US" dirty="0"/>
          </a:p>
        </p:txBody>
      </p:sp>
      <p:sp>
        <p:nvSpPr>
          <p:cNvPr id="3" name="Content Placeholder 2"/>
          <p:cNvSpPr>
            <a:spLocks noGrp="1"/>
          </p:cNvSpPr>
          <p:nvPr>
            <p:ph idx="1"/>
          </p:nvPr>
        </p:nvSpPr>
        <p:spPr/>
        <p:txBody>
          <a:bodyPr/>
          <a:lstStyle/>
          <a:p>
            <a:r>
              <a:rPr lang="en-US" dirty="0" smtClean="0"/>
              <a:t/>
            </a:r>
            <a:br>
              <a:rPr lang="en-US" dirty="0" smtClean="0"/>
            </a:br>
            <a:endParaRPr lang="en-US" dirty="0"/>
          </a:p>
        </p:txBody>
      </p:sp>
      <p:graphicFrame>
        <p:nvGraphicFramePr>
          <p:cNvPr id="36866" name="Object 2"/>
          <p:cNvGraphicFramePr>
            <a:graphicFrameLocks noChangeAspect="1"/>
          </p:cNvGraphicFramePr>
          <p:nvPr/>
        </p:nvGraphicFramePr>
        <p:xfrm>
          <a:off x="838200" y="2286000"/>
          <a:ext cx="7652047" cy="2133600"/>
        </p:xfrm>
        <a:graphic>
          <a:graphicData uri="http://schemas.openxmlformats.org/presentationml/2006/ole">
            <mc:AlternateContent xmlns:mc="http://schemas.openxmlformats.org/markup-compatibility/2006">
              <mc:Choice xmlns:v="urn:schemas-microsoft-com:vml" Requires="v">
                <p:oleObj spid="_x0000_s36867" name="Picture" r:id="rId3" imgW="4902120" imgH="1320840" progId="Word.Picture.8">
                  <p:embed/>
                </p:oleObj>
              </mc:Choice>
              <mc:Fallback>
                <p:oleObj name="Picture" r:id="rId3" imgW="4902120" imgH="1320840" progId="Word.Picture.8">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286000"/>
                        <a:ext cx="7652047"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smtClean="0"/>
              <a:t>Replicación de experimentos</a:t>
            </a:r>
            <a:endParaRPr lang="en-US" dirty="0"/>
          </a:p>
        </p:txBody>
      </p:sp>
      <p:sp>
        <p:nvSpPr>
          <p:cNvPr id="3" name="Content Placeholder 2"/>
          <p:cNvSpPr>
            <a:spLocks noGrp="1"/>
          </p:cNvSpPr>
          <p:nvPr>
            <p:ph idx="1"/>
          </p:nvPr>
        </p:nvSpPr>
        <p:spPr/>
        <p:txBody>
          <a:bodyPr>
            <a:normAutofit fontScale="92500" lnSpcReduction="10000"/>
          </a:bodyPr>
          <a:lstStyle/>
          <a:p>
            <a:r>
              <a:rPr lang="es-ES" dirty="0" smtClean="0"/>
              <a:t>Asimismo, es importante lograr la fiabilidad de un experimento mediante su replicación, ya sea interna o externa. Para llevar a la práctica una réplica externa es preciso crear paquetes de laboratorio en los que se informe sobre el diseño, los instrumentos y los procesos utilizados en el experimento, así como sobre los métodos empleados durante el análisis. Según [</a:t>
            </a:r>
            <a:r>
              <a:rPr lang="es-ES" dirty="0" err="1" smtClean="0"/>
              <a:t>Basili</a:t>
            </a:r>
            <a:r>
              <a:rPr lang="es-ES" dirty="0" smtClean="0"/>
              <a:t> </a:t>
            </a:r>
            <a:r>
              <a:rPr lang="es-ES" i="1" dirty="0" smtClean="0"/>
              <a:t>et al.</a:t>
            </a:r>
            <a:r>
              <a:rPr lang="es-ES" dirty="0" smtClean="0"/>
              <a:t>, 1999], los tipos de replicaciones se agrupan en tres categorías:</a:t>
            </a:r>
            <a:endParaRPr lang="en-US" dirty="0" smtClean="0"/>
          </a:p>
          <a:p>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smtClean="0"/>
              <a:t>Tipos de réplicas</a:t>
            </a:r>
            <a:endParaRPr lang="en-US" dirty="0"/>
          </a:p>
        </p:txBody>
      </p:sp>
      <p:sp>
        <p:nvSpPr>
          <p:cNvPr id="3" name="Content Placeholder 2"/>
          <p:cNvSpPr>
            <a:spLocks noGrp="1"/>
          </p:cNvSpPr>
          <p:nvPr>
            <p:ph idx="1"/>
          </p:nvPr>
        </p:nvSpPr>
        <p:spPr/>
        <p:txBody>
          <a:bodyPr>
            <a:normAutofit fontScale="70000" lnSpcReduction="20000"/>
          </a:bodyPr>
          <a:lstStyle/>
          <a:p>
            <a:pPr lvl="0"/>
            <a:r>
              <a:rPr lang="es-ES" dirty="0" smtClean="0"/>
              <a:t>Réplicas que no hacen variar ninguna de las hipótesis de la investigación, o sea, que no modifican ninguna de las variables independientes y dependientes del experimento original.</a:t>
            </a:r>
            <a:endParaRPr lang="en-US" sz="3600" dirty="0" smtClean="0"/>
          </a:p>
          <a:p>
            <a:pPr lvl="1"/>
            <a:r>
              <a:rPr lang="es-ES" dirty="0" smtClean="0"/>
              <a:t>Réplicas estrictas.</a:t>
            </a:r>
            <a:endParaRPr lang="en-US" sz="3200" dirty="0" smtClean="0"/>
          </a:p>
          <a:p>
            <a:pPr lvl="1"/>
            <a:r>
              <a:rPr lang="es-ES" dirty="0" smtClean="0"/>
              <a:t>Réplicas que varían la manera en que se ejecuta el experimento.</a:t>
            </a:r>
            <a:endParaRPr lang="en-US" sz="3200" dirty="0" smtClean="0"/>
          </a:p>
          <a:p>
            <a:pPr lvl="0"/>
            <a:r>
              <a:rPr lang="es-ES" dirty="0" smtClean="0"/>
              <a:t>Réplicas que varían las hipótesis de la investigación.</a:t>
            </a:r>
            <a:endParaRPr lang="en-US" sz="3600" dirty="0" smtClean="0"/>
          </a:p>
          <a:p>
            <a:pPr lvl="1"/>
            <a:r>
              <a:rPr lang="es-ES" dirty="0" smtClean="0"/>
              <a:t>Réplicas que cambian las variables independientes.</a:t>
            </a:r>
            <a:endParaRPr lang="en-US" sz="3200" dirty="0" smtClean="0"/>
          </a:p>
          <a:p>
            <a:pPr lvl="1"/>
            <a:r>
              <a:rPr lang="es-ES" dirty="0" smtClean="0"/>
              <a:t>Réplicas que cambian las variables dependientes.</a:t>
            </a:r>
            <a:endParaRPr lang="en-US" sz="3200" dirty="0" smtClean="0"/>
          </a:p>
          <a:p>
            <a:pPr lvl="1"/>
            <a:r>
              <a:rPr lang="es-ES" dirty="0" smtClean="0"/>
              <a:t>Réplicas que cambian las variables de contexto en el entorno en que evaluó la solución. Así, ayuda a mejorar la validez externa la recurrencia a profesionales en lugar de estudiantes en una réplica con los mismos procesos y productos para determinar si se llega a los mismos resultados.</a:t>
            </a:r>
            <a:endParaRPr lang="en-US" sz="3200" dirty="0" smtClean="0"/>
          </a:p>
          <a:p>
            <a:r>
              <a:rPr lang="es-ES" dirty="0" smtClean="0"/>
              <a:t>Réplicas que amplían la teoría; es decir, se realizan varios cambios para comprobar si los resultados permanecen.</a:t>
            </a:r>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err="1" smtClean="0"/>
              <a:t>Guía</a:t>
            </a:r>
            <a:r>
              <a:rPr lang="en-GB" dirty="0" smtClean="0"/>
              <a:t> </a:t>
            </a:r>
            <a:r>
              <a:rPr lang="en-GB" dirty="0" err="1" smtClean="0"/>
              <a:t>para</a:t>
            </a:r>
            <a:r>
              <a:rPr lang="en-GB" dirty="0" smtClean="0"/>
              <a:t> la </a:t>
            </a:r>
            <a:r>
              <a:rPr lang="en-GB" dirty="0" err="1" smtClean="0"/>
              <a:t>investigación</a:t>
            </a:r>
            <a:r>
              <a:rPr lang="en-GB" dirty="0" smtClean="0"/>
              <a:t> </a:t>
            </a:r>
            <a:r>
              <a:rPr lang="en-GB" dirty="0" err="1" smtClean="0"/>
              <a:t>empírica</a:t>
            </a:r>
            <a:endParaRPr lang="en-GB" dirty="0"/>
          </a:p>
        </p:txBody>
      </p:sp>
      <p:sp>
        <p:nvSpPr>
          <p:cNvPr id="3" name="Content Placeholder 2"/>
          <p:cNvSpPr>
            <a:spLocks noGrp="1"/>
          </p:cNvSpPr>
          <p:nvPr>
            <p:ph idx="1"/>
          </p:nvPr>
        </p:nvSpPr>
        <p:spPr/>
        <p:txBody>
          <a:bodyPr>
            <a:normAutofit fontScale="70000" lnSpcReduction="20000"/>
          </a:bodyPr>
          <a:lstStyle/>
          <a:p>
            <a:r>
              <a:rPr lang="es-ES" dirty="0" err="1" smtClean="0"/>
              <a:t>Kitchenham</a:t>
            </a:r>
            <a:r>
              <a:rPr lang="es-ES" dirty="0" smtClean="0"/>
              <a:t> et al han definido una guía para tener en cuenta aspectos de investigación empírica en la ingeniería del software, aunque generalizable (de hecho, se basan en guías médicas).</a:t>
            </a:r>
          </a:p>
          <a:p>
            <a:pPr lvl="1"/>
            <a:r>
              <a:rPr lang="es-ES" dirty="0" smtClean="0"/>
              <a:t>Provee guías en contexto, diseño, recabar datos, análisis y presentación de los resultados.</a:t>
            </a:r>
          </a:p>
          <a:p>
            <a:endParaRPr lang="es-ES" dirty="0" smtClean="0"/>
          </a:p>
          <a:p>
            <a:pPr>
              <a:buNone/>
            </a:pPr>
            <a:r>
              <a:rPr lang="en-GB" dirty="0" err="1" smtClean="0"/>
              <a:t>Kitchenham</a:t>
            </a:r>
            <a:r>
              <a:rPr lang="en-GB" dirty="0" smtClean="0"/>
              <a:t>, B.A.; </a:t>
            </a:r>
            <a:r>
              <a:rPr lang="en-GB" dirty="0" err="1" smtClean="0"/>
              <a:t>Pfleeger</a:t>
            </a:r>
            <a:r>
              <a:rPr lang="en-GB" dirty="0" smtClean="0"/>
              <a:t>, S.L.; Pickard, L.M.; Jones, P.W.; </a:t>
            </a:r>
            <a:r>
              <a:rPr lang="en-GB" dirty="0" err="1" smtClean="0"/>
              <a:t>Hoaglin</a:t>
            </a:r>
            <a:r>
              <a:rPr lang="en-GB" dirty="0" smtClean="0"/>
              <a:t>, D.C.; El </a:t>
            </a:r>
            <a:r>
              <a:rPr lang="en-GB" dirty="0" err="1" smtClean="0"/>
              <a:t>Emam</a:t>
            </a:r>
            <a:r>
              <a:rPr lang="en-GB" dirty="0" smtClean="0"/>
              <a:t>, K.; Rosenberg, J., "Preliminary guidelines for empirical research in software engineering," </a:t>
            </a:r>
            <a:r>
              <a:rPr lang="en-GB" i="1" dirty="0" smtClean="0"/>
              <a:t>Software Engineering, IEEE Transactions on</a:t>
            </a:r>
            <a:r>
              <a:rPr lang="en-GB" dirty="0" smtClean="0"/>
              <a:t> , vol.28, no.8, pp. 721-734, Aug 2002.</a:t>
            </a:r>
          </a:p>
          <a:p>
            <a:pPr>
              <a:buNone/>
            </a:pPr>
            <a:r>
              <a:rPr lang="en-GB" dirty="0" smtClean="0"/>
              <a:t>	Digital Object Identifier 10.1109/TSE.2002.1027796 </a:t>
            </a:r>
            <a:br>
              <a:rPr lang="en-GB" dirty="0" smtClean="0"/>
            </a:br>
            <a:r>
              <a:rPr lang="en-GB" dirty="0" smtClean="0"/>
              <a:t/>
            </a:r>
            <a:br>
              <a:rPr lang="en-GB" dirty="0" smtClean="0"/>
            </a:br>
            <a:r>
              <a:rPr lang="en-GB" sz="2600" dirty="0" smtClean="0">
                <a:latin typeface="Consolas" pitchFamily="49" charset="0"/>
                <a:hlinkClick r:id="rId2"/>
              </a:rPr>
              <a:t>http://ieeexplore.ieee.org/stamp/stamp.jsp?arnumber=1027796&amp;isnumber=22077</a:t>
            </a:r>
            <a:endParaRPr lang="es-ES" dirty="0" smtClean="0">
              <a:latin typeface="Consolas" pitchFamily="49"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4656</TotalTime>
  <Words>5431</Words>
  <Application>Microsoft Office PowerPoint</Application>
  <PresentationFormat>On-screen Show (4:3)</PresentationFormat>
  <Paragraphs>292</Paragraphs>
  <Slides>50</Slides>
  <Notes>7</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52" baseType="lpstr">
      <vt:lpstr>Module</vt:lpstr>
      <vt:lpstr>Picture</vt:lpstr>
      <vt:lpstr>Introducción a las técnicas de investigación.</vt:lpstr>
      <vt:lpstr>Contenidos</vt:lpstr>
      <vt:lpstr>Tipos de técnicas de investigación. </vt:lpstr>
      <vt:lpstr>Estudios cualitativos vs. cuantitativos</vt:lpstr>
      <vt:lpstr>Investigación basada en la evidencia</vt:lpstr>
      <vt:lpstr>Revisión sistemática de la literatura</vt:lpstr>
      <vt:lpstr>Características de la RS</vt:lpstr>
      <vt:lpstr>Comparación (Benchmarking)</vt:lpstr>
      <vt:lpstr>Investigación empírica</vt:lpstr>
      <vt:lpstr>Diseño experimental </vt:lpstr>
      <vt:lpstr>Escalas y medición</vt:lpstr>
      <vt:lpstr>Teoría de la representación</vt:lpstr>
      <vt:lpstr>Entidades y atributos</vt:lpstr>
      <vt:lpstr>Medición</vt:lpstr>
      <vt:lpstr>Escalas</vt:lpstr>
      <vt:lpstr>Tipos de escala</vt:lpstr>
      <vt:lpstr>Operaciones estadísticas y matemáticas permitidas</vt:lpstr>
      <vt:lpstr>Evaluación empírica</vt:lpstr>
      <vt:lpstr>Tipos de evaluación empírica</vt:lpstr>
      <vt:lpstr>Encuestas</vt:lpstr>
      <vt:lpstr>Tipos de encuestas</vt:lpstr>
      <vt:lpstr>Objetivo de las encuestas</vt:lpstr>
      <vt:lpstr>Teoría fundamentada  (Grounded Theory)</vt:lpstr>
      <vt:lpstr>Casos de estudio</vt:lpstr>
      <vt:lpstr>Casos de estudio</vt:lpstr>
      <vt:lpstr>Experimentación formal</vt:lpstr>
      <vt:lpstr>Diseño de experimentos formales</vt:lpstr>
      <vt:lpstr>Proceso y diseño de experimentos</vt:lpstr>
      <vt:lpstr>Proceso en la experimentación formal</vt:lpstr>
      <vt:lpstr>Hipótesis</vt:lpstr>
      <vt:lpstr>Validación de la hipótesis</vt:lpstr>
      <vt:lpstr>Tipos de errores y Potencia </vt:lpstr>
      <vt:lpstr>Tratamientos, unidades y sujetos experimentales</vt:lpstr>
      <vt:lpstr>Variables</vt:lpstr>
      <vt:lpstr>PowerPoint Presentation</vt:lpstr>
      <vt:lpstr>Propiedades</vt:lpstr>
      <vt:lpstr>Amenazas de la validez interna</vt:lpstr>
      <vt:lpstr>Taxonomía de los experimentos</vt:lpstr>
      <vt:lpstr>Diseños simples – Inter-sujetos Grupos aleatorios</vt:lpstr>
      <vt:lpstr>Diseños simples – Inter-sujetos Grupos aleatorios con bloques</vt:lpstr>
      <vt:lpstr>Diseños simples – intra-sujetos</vt:lpstr>
      <vt:lpstr>Diseño simple – Intra-sujetos  Control mediante aleatorización</vt:lpstr>
      <vt:lpstr>Diseño simple – Intra-sujetos Reequilibrado</vt:lpstr>
      <vt:lpstr>Diseño simple – Intra-sujetos Reequilibrado. Ejemplo</vt:lpstr>
      <vt:lpstr>Diseño simple – Intra-sujetos Cuadrado latino</vt:lpstr>
      <vt:lpstr>Diseños complejos o factoriales</vt:lpstr>
      <vt:lpstr>Diseños cruzado vs. anidados</vt:lpstr>
      <vt:lpstr>Replicación de experimentos</vt:lpstr>
      <vt:lpstr>Tipos de réplicas</vt:lpstr>
      <vt:lpstr>Guía para la investigación empírica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Tipos</dc:title>
  <dc:creator>drg</dc:creator>
  <cp:lastModifiedBy>drg</cp:lastModifiedBy>
  <cp:revision>187</cp:revision>
  <dcterms:created xsi:type="dcterms:W3CDTF">2006-08-16T00:00:00Z</dcterms:created>
  <dcterms:modified xsi:type="dcterms:W3CDTF">2010-12-04T20:03:58Z</dcterms:modified>
</cp:coreProperties>
</file>