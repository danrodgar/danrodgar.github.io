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92" y="82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1B8FCB-94A0-4A46-A07C-C87B3BC06B45}" type="datetimeFigureOut">
              <a:rPr lang="en-GB" smtClean="0"/>
              <a:t>07/11/2010</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75BEBB-8EBA-4F6B-967A-9AC32DD32B52}"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466709-E40A-4E3A-89A1-D29CB65F02AB}" type="slidenum">
              <a:rPr lang="en-US"/>
              <a:pPr/>
              <a:t>1</a:t>
            </a:fld>
            <a:endParaRPr lang="en-US"/>
          </a:p>
        </p:txBody>
      </p:sp>
      <p:sp>
        <p:nvSpPr>
          <p:cNvPr id="191490" name="Rectangle 2"/>
          <p:cNvSpPr>
            <a:spLocks noChangeArrowheads="1" noTextEdit="1"/>
          </p:cNvSpPr>
          <p:nvPr>
            <p:ph type="sldImg"/>
          </p:nvPr>
        </p:nvSpPr>
        <p:spPr>
          <a:xfrm>
            <a:off x="1143000" y="685800"/>
            <a:ext cx="4573588" cy="3429000"/>
          </a:xfrm>
          <a:ln/>
        </p:spPr>
      </p:sp>
      <p:sp>
        <p:nvSpPr>
          <p:cNvPr id="191491" name="Rectangle 3"/>
          <p:cNvSpPr>
            <a:spLocks noGrp="1" noChangeArrowheads="1"/>
          </p:cNvSpPr>
          <p:nvPr>
            <p:ph type="body" idx="1"/>
          </p:nvPr>
        </p:nvSpPr>
        <p:spPr/>
        <p:txBody>
          <a:bodyPr/>
          <a:lstStyle/>
          <a:p>
            <a:r>
              <a:rPr lang="es-ES"/>
              <a:t>Para preparar la clase: leer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8978A9-5639-42AD-8278-6FA289817782}" type="slidenum">
              <a:rPr lang="en-US"/>
              <a:pPr/>
              <a:t>21</a:t>
            </a:fld>
            <a:endParaRPr lang="en-US"/>
          </a:p>
        </p:txBody>
      </p:sp>
      <p:sp>
        <p:nvSpPr>
          <p:cNvPr id="455682" name="Rectangle 2"/>
          <p:cNvSpPr>
            <a:spLocks noChangeArrowheads="1" noTextEdit="1"/>
          </p:cNvSpPr>
          <p:nvPr>
            <p:ph type="sldImg"/>
          </p:nvPr>
        </p:nvSpPr>
        <p:spPr>
          <a:xfrm>
            <a:off x="1143000" y="685800"/>
            <a:ext cx="4573588" cy="3429000"/>
          </a:xfrm>
          <a:ln/>
        </p:spPr>
      </p:sp>
      <p:sp>
        <p:nvSpPr>
          <p:cNvPr id="455683" name="Rectangle 3"/>
          <p:cNvSpPr>
            <a:spLocks noGrp="1" noChangeArrowheads="1"/>
          </p:cNvSpPr>
          <p:nvPr>
            <p:ph type="body" idx="1"/>
          </p:nvPr>
        </p:nvSpPr>
        <p:spPr>
          <a:xfrm>
            <a:off x="685480" y="4342666"/>
            <a:ext cx="5487041" cy="4114800"/>
          </a:xfrm>
        </p:spPr>
        <p:txBody>
          <a:bodyPr/>
          <a:lstStyle/>
          <a:p>
            <a:r>
              <a:rPr lang="es-ES"/>
              <a:t>En (1). Polimorfismo es simplemente la capacidad de q dos cosas se llamen igual. La definición de arriba es un poco limitada.</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11/7/2010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11/7/2010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11/7/2010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11/7/2010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11/7/2010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1617663" y="1833563"/>
            <a:ext cx="7354887" cy="1933575"/>
          </a:xfrm>
        </p:spPr>
        <p:txBody>
          <a:bodyPr/>
          <a:lstStyle/>
          <a:p>
            <a:r>
              <a:rPr lang="en-US" sz="2700" dirty="0" err="1"/>
              <a:t>Metodologías</a:t>
            </a:r>
            <a:r>
              <a:rPr lang="en-US" sz="2700" dirty="0"/>
              <a:t> en la </a:t>
            </a:r>
            <a:r>
              <a:rPr lang="en-US" sz="2700" dirty="0" err="1"/>
              <a:t>Ingeniería</a:t>
            </a:r>
            <a:r>
              <a:rPr lang="en-US" sz="2700" dirty="0"/>
              <a:t> del Software</a:t>
            </a:r>
            <a:r>
              <a:rPr lang="en-US" sz="2400" dirty="0"/>
              <a:t/>
            </a:r>
            <a:br>
              <a:rPr lang="en-US" sz="2400" dirty="0"/>
            </a:br>
            <a:r>
              <a:rPr lang="en-US" sz="2000" dirty="0" err="1" smtClean="0"/>
              <a:t>Métodos</a:t>
            </a:r>
            <a:r>
              <a:rPr lang="en-US" sz="2000" dirty="0" smtClean="0"/>
              <a:t> </a:t>
            </a:r>
            <a:r>
              <a:rPr lang="en-US" sz="2000" dirty="0" err="1"/>
              <a:t>Orientados</a:t>
            </a:r>
            <a:r>
              <a:rPr lang="en-US" sz="2000" dirty="0"/>
              <a:t> a </a:t>
            </a:r>
            <a:r>
              <a:rPr lang="en-US" sz="2000" dirty="0" err="1"/>
              <a:t>Objetos</a:t>
            </a:r>
            <a:r>
              <a:rPr lang="en-US" sz="2000" dirty="0"/>
              <a:t/>
            </a:r>
            <a:br>
              <a:rPr lang="en-US" sz="2000" dirty="0"/>
            </a:br>
            <a:endParaRPr lang="en-US" sz="2000" dirty="0"/>
          </a:p>
        </p:txBody>
      </p:sp>
      <p:sp>
        <p:nvSpPr>
          <p:cNvPr id="13315" name="Rectangle 3"/>
          <p:cNvSpPr>
            <a:spLocks noGrp="1" noChangeArrowheads="1"/>
          </p:cNvSpPr>
          <p:nvPr>
            <p:ph type="subTitle" idx="1"/>
          </p:nvPr>
        </p:nvSpPr>
        <p:spPr>
          <a:xfrm>
            <a:off x="1771650" y="4110038"/>
            <a:ext cx="6970713" cy="1714500"/>
          </a:xfrm>
        </p:spPr>
        <p:txBody>
          <a:bodyPr/>
          <a:lstStyle/>
          <a:p>
            <a:pPr>
              <a:lnSpc>
                <a:spcPct val="90000"/>
              </a:lnSpc>
            </a:pPr>
            <a:r>
              <a:rPr lang="en-AU" sz="1600" dirty="0" smtClean="0"/>
              <a:t>Daniel </a:t>
            </a:r>
            <a:r>
              <a:rPr lang="en-AU" sz="1600" dirty="0" err="1"/>
              <a:t>Rodríguez</a:t>
            </a:r>
            <a:r>
              <a:rPr lang="en-AU" sz="1600" dirty="0"/>
              <a:t> </a:t>
            </a:r>
            <a:r>
              <a:rPr lang="en-AU" sz="1600" dirty="0" err="1"/>
              <a:t>García</a:t>
            </a:r>
            <a:endParaRPr lang="en-AU" sz="1600" dirty="0"/>
          </a:p>
          <a:p>
            <a:pPr>
              <a:lnSpc>
                <a:spcPct val="90000"/>
              </a:lnSpc>
            </a:pPr>
            <a:r>
              <a:rPr lang="en-AU" sz="1600" dirty="0" err="1">
                <a:solidFill>
                  <a:schemeClr val="accent2"/>
                </a:solidFill>
              </a:rPr>
              <a:t>Departamento</a:t>
            </a:r>
            <a:r>
              <a:rPr lang="en-AU" sz="1600" dirty="0">
                <a:solidFill>
                  <a:schemeClr val="accent2"/>
                </a:solidFill>
              </a:rPr>
              <a:t> de </a:t>
            </a:r>
            <a:r>
              <a:rPr lang="en-AU" sz="1600" dirty="0" err="1">
                <a:solidFill>
                  <a:schemeClr val="accent2"/>
                </a:solidFill>
              </a:rPr>
              <a:t>Ciencias</a:t>
            </a:r>
            <a:r>
              <a:rPr lang="en-AU" sz="1600" dirty="0">
                <a:solidFill>
                  <a:schemeClr val="accent2"/>
                </a:solidFill>
              </a:rPr>
              <a:t> de la </a:t>
            </a:r>
            <a:r>
              <a:rPr lang="en-AU" sz="1600" dirty="0" err="1">
                <a:solidFill>
                  <a:schemeClr val="accent2"/>
                </a:solidFill>
              </a:rPr>
              <a:t>Computación</a:t>
            </a:r>
            <a:endParaRPr lang="en-AU" sz="1600" dirty="0">
              <a:solidFill>
                <a:schemeClr val="accent2"/>
              </a:solidFill>
            </a:endParaRPr>
          </a:p>
          <a:p>
            <a:pPr>
              <a:lnSpc>
                <a:spcPct val="90000"/>
              </a:lnSpc>
            </a:pPr>
            <a:r>
              <a:rPr lang="en-AU" sz="1600" dirty="0">
                <a:solidFill>
                  <a:schemeClr val="accent2"/>
                </a:solidFill>
              </a:rPr>
              <a:t>Universidad de </a:t>
            </a:r>
            <a:r>
              <a:rPr lang="en-AU" sz="1600" dirty="0" err="1">
                <a:solidFill>
                  <a:schemeClr val="accent2"/>
                </a:solidFill>
              </a:rPr>
              <a:t>Alcalá</a:t>
            </a:r>
            <a:endParaRPr lang="es-ES" sz="1800" b="1" dirty="0">
              <a:solidFill>
                <a:schemeClr val="accent2"/>
              </a:solidFill>
              <a:latin typeface="Courier New" pitchFamily="49" charset="0"/>
            </a:endParaRPr>
          </a:p>
          <a:p>
            <a:pPr>
              <a:lnSpc>
                <a:spcPct val="90000"/>
              </a:lnSpc>
            </a:pPr>
            <a:endParaRPr lang="en-AU" sz="1800" b="1" dirty="0">
              <a:solidFill>
                <a:schemeClr val="accent2"/>
              </a:solidFill>
              <a:latin typeface="Courier New" pitchFamily="49" charset="0"/>
            </a:endParaRPr>
          </a:p>
        </p:txBody>
      </p:sp>
      <p:pic>
        <p:nvPicPr>
          <p:cNvPr id="13316" name="Picture 4" descr="3d65"/>
          <p:cNvPicPr>
            <a:picLocks noChangeAspect="1" noChangeArrowheads="1"/>
          </p:cNvPicPr>
          <p:nvPr/>
        </p:nvPicPr>
        <p:blipFill>
          <a:blip r:embed="rId3" cstate="print"/>
          <a:srcRect/>
          <a:stretch>
            <a:fillRect/>
          </a:stretch>
        </p:blipFill>
        <p:spPr bwMode="auto">
          <a:xfrm>
            <a:off x="1130300" y="4233863"/>
            <a:ext cx="450850" cy="47625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9" name="Rectangle 3"/>
          <p:cNvSpPr>
            <a:spLocks noGrp="1" noChangeArrowheads="1"/>
          </p:cNvSpPr>
          <p:nvPr>
            <p:ph idx="1"/>
          </p:nvPr>
        </p:nvSpPr>
        <p:spPr/>
        <p:txBody>
          <a:bodyPr>
            <a:normAutofit/>
          </a:bodyPr>
          <a:lstStyle/>
          <a:p>
            <a:r>
              <a:rPr lang="es-ES_tradnl"/>
              <a:t>Fowler, M., Scott Kendall, UML Gota a gota, </a:t>
            </a:r>
            <a:br>
              <a:rPr lang="es-ES_tradnl"/>
            </a:br>
            <a:r>
              <a:rPr lang="es-ES_tradnl"/>
              <a:t>Adison-Wesley, 2000</a:t>
            </a:r>
          </a:p>
          <a:p>
            <a:pPr lvl="1"/>
            <a:r>
              <a:rPr lang="es-ES_tradnl"/>
              <a:t>En inglés: UML Distilled, 3rd Edt, 2004</a:t>
            </a:r>
          </a:p>
          <a:p>
            <a:endParaRPr lang="es-ES"/>
          </a:p>
          <a:p>
            <a:endParaRPr lang="es-ES"/>
          </a:p>
          <a:p>
            <a:endParaRPr lang="es-ES"/>
          </a:p>
          <a:p>
            <a:r>
              <a:rPr lang="es-ES"/>
              <a:t>Meyer, B.,  Construcción de software Orientación a objetos“, Prentice-Hall, 1999</a:t>
            </a:r>
            <a:endParaRPr lang="es-ES_tradnl"/>
          </a:p>
          <a:p>
            <a:endParaRPr lang="es-ES_tradnl"/>
          </a:p>
          <a:p>
            <a:endParaRPr lang="en-GB"/>
          </a:p>
        </p:txBody>
      </p:sp>
      <p:sp>
        <p:nvSpPr>
          <p:cNvPr id="434178" name="Rectangle 2"/>
          <p:cNvSpPr>
            <a:spLocks noGrp="1" noChangeArrowheads="1"/>
          </p:cNvSpPr>
          <p:nvPr>
            <p:ph type="title"/>
          </p:nvPr>
        </p:nvSpPr>
        <p:spPr/>
        <p:txBody>
          <a:bodyPr/>
          <a:lstStyle/>
          <a:p>
            <a:r>
              <a:rPr lang="es-ES_tradnl"/>
              <a:t>Bibliografía</a:t>
            </a:r>
            <a:endParaRPr lang="en-GB"/>
          </a:p>
        </p:txBody>
      </p:sp>
      <p:pic>
        <p:nvPicPr>
          <p:cNvPr id="434180" name="Picture 4"/>
          <p:cNvPicPr>
            <a:picLocks noChangeAspect="1" noChangeArrowheads="1"/>
          </p:cNvPicPr>
          <p:nvPr/>
        </p:nvPicPr>
        <p:blipFill>
          <a:blip r:embed="rId2" cstate="print"/>
          <a:srcRect/>
          <a:stretch>
            <a:fillRect/>
          </a:stretch>
        </p:blipFill>
        <p:spPr bwMode="auto">
          <a:xfrm>
            <a:off x="7450138" y="1493838"/>
            <a:ext cx="1435100" cy="2176462"/>
          </a:xfrm>
          <a:prstGeom prst="rect">
            <a:avLst/>
          </a:prstGeom>
          <a:noFill/>
          <a:ln w="9525">
            <a:noFill/>
            <a:miter lim="800000"/>
            <a:headEnd/>
            <a:tailEnd/>
          </a:ln>
          <a:effectLst/>
        </p:spPr>
      </p:pic>
      <p:pic>
        <p:nvPicPr>
          <p:cNvPr id="434181" name="Picture 5"/>
          <p:cNvPicPr>
            <a:picLocks noChangeAspect="1" noChangeArrowheads="1"/>
          </p:cNvPicPr>
          <p:nvPr/>
        </p:nvPicPr>
        <p:blipFill>
          <a:blip r:embed="rId3" cstate="print"/>
          <a:srcRect/>
          <a:stretch>
            <a:fillRect/>
          </a:stretch>
        </p:blipFill>
        <p:spPr bwMode="auto">
          <a:xfrm>
            <a:off x="7472363" y="4452938"/>
            <a:ext cx="1254125" cy="1682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1" name="Rectangle 3"/>
          <p:cNvSpPr>
            <a:spLocks noGrp="1" noChangeArrowheads="1"/>
          </p:cNvSpPr>
          <p:nvPr>
            <p:ph idx="1"/>
          </p:nvPr>
        </p:nvSpPr>
        <p:spPr/>
        <p:txBody>
          <a:bodyPr/>
          <a:lstStyle/>
          <a:p>
            <a:r>
              <a:rPr lang="es-ES_tradnl"/>
              <a:t>Problemas métodos estructurados</a:t>
            </a:r>
          </a:p>
          <a:p>
            <a:r>
              <a:rPr lang="es-ES_tradnl"/>
              <a:t>De lenguajes estructurados a la OO</a:t>
            </a:r>
          </a:p>
          <a:p>
            <a:r>
              <a:rPr lang="es-ES_tradnl"/>
              <a:t>Historia Orientación a Objetos (OO)</a:t>
            </a:r>
          </a:p>
          <a:p>
            <a:r>
              <a:rPr lang="es-ES_tradnl"/>
              <a:t>Propiedades de la OO</a:t>
            </a:r>
          </a:p>
          <a:p>
            <a:r>
              <a:rPr lang="es-ES_tradnl"/>
              <a:t>Bibliografía</a:t>
            </a:r>
          </a:p>
          <a:p>
            <a:endParaRPr lang="es-ES_tradnl"/>
          </a:p>
          <a:p>
            <a:pPr>
              <a:buFontTx/>
              <a:buNone/>
            </a:pPr>
            <a:endParaRPr lang="en-GB"/>
          </a:p>
        </p:txBody>
      </p:sp>
      <p:sp>
        <p:nvSpPr>
          <p:cNvPr id="437250" name="Rectangle 2"/>
          <p:cNvSpPr>
            <a:spLocks noGrp="1" noChangeArrowheads="1"/>
          </p:cNvSpPr>
          <p:nvPr>
            <p:ph type="title"/>
          </p:nvPr>
        </p:nvSpPr>
        <p:spPr/>
        <p:txBody>
          <a:bodyPr/>
          <a:lstStyle/>
          <a:p>
            <a:r>
              <a:rPr lang="es-ES_tradnl"/>
              <a:t>Contenidos</a:t>
            </a: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3" name="Rectangle 3"/>
          <p:cNvSpPr>
            <a:spLocks noGrp="1" noChangeArrowheads="1"/>
          </p:cNvSpPr>
          <p:nvPr>
            <p:ph sz="half" idx="1"/>
          </p:nvPr>
        </p:nvSpPr>
        <p:spPr>
          <a:xfrm>
            <a:off x="677863" y="1576388"/>
            <a:ext cx="6489700" cy="4621212"/>
          </a:xfrm>
        </p:spPr>
        <p:txBody>
          <a:bodyPr>
            <a:normAutofit/>
          </a:bodyPr>
          <a:lstStyle/>
          <a:p>
            <a:r>
              <a:rPr lang="es-ES" sz="2000"/>
              <a:t>Partiendo de los problemas citados, el paradigma de la orientación a objetos se remonta a 1967, donde los noruegos </a:t>
            </a:r>
            <a:r>
              <a:rPr lang="es-ES" sz="2000" b="1"/>
              <a:t>Ole-Johan Dahl</a:t>
            </a:r>
            <a:r>
              <a:rPr lang="es-ES" sz="2000"/>
              <a:t> (1931-2002) y </a:t>
            </a:r>
            <a:r>
              <a:rPr lang="es-ES" sz="2000" b="1"/>
              <a:t>Kristen Nygaard</a:t>
            </a:r>
            <a:r>
              <a:rPr lang="es-ES" sz="2000"/>
              <a:t> (1926-2002) desarrollaron los conceptos básicos de la programación orientada a objetos, en un lenguaje llamado SIMULA 67. </a:t>
            </a:r>
          </a:p>
          <a:p>
            <a:pPr lvl="1"/>
            <a:r>
              <a:rPr lang="es-ES" sz="1600"/>
              <a:t>Ambos recibieron conjuntamente el premio ACM Turing y la medalla IEEE John von Neumann por sus ideas para que pudiese emerger la orientación a objetos. </a:t>
            </a:r>
          </a:p>
          <a:p>
            <a:pPr lvl="1"/>
            <a:r>
              <a:rPr lang="es-ES" sz="1600"/>
              <a:t>En la actualidad existe el premio Dahl-Nygaard de la asociación AITO (Association Internationale pour les Technologies Objets)</a:t>
            </a:r>
            <a:r>
              <a:rPr lang="en-GB" sz="1600"/>
              <a:t> </a:t>
            </a:r>
          </a:p>
          <a:p>
            <a:r>
              <a:rPr lang="es-ES_tradnl" sz="2000"/>
              <a:t>Otros lenguajes influenciados por SIMULA 67:</a:t>
            </a:r>
          </a:p>
          <a:p>
            <a:pPr lvl="1"/>
            <a:r>
              <a:rPr lang="en-GB" sz="1600"/>
              <a:t>Smalltalk, Objective C, C++, Eiffel, CLOS</a:t>
            </a:r>
          </a:p>
        </p:txBody>
      </p:sp>
      <p:sp>
        <p:nvSpPr>
          <p:cNvPr id="424962" name="Rectangle 2"/>
          <p:cNvSpPr>
            <a:spLocks noGrp="1" noChangeArrowheads="1"/>
          </p:cNvSpPr>
          <p:nvPr>
            <p:ph type="title"/>
          </p:nvPr>
        </p:nvSpPr>
        <p:spPr/>
        <p:txBody>
          <a:bodyPr>
            <a:normAutofit fontScale="90000"/>
          </a:bodyPr>
          <a:lstStyle/>
          <a:p>
            <a:r>
              <a:rPr lang="es-ES"/>
              <a:t>Historia de la Orientación a Objetos</a:t>
            </a:r>
            <a:endParaRPr lang="en-GB"/>
          </a:p>
        </p:txBody>
      </p:sp>
      <p:pic>
        <p:nvPicPr>
          <p:cNvPr id="424964" name="Picture 4"/>
          <p:cNvPicPr>
            <a:picLocks noChangeAspect="1" noChangeArrowheads="1"/>
          </p:cNvPicPr>
          <p:nvPr/>
        </p:nvPicPr>
        <p:blipFill>
          <a:blip r:embed="rId2" cstate="print"/>
          <a:srcRect/>
          <a:stretch>
            <a:fillRect/>
          </a:stretch>
        </p:blipFill>
        <p:spPr bwMode="auto">
          <a:xfrm>
            <a:off x="7466013" y="3751263"/>
            <a:ext cx="1438275" cy="2381250"/>
          </a:xfrm>
          <a:prstGeom prst="rect">
            <a:avLst/>
          </a:prstGeom>
          <a:noFill/>
          <a:ln w="9525">
            <a:noFill/>
            <a:miter lim="800000"/>
            <a:headEnd/>
            <a:tailEnd/>
          </a:ln>
        </p:spPr>
      </p:pic>
      <p:pic>
        <p:nvPicPr>
          <p:cNvPr id="424965" name="Picture 5"/>
          <p:cNvPicPr>
            <a:picLocks noChangeAspect="1" noChangeArrowheads="1"/>
          </p:cNvPicPr>
          <p:nvPr/>
        </p:nvPicPr>
        <p:blipFill>
          <a:blip r:embed="rId3" cstate="print"/>
          <a:srcRect/>
          <a:stretch>
            <a:fillRect/>
          </a:stretch>
        </p:blipFill>
        <p:spPr bwMode="auto">
          <a:xfrm>
            <a:off x="7443788" y="1403350"/>
            <a:ext cx="1419225" cy="2381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5" name="Rectangle 3"/>
          <p:cNvSpPr>
            <a:spLocks noGrp="1" noChangeArrowheads="1"/>
          </p:cNvSpPr>
          <p:nvPr>
            <p:ph idx="1"/>
          </p:nvPr>
        </p:nvSpPr>
        <p:spPr/>
        <p:txBody>
          <a:bodyPr/>
          <a:lstStyle/>
          <a:p>
            <a:r>
              <a:rPr lang="es-ES_tradnl"/>
              <a:t>La evolución de los lenguajes ha sido…</a:t>
            </a:r>
          </a:p>
          <a:p>
            <a:pPr lvl="1"/>
            <a:r>
              <a:rPr lang="es-ES_tradnl"/>
              <a:t>Programación no estructurada</a:t>
            </a:r>
          </a:p>
          <a:p>
            <a:pPr lvl="1"/>
            <a:r>
              <a:rPr lang="es-ES_tradnl"/>
              <a:t>Programación procedural</a:t>
            </a:r>
          </a:p>
          <a:p>
            <a:pPr lvl="1"/>
            <a:r>
              <a:rPr lang="es-ES_tradnl"/>
              <a:t>Programación modular</a:t>
            </a:r>
          </a:p>
          <a:p>
            <a:pPr lvl="1"/>
            <a:r>
              <a:rPr lang="es-ES_tradnl"/>
              <a:t>Programación orientada a objetos</a:t>
            </a:r>
          </a:p>
        </p:txBody>
      </p:sp>
      <p:sp>
        <p:nvSpPr>
          <p:cNvPr id="438274" name="Rectangle 2"/>
          <p:cNvSpPr>
            <a:spLocks noGrp="1" noChangeArrowheads="1"/>
          </p:cNvSpPr>
          <p:nvPr>
            <p:ph type="title"/>
          </p:nvPr>
        </p:nvSpPr>
        <p:spPr/>
        <p:txBody>
          <a:bodyPr>
            <a:normAutofit/>
          </a:bodyPr>
          <a:lstStyle/>
          <a:p>
            <a:r>
              <a:rPr lang="es-ES_tradnl"/>
              <a:t>En relación a la programación…</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9" name="Rectangle 3"/>
          <p:cNvSpPr>
            <a:spLocks noGrp="1" noChangeArrowheads="1"/>
          </p:cNvSpPr>
          <p:nvPr>
            <p:ph idx="1"/>
          </p:nvPr>
        </p:nvSpPr>
        <p:spPr/>
        <p:txBody>
          <a:bodyPr/>
          <a:lstStyle/>
          <a:p>
            <a:r>
              <a:rPr lang="es-ES_tradnl"/>
              <a:t>Datos son globales y pueden ser accedidos y modificados en cualquier punto de la ejecución de un programa</a:t>
            </a:r>
          </a:p>
          <a:p>
            <a:endParaRPr lang="en-GB"/>
          </a:p>
        </p:txBody>
      </p:sp>
      <p:sp>
        <p:nvSpPr>
          <p:cNvPr id="439298" name="Rectangle 2"/>
          <p:cNvSpPr>
            <a:spLocks noGrp="1" noChangeArrowheads="1"/>
          </p:cNvSpPr>
          <p:nvPr>
            <p:ph type="title"/>
          </p:nvPr>
        </p:nvSpPr>
        <p:spPr/>
        <p:txBody>
          <a:bodyPr/>
          <a:lstStyle/>
          <a:p>
            <a:r>
              <a:rPr lang="es-ES_tradnl"/>
              <a:t>Programación no estructurada</a:t>
            </a:r>
            <a:endParaRPr lang="en-GB"/>
          </a:p>
        </p:txBody>
      </p:sp>
      <p:sp>
        <p:nvSpPr>
          <p:cNvPr id="439300" name="Text Box 4"/>
          <p:cNvSpPr txBox="1">
            <a:spLocks noChangeArrowheads="1"/>
          </p:cNvSpPr>
          <p:nvPr/>
        </p:nvSpPr>
        <p:spPr bwMode="auto">
          <a:xfrm>
            <a:off x="2598738" y="3455988"/>
            <a:ext cx="3889375" cy="863600"/>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b="0">
                <a:solidFill>
                  <a:schemeClr val="tx1"/>
                </a:solidFill>
                <a:latin typeface="Arial" charset="0"/>
              </a:rPr>
              <a:t>Datos</a:t>
            </a:r>
          </a:p>
          <a:p>
            <a:pPr algn="ctr">
              <a:spcBef>
                <a:spcPct val="50000"/>
              </a:spcBef>
            </a:pPr>
            <a:r>
              <a:rPr lang="es-ES_tradnl" b="0">
                <a:solidFill>
                  <a:schemeClr val="tx1"/>
                </a:solidFill>
                <a:latin typeface="Arial" charset="0"/>
              </a:rPr>
              <a:t>Programa</a:t>
            </a:r>
            <a:endParaRPr lang="en-GB" b="0">
              <a:solidFill>
                <a:schemeClr val="tx1"/>
              </a:solidFill>
              <a:latin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3" name="Rectangle 3"/>
          <p:cNvSpPr>
            <a:spLocks noGrp="1" noChangeArrowheads="1"/>
          </p:cNvSpPr>
          <p:nvPr>
            <p:ph idx="1"/>
          </p:nvPr>
        </p:nvSpPr>
        <p:spPr/>
        <p:txBody>
          <a:bodyPr/>
          <a:lstStyle/>
          <a:p>
            <a:r>
              <a:rPr lang="es-ES_tradnl" dirty="0"/>
              <a:t>Programa estructurado con subrutinas, y las subrutinas pueden se llamadas desde cualquier punto del programa</a:t>
            </a:r>
          </a:p>
        </p:txBody>
      </p:sp>
      <p:sp>
        <p:nvSpPr>
          <p:cNvPr id="440322" name="Rectangle 2"/>
          <p:cNvSpPr>
            <a:spLocks noGrp="1" noChangeArrowheads="1"/>
          </p:cNvSpPr>
          <p:nvPr>
            <p:ph type="title"/>
          </p:nvPr>
        </p:nvSpPr>
        <p:spPr/>
        <p:txBody>
          <a:bodyPr/>
          <a:lstStyle/>
          <a:p>
            <a:r>
              <a:rPr lang="es-ES_tradnl"/>
              <a:t>Programación procedural</a:t>
            </a:r>
            <a:endParaRPr lang="en-GB"/>
          </a:p>
        </p:txBody>
      </p:sp>
      <p:grpSp>
        <p:nvGrpSpPr>
          <p:cNvPr id="17" name="Group 16"/>
          <p:cNvGrpSpPr/>
          <p:nvPr/>
        </p:nvGrpSpPr>
        <p:grpSpPr>
          <a:xfrm>
            <a:off x="2819400" y="2895600"/>
            <a:ext cx="4137025" cy="2743201"/>
            <a:chOff x="2819400" y="2895600"/>
            <a:chExt cx="4137025" cy="2743201"/>
          </a:xfrm>
        </p:grpSpPr>
        <p:grpSp>
          <p:nvGrpSpPr>
            <p:cNvPr id="2" name="Group 15"/>
            <p:cNvGrpSpPr>
              <a:grpSpLocks/>
            </p:cNvGrpSpPr>
            <p:nvPr/>
          </p:nvGrpSpPr>
          <p:grpSpPr bwMode="auto">
            <a:xfrm>
              <a:off x="3124200" y="2895600"/>
              <a:ext cx="3451226" cy="2547938"/>
              <a:chOff x="1721" y="2098"/>
              <a:chExt cx="2174" cy="1605"/>
            </a:xfrm>
          </p:grpSpPr>
          <p:grpSp>
            <p:nvGrpSpPr>
              <p:cNvPr id="3" name="Group 14"/>
              <p:cNvGrpSpPr>
                <a:grpSpLocks/>
              </p:cNvGrpSpPr>
              <p:nvPr/>
            </p:nvGrpSpPr>
            <p:grpSpPr bwMode="auto">
              <a:xfrm>
                <a:off x="2084" y="2451"/>
                <a:ext cx="1382" cy="1252"/>
                <a:chOff x="1855" y="1838"/>
                <a:chExt cx="1382" cy="1252"/>
              </a:xfrm>
            </p:grpSpPr>
            <p:sp>
              <p:nvSpPr>
                <p:cNvPr id="440324" name="Line 4"/>
                <p:cNvSpPr>
                  <a:spLocks noChangeShapeType="1"/>
                </p:cNvSpPr>
                <p:nvPr/>
              </p:nvSpPr>
              <p:spPr bwMode="auto">
                <a:xfrm flipH="1">
                  <a:off x="1855" y="1838"/>
                  <a:ext cx="0" cy="238"/>
                </a:xfrm>
                <a:prstGeom prst="line">
                  <a:avLst/>
                </a:prstGeom>
                <a:noFill/>
                <a:ln w="9525">
                  <a:solidFill>
                    <a:schemeClr val="tx1"/>
                  </a:solidFill>
                  <a:round/>
                  <a:headEnd/>
                  <a:tailEnd type="triangle" w="med" len="med"/>
                </a:ln>
                <a:effectLst/>
              </p:spPr>
              <p:txBody>
                <a:bodyPr/>
                <a:lstStyle/>
                <a:p>
                  <a:endParaRPr lang="en-GB"/>
                </a:p>
              </p:txBody>
            </p:sp>
            <p:sp>
              <p:nvSpPr>
                <p:cNvPr id="440325" name="Line 5"/>
                <p:cNvSpPr>
                  <a:spLocks noChangeShapeType="1"/>
                </p:cNvSpPr>
                <p:nvPr/>
              </p:nvSpPr>
              <p:spPr bwMode="auto">
                <a:xfrm>
                  <a:off x="3237" y="1920"/>
                  <a:ext cx="0" cy="421"/>
                </a:xfrm>
                <a:prstGeom prst="line">
                  <a:avLst/>
                </a:prstGeom>
                <a:noFill/>
                <a:ln w="9525">
                  <a:solidFill>
                    <a:schemeClr val="tx1"/>
                  </a:solidFill>
                  <a:round/>
                  <a:headEnd/>
                  <a:tailEnd type="triangle" w="med" len="med"/>
                </a:ln>
                <a:effectLst/>
              </p:spPr>
              <p:txBody>
                <a:bodyPr/>
                <a:lstStyle/>
                <a:p>
                  <a:endParaRPr lang="en-GB"/>
                </a:p>
              </p:txBody>
            </p:sp>
            <p:sp>
              <p:nvSpPr>
                <p:cNvPr id="440326" name="Line 6"/>
                <p:cNvSpPr>
                  <a:spLocks noChangeShapeType="1"/>
                </p:cNvSpPr>
                <p:nvPr/>
              </p:nvSpPr>
              <p:spPr bwMode="auto">
                <a:xfrm>
                  <a:off x="1862" y="2358"/>
                  <a:ext cx="0" cy="247"/>
                </a:xfrm>
                <a:prstGeom prst="line">
                  <a:avLst/>
                </a:prstGeom>
                <a:noFill/>
                <a:ln w="9525">
                  <a:solidFill>
                    <a:schemeClr val="tx1"/>
                  </a:solidFill>
                  <a:round/>
                  <a:headEnd/>
                  <a:tailEnd type="triangle" w="med" len="med"/>
                </a:ln>
                <a:effectLst/>
              </p:spPr>
              <p:txBody>
                <a:bodyPr/>
                <a:lstStyle/>
                <a:p>
                  <a:endParaRPr lang="en-GB"/>
                </a:p>
              </p:txBody>
            </p:sp>
            <p:sp>
              <p:nvSpPr>
                <p:cNvPr id="440327" name="Line 7"/>
                <p:cNvSpPr>
                  <a:spLocks noChangeShapeType="1"/>
                </p:cNvSpPr>
                <p:nvPr/>
              </p:nvSpPr>
              <p:spPr bwMode="auto">
                <a:xfrm>
                  <a:off x="1864" y="2843"/>
                  <a:ext cx="0" cy="247"/>
                </a:xfrm>
                <a:prstGeom prst="line">
                  <a:avLst/>
                </a:prstGeom>
                <a:noFill/>
                <a:ln w="9525">
                  <a:solidFill>
                    <a:schemeClr val="tx1"/>
                  </a:solidFill>
                  <a:round/>
                  <a:headEnd/>
                  <a:tailEnd type="triangle" w="med" len="med"/>
                </a:ln>
                <a:effectLst/>
              </p:spPr>
              <p:txBody>
                <a:bodyPr/>
                <a:lstStyle/>
                <a:p>
                  <a:endParaRPr lang="en-GB"/>
                </a:p>
              </p:txBody>
            </p:sp>
            <p:sp>
              <p:nvSpPr>
                <p:cNvPr id="440328" name="Line 8"/>
                <p:cNvSpPr>
                  <a:spLocks noChangeShapeType="1"/>
                </p:cNvSpPr>
                <p:nvPr/>
              </p:nvSpPr>
              <p:spPr bwMode="auto">
                <a:xfrm flipV="1">
                  <a:off x="1856" y="1902"/>
                  <a:ext cx="1326" cy="320"/>
                </a:xfrm>
                <a:prstGeom prst="line">
                  <a:avLst/>
                </a:prstGeom>
                <a:noFill/>
                <a:ln w="9525" cap="rnd">
                  <a:solidFill>
                    <a:schemeClr val="tx1"/>
                  </a:solidFill>
                  <a:prstDash val="sysDot"/>
                  <a:round/>
                  <a:headEnd/>
                  <a:tailEnd type="triangle" w="med" len="med"/>
                </a:ln>
                <a:effectLst/>
              </p:spPr>
              <p:txBody>
                <a:bodyPr/>
                <a:lstStyle/>
                <a:p>
                  <a:endParaRPr lang="en-GB"/>
                </a:p>
              </p:txBody>
            </p:sp>
            <p:sp>
              <p:nvSpPr>
                <p:cNvPr id="440329" name="Line 9"/>
                <p:cNvSpPr>
                  <a:spLocks noChangeShapeType="1"/>
                </p:cNvSpPr>
                <p:nvPr/>
              </p:nvSpPr>
              <p:spPr bwMode="auto">
                <a:xfrm flipH="1" flipV="1">
                  <a:off x="1856" y="2286"/>
                  <a:ext cx="1381" cy="109"/>
                </a:xfrm>
                <a:prstGeom prst="line">
                  <a:avLst/>
                </a:prstGeom>
                <a:noFill/>
                <a:ln w="9525" cap="rnd">
                  <a:solidFill>
                    <a:schemeClr val="tx1"/>
                  </a:solidFill>
                  <a:prstDash val="sysDot"/>
                  <a:round/>
                  <a:headEnd/>
                  <a:tailEnd type="triangle" w="med" len="med"/>
                </a:ln>
                <a:effectLst/>
              </p:spPr>
              <p:txBody>
                <a:bodyPr/>
                <a:lstStyle/>
                <a:p>
                  <a:endParaRPr lang="en-GB"/>
                </a:p>
              </p:txBody>
            </p:sp>
            <p:sp>
              <p:nvSpPr>
                <p:cNvPr id="440330" name="Line 10"/>
                <p:cNvSpPr>
                  <a:spLocks noChangeShapeType="1"/>
                </p:cNvSpPr>
                <p:nvPr/>
              </p:nvSpPr>
              <p:spPr bwMode="auto">
                <a:xfrm flipV="1">
                  <a:off x="1856" y="1984"/>
                  <a:ext cx="1271" cy="695"/>
                </a:xfrm>
                <a:prstGeom prst="line">
                  <a:avLst/>
                </a:prstGeom>
                <a:noFill/>
                <a:ln w="9525">
                  <a:solidFill>
                    <a:schemeClr val="tx1"/>
                  </a:solidFill>
                  <a:prstDash val="dash"/>
                  <a:round/>
                  <a:headEnd/>
                  <a:tailEnd type="triangle" w="med" len="med"/>
                </a:ln>
                <a:effectLst/>
              </p:spPr>
              <p:txBody>
                <a:bodyPr/>
                <a:lstStyle/>
                <a:p>
                  <a:endParaRPr lang="en-GB"/>
                </a:p>
              </p:txBody>
            </p:sp>
            <p:sp>
              <p:nvSpPr>
                <p:cNvPr id="440331" name="Line 11"/>
                <p:cNvSpPr>
                  <a:spLocks noChangeShapeType="1"/>
                </p:cNvSpPr>
                <p:nvPr/>
              </p:nvSpPr>
              <p:spPr bwMode="auto">
                <a:xfrm flipH="1">
                  <a:off x="1893" y="2459"/>
                  <a:ext cx="1325" cy="302"/>
                </a:xfrm>
                <a:prstGeom prst="line">
                  <a:avLst/>
                </a:prstGeom>
                <a:noFill/>
                <a:ln w="9525">
                  <a:solidFill>
                    <a:schemeClr val="tx1"/>
                  </a:solidFill>
                  <a:prstDash val="dash"/>
                  <a:round/>
                  <a:headEnd/>
                  <a:tailEnd type="triangle" w="med" len="med"/>
                </a:ln>
                <a:effectLst/>
              </p:spPr>
              <p:txBody>
                <a:bodyPr/>
                <a:lstStyle/>
                <a:p>
                  <a:endParaRPr lang="en-GB"/>
                </a:p>
              </p:txBody>
            </p:sp>
          </p:grpSp>
          <p:sp>
            <p:nvSpPr>
              <p:cNvPr id="440332" name="Text Box 12"/>
              <p:cNvSpPr txBox="1">
                <a:spLocks noChangeArrowheads="1"/>
              </p:cNvSpPr>
              <p:nvPr/>
            </p:nvSpPr>
            <p:spPr bwMode="auto">
              <a:xfrm>
                <a:off x="1721" y="2098"/>
                <a:ext cx="823" cy="404"/>
              </a:xfrm>
              <a:prstGeom prst="rect">
                <a:avLst/>
              </a:prstGeom>
              <a:noFill/>
              <a:ln w="9525">
                <a:noFill/>
                <a:miter lim="800000"/>
                <a:headEnd/>
                <a:tailEnd/>
              </a:ln>
              <a:effectLst/>
            </p:spPr>
            <p:txBody>
              <a:bodyPr>
                <a:spAutoFit/>
              </a:bodyPr>
              <a:lstStyle/>
              <a:p>
                <a:pPr>
                  <a:spcBef>
                    <a:spcPct val="50000"/>
                  </a:spcBef>
                </a:pPr>
                <a:r>
                  <a:rPr lang="es-ES_tradnl" sz="1800" b="0" dirty="0">
                    <a:solidFill>
                      <a:schemeClr val="tx1"/>
                    </a:solidFill>
                    <a:latin typeface="Arial" charset="0"/>
                  </a:rPr>
                  <a:t>Programa Principal</a:t>
                </a:r>
                <a:endParaRPr lang="en-GB" sz="1800" b="0" dirty="0">
                  <a:solidFill>
                    <a:schemeClr val="tx1"/>
                  </a:solidFill>
                  <a:latin typeface="Arial" charset="0"/>
                </a:endParaRPr>
              </a:p>
            </p:txBody>
          </p:sp>
          <p:sp>
            <p:nvSpPr>
              <p:cNvPr id="440333" name="Text Box 13"/>
              <p:cNvSpPr txBox="1">
                <a:spLocks noChangeArrowheads="1"/>
              </p:cNvSpPr>
              <p:nvPr/>
            </p:nvSpPr>
            <p:spPr bwMode="auto">
              <a:xfrm>
                <a:off x="2825" y="2242"/>
                <a:ext cx="1070" cy="231"/>
              </a:xfrm>
              <a:prstGeom prst="rect">
                <a:avLst/>
              </a:prstGeom>
              <a:noFill/>
              <a:ln w="9525">
                <a:noFill/>
                <a:miter lim="800000"/>
                <a:headEnd/>
                <a:tailEnd/>
              </a:ln>
              <a:effectLst/>
            </p:spPr>
            <p:txBody>
              <a:bodyPr>
                <a:spAutoFit/>
              </a:bodyPr>
              <a:lstStyle/>
              <a:p>
                <a:pPr>
                  <a:spcBef>
                    <a:spcPct val="50000"/>
                  </a:spcBef>
                </a:pPr>
                <a:r>
                  <a:rPr lang="es-ES_tradnl" sz="1800" b="0" dirty="0">
                    <a:solidFill>
                      <a:schemeClr val="tx1"/>
                    </a:solidFill>
                    <a:latin typeface="Arial" charset="0"/>
                  </a:rPr>
                  <a:t>Procedimiento</a:t>
                </a:r>
                <a:endParaRPr lang="en-GB" sz="1800" b="0" dirty="0">
                  <a:solidFill>
                    <a:schemeClr val="tx1"/>
                  </a:solidFill>
                  <a:latin typeface="Arial" charset="0"/>
                </a:endParaRPr>
              </a:p>
            </p:txBody>
          </p:sp>
        </p:grpSp>
        <p:sp>
          <p:nvSpPr>
            <p:cNvPr id="440336" name="Rectangle 16"/>
            <p:cNvSpPr>
              <a:spLocks noChangeArrowheads="1"/>
            </p:cNvSpPr>
            <p:nvPr/>
          </p:nvSpPr>
          <p:spPr bwMode="auto">
            <a:xfrm>
              <a:off x="2819400" y="2895601"/>
              <a:ext cx="4137025" cy="2743200"/>
            </a:xfrm>
            <a:prstGeom prst="rect">
              <a:avLst/>
            </a:prstGeom>
            <a:noFill/>
            <a:ln w="9525">
              <a:solidFill>
                <a:schemeClr val="tx1"/>
              </a:solidFill>
              <a:miter lim="800000"/>
              <a:headEnd/>
              <a:tailEnd/>
            </a:ln>
            <a:effectLst/>
          </p:spPr>
          <p:txBody>
            <a:bodyPr wrap="none" anchor="ctr"/>
            <a:lstStyle/>
            <a:p>
              <a:endParaRPr lang="en-GB"/>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7" name="Rectangle 3"/>
          <p:cNvSpPr>
            <a:spLocks noGrp="1" noChangeArrowheads="1"/>
          </p:cNvSpPr>
          <p:nvPr>
            <p:ph idx="1"/>
          </p:nvPr>
        </p:nvSpPr>
        <p:spPr/>
        <p:txBody>
          <a:bodyPr/>
          <a:lstStyle/>
          <a:p>
            <a:r>
              <a:rPr lang="es-ES_tradnl" dirty="0"/>
              <a:t>Procedimientos con funcionalidad común están agrupados</a:t>
            </a:r>
          </a:p>
          <a:p>
            <a:r>
              <a:rPr lang="es-ES_tradnl" dirty="0"/>
              <a:t>Cada módulo tiene su propio estado interno donde la interacción ocurre entre el programa principal y módulos a través de las llamadas a procedimientos</a:t>
            </a:r>
          </a:p>
        </p:txBody>
      </p:sp>
      <p:sp>
        <p:nvSpPr>
          <p:cNvPr id="441346" name="Rectangle 2"/>
          <p:cNvSpPr>
            <a:spLocks noGrp="1" noChangeArrowheads="1"/>
          </p:cNvSpPr>
          <p:nvPr>
            <p:ph type="title"/>
          </p:nvPr>
        </p:nvSpPr>
        <p:spPr/>
        <p:txBody>
          <a:bodyPr/>
          <a:lstStyle/>
          <a:p>
            <a:r>
              <a:rPr lang="es-ES_tradnl"/>
              <a:t>Programación modular</a:t>
            </a:r>
            <a:endParaRPr lang="en-GB"/>
          </a:p>
        </p:txBody>
      </p:sp>
      <p:grpSp>
        <p:nvGrpSpPr>
          <p:cNvPr id="2" name="Group 22"/>
          <p:cNvGrpSpPr>
            <a:grpSpLocks/>
          </p:cNvGrpSpPr>
          <p:nvPr/>
        </p:nvGrpSpPr>
        <p:grpSpPr bwMode="auto">
          <a:xfrm>
            <a:off x="1371600" y="4038600"/>
            <a:ext cx="6253162" cy="2005012"/>
            <a:chOff x="861" y="2381"/>
            <a:chExt cx="3939" cy="1263"/>
          </a:xfrm>
        </p:grpSpPr>
        <p:sp>
          <p:nvSpPr>
            <p:cNvPr id="441358" name="Text Box 14"/>
            <p:cNvSpPr txBox="1">
              <a:spLocks noChangeArrowheads="1"/>
            </p:cNvSpPr>
            <p:nvPr/>
          </p:nvSpPr>
          <p:spPr bwMode="auto">
            <a:xfrm>
              <a:off x="1919" y="2381"/>
              <a:ext cx="2021" cy="218"/>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sz="1600" b="0">
                  <a:solidFill>
                    <a:schemeClr val="tx1"/>
                  </a:solidFill>
                  <a:latin typeface="Arial" charset="0"/>
                </a:rPr>
                <a:t>Programa Principal: datos0</a:t>
              </a:r>
              <a:endParaRPr lang="en-GB" sz="1600" b="0">
                <a:solidFill>
                  <a:schemeClr val="tx1"/>
                </a:solidFill>
                <a:latin typeface="Arial" charset="0"/>
              </a:endParaRPr>
            </a:p>
          </p:txBody>
        </p:sp>
        <p:sp>
          <p:nvSpPr>
            <p:cNvPr id="441359" name="Text Box 15"/>
            <p:cNvSpPr txBox="1">
              <a:spLocks noChangeArrowheads="1"/>
            </p:cNvSpPr>
            <p:nvPr/>
          </p:nvSpPr>
          <p:spPr bwMode="auto">
            <a:xfrm>
              <a:off x="861" y="2947"/>
              <a:ext cx="1855" cy="680"/>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sz="1600" b="0">
                  <a:solidFill>
                    <a:schemeClr val="tx1"/>
                  </a:solidFill>
                  <a:latin typeface="Arial" charset="0"/>
                </a:rPr>
                <a:t>Modulo 1: datos0+datos1</a:t>
              </a:r>
            </a:p>
            <a:p>
              <a:pPr algn="ctr">
                <a:spcBef>
                  <a:spcPct val="50000"/>
                </a:spcBef>
              </a:pPr>
              <a:endParaRPr lang="es-ES_tradnl" sz="1600" b="0">
                <a:solidFill>
                  <a:schemeClr val="tx1"/>
                </a:solidFill>
                <a:latin typeface="Arial" charset="0"/>
              </a:endParaRPr>
            </a:p>
            <a:p>
              <a:pPr algn="ctr">
                <a:spcBef>
                  <a:spcPct val="50000"/>
                </a:spcBef>
              </a:pPr>
              <a:r>
                <a:rPr lang="es-ES_tradnl" sz="1600" b="0">
                  <a:solidFill>
                    <a:schemeClr val="tx1"/>
                  </a:solidFill>
                  <a:latin typeface="Arial" charset="0"/>
                </a:rPr>
                <a:t>Procedimiento1</a:t>
              </a:r>
              <a:endParaRPr lang="en-GB" sz="1600" b="0">
                <a:solidFill>
                  <a:schemeClr val="tx1"/>
                </a:solidFill>
                <a:latin typeface="Arial" charset="0"/>
              </a:endParaRPr>
            </a:p>
          </p:txBody>
        </p:sp>
        <p:sp>
          <p:nvSpPr>
            <p:cNvPr id="441361" name="Line 17"/>
            <p:cNvSpPr>
              <a:spLocks noChangeShapeType="1"/>
            </p:cNvSpPr>
            <p:nvPr/>
          </p:nvSpPr>
          <p:spPr bwMode="auto">
            <a:xfrm>
              <a:off x="1701" y="3182"/>
              <a:ext cx="0" cy="201"/>
            </a:xfrm>
            <a:prstGeom prst="line">
              <a:avLst/>
            </a:prstGeom>
            <a:noFill/>
            <a:ln w="9525">
              <a:solidFill>
                <a:schemeClr val="tx1"/>
              </a:solidFill>
              <a:round/>
              <a:headEnd type="triangle" w="med" len="med"/>
              <a:tailEnd type="triangle" w="med" len="med"/>
            </a:ln>
            <a:effectLst/>
          </p:spPr>
          <p:txBody>
            <a:bodyPr/>
            <a:lstStyle/>
            <a:p>
              <a:endParaRPr lang="en-GB"/>
            </a:p>
          </p:txBody>
        </p:sp>
        <p:sp>
          <p:nvSpPr>
            <p:cNvPr id="441362" name="Text Box 18"/>
            <p:cNvSpPr txBox="1">
              <a:spLocks noChangeArrowheads="1"/>
            </p:cNvSpPr>
            <p:nvPr/>
          </p:nvSpPr>
          <p:spPr bwMode="auto">
            <a:xfrm>
              <a:off x="2945" y="2964"/>
              <a:ext cx="1855" cy="680"/>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sz="1600" b="0">
                  <a:solidFill>
                    <a:schemeClr val="tx1"/>
                  </a:solidFill>
                  <a:latin typeface="Arial" charset="0"/>
                </a:rPr>
                <a:t>Modulo 2: datos0+datos2</a:t>
              </a:r>
            </a:p>
            <a:p>
              <a:pPr algn="ctr">
                <a:spcBef>
                  <a:spcPct val="50000"/>
                </a:spcBef>
              </a:pPr>
              <a:endParaRPr lang="es-ES_tradnl" sz="1600" b="0">
                <a:solidFill>
                  <a:schemeClr val="tx1"/>
                </a:solidFill>
                <a:latin typeface="Arial" charset="0"/>
              </a:endParaRPr>
            </a:p>
            <a:p>
              <a:pPr algn="ctr">
                <a:spcBef>
                  <a:spcPct val="50000"/>
                </a:spcBef>
              </a:pPr>
              <a:r>
                <a:rPr lang="es-ES_tradnl" sz="1600" b="0">
                  <a:solidFill>
                    <a:schemeClr val="tx1"/>
                  </a:solidFill>
                  <a:latin typeface="Arial" charset="0"/>
                </a:rPr>
                <a:t>Procedimiento2</a:t>
              </a:r>
              <a:endParaRPr lang="en-GB" sz="1600" b="0">
                <a:solidFill>
                  <a:schemeClr val="tx1"/>
                </a:solidFill>
                <a:latin typeface="Arial" charset="0"/>
              </a:endParaRPr>
            </a:p>
          </p:txBody>
        </p:sp>
        <p:sp>
          <p:nvSpPr>
            <p:cNvPr id="441363" name="Line 19"/>
            <p:cNvSpPr>
              <a:spLocks noChangeShapeType="1"/>
            </p:cNvSpPr>
            <p:nvPr/>
          </p:nvSpPr>
          <p:spPr bwMode="auto">
            <a:xfrm>
              <a:off x="3803" y="3199"/>
              <a:ext cx="0" cy="201"/>
            </a:xfrm>
            <a:prstGeom prst="line">
              <a:avLst/>
            </a:prstGeom>
            <a:noFill/>
            <a:ln w="9525">
              <a:solidFill>
                <a:schemeClr val="tx1"/>
              </a:solidFill>
              <a:round/>
              <a:headEnd type="triangle" w="med" len="med"/>
              <a:tailEnd type="triangle" w="med" len="med"/>
            </a:ln>
            <a:effectLst/>
          </p:spPr>
          <p:txBody>
            <a:bodyPr/>
            <a:lstStyle/>
            <a:p>
              <a:endParaRPr lang="en-GB"/>
            </a:p>
          </p:txBody>
        </p:sp>
        <p:sp>
          <p:nvSpPr>
            <p:cNvPr id="441364" name="Line 20"/>
            <p:cNvSpPr>
              <a:spLocks noChangeShapeType="1"/>
            </p:cNvSpPr>
            <p:nvPr/>
          </p:nvSpPr>
          <p:spPr bwMode="auto">
            <a:xfrm flipH="1">
              <a:off x="2213" y="2679"/>
              <a:ext cx="192" cy="183"/>
            </a:xfrm>
            <a:prstGeom prst="line">
              <a:avLst/>
            </a:prstGeom>
            <a:noFill/>
            <a:ln w="9525">
              <a:solidFill>
                <a:schemeClr val="tx1"/>
              </a:solidFill>
              <a:round/>
              <a:headEnd type="triangle" w="med" len="med"/>
              <a:tailEnd type="triangle" w="med" len="med"/>
            </a:ln>
            <a:effectLst/>
          </p:spPr>
          <p:txBody>
            <a:bodyPr/>
            <a:lstStyle/>
            <a:p>
              <a:endParaRPr lang="en-GB"/>
            </a:p>
          </p:txBody>
        </p:sp>
        <p:sp>
          <p:nvSpPr>
            <p:cNvPr id="441365" name="Line 21"/>
            <p:cNvSpPr>
              <a:spLocks noChangeShapeType="1"/>
            </p:cNvSpPr>
            <p:nvPr/>
          </p:nvSpPr>
          <p:spPr bwMode="auto">
            <a:xfrm>
              <a:off x="3364" y="2696"/>
              <a:ext cx="192" cy="219"/>
            </a:xfrm>
            <a:prstGeom prst="line">
              <a:avLst/>
            </a:prstGeom>
            <a:noFill/>
            <a:ln w="9525">
              <a:solidFill>
                <a:schemeClr val="tx1"/>
              </a:solidFill>
              <a:round/>
              <a:headEnd type="triangle" w="med" len="med"/>
              <a:tailEnd type="triangle" w="med" len="med"/>
            </a:ln>
            <a:effectLst/>
          </p:spPr>
          <p:txBody>
            <a:bodyPr/>
            <a:lstStyle/>
            <a:p>
              <a:endParaRPr lang="en-GB"/>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7" name="Rectangle 3"/>
          <p:cNvSpPr>
            <a:spLocks noGrp="1" noChangeArrowheads="1"/>
          </p:cNvSpPr>
          <p:nvPr>
            <p:ph idx="1"/>
          </p:nvPr>
        </p:nvSpPr>
        <p:spPr/>
        <p:txBody>
          <a:bodyPr>
            <a:normAutofit fontScale="92500" lnSpcReduction="10000"/>
          </a:bodyPr>
          <a:lstStyle/>
          <a:p>
            <a:r>
              <a:rPr lang="es-ES"/>
              <a:t>Algunos de los problemas de la programación son:</a:t>
            </a:r>
          </a:p>
          <a:p>
            <a:endParaRPr lang="es-ES"/>
          </a:p>
          <a:p>
            <a:pPr lvl="1"/>
            <a:r>
              <a:rPr lang="es-ES"/>
              <a:t>Problemas al modelar aplicaciones con datos no estructurados, ya que presuponen la modificación de entradas bien definidas en salidas igualmente estructuradas.</a:t>
            </a:r>
          </a:p>
          <a:p>
            <a:pPr lvl="1"/>
            <a:r>
              <a:rPr lang="es-ES"/>
              <a:t>Difícil reutilización de código, al manipular datos muy dependientes del dominio</a:t>
            </a:r>
          </a:p>
          <a:p>
            <a:pPr lvl="1"/>
            <a:r>
              <a:rPr lang="es-ES"/>
              <a:t>Difícil mantenimiento, por el mismo motivo que el anterior</a:t>
            </a:r>
          </a:p>
          <a:p>
            <a:pPr lvl="1"/>
            <a:r>
              <a:rPr lang="es-ES"/>
              <a:t>Reducción de criterios como eficiencia, flexibilidad robustez, etc. con el mantenimiento</a:t>
            </a:r>
            <a:endParaRPr lang="en-GB"/>
          </a:p>
        </p:txBody>
      </p:sp>
      <p:sp>
        <p:nvSpPr>
          <p:cNvPr id="318466" name="Rectangle 2"/>
          <p:cNvSpPr>
            <a:spLocks noGrp="1" noChangeArrowheads="1"/>
          </p:cNvSpPr>
          <p:nvPr>
            <p:ph type="title"/>
          </p:nvPr>
        </p:nvSpPr>
        <p:spPr>
          <a:xfrm>
            <a:off x="852488" y="165100"/>
            <a:ext cx="8062912" cy="1143000"/>
          </a:xfrm>
        </p:spPr>
        <p:txBody>
          <a:bodyPr>
            <a:normAutofit fontScale="90000"/>
          </a:bodyPr>
          <a:lstStyle/>
          <a:p>
            <a:r>
              <a:rPr lang="es-ES"/>
              <a:t>Problemas con la programación modular</a:t>
            </a:r>
            <a:endParaRPr 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1" name="Rectangle 3"/>
          <p:cNvSpPr>
            <a:spLocks noGrp="1" noChangeArrowheads="1"/>
          </p:cNvSpPr>
          <p:nvPr>
            <p:ph idx="1"/>
          </p:nvPr>
        </p:nvSpPr>
        <p:spPr/>
        <p:txBody>
          <a:bodyPr/>
          <a:lstStyle/>
          <a:p>
            <a:r>
              <a:rPr lang="es-ES_tradnl"/>
              <a:t>Grafo de objetos cada uno con su propio estado</a:t>
            </a:r>
          </a:p>
          <a:p>
            <a:pPr lvl="1"/>
            <a:r>
              <a:rPr lang="es-ES_tradnl"/>
              <a:t>Un objeto es cualquier entidad que pueda ser modelada.</a:t>
            </a:r>
          </a:p>
          <a:p>
            <a:pPr lvl="2"/>
            <a:r>
              <a:rPr lang="es-ES_tradnl"/>
              <a:t>Se definirá en detalle más adelante.</a:t>
            </a:r>
          </a:p>
          <a:p>
            <a:r>
              <a:rPr lang="es-ES_tradnl"/>
              <a:t>Los objetos interactúan entre ellos mediante envío de mensajes</a:t>
            </a:r>
          </a:p>
          <a:p>
            <a:endParaRPr lang="en-GB"/>
          </a:p>
          <a:p>
            <a:endParaRPr lang="en-GB"/>
          </a:p>
          <a:p>
            <a:endParaRPr lang="en-GB"/>
          </a:p>
        </p:txBody>
      </p:sp>
      <p:sp>
        <p:nvSpPr>
          <p:cNvPr id="442370" name="Rectangle 2"/>
          <p:cNvSpPr>
            <a:spLocks noGrp="1" noChangeArrowheads="1"/>
          </p:cNvSpPr>
          <p:nvPr>
            <p:ph type="title"/>
          </p:nvPr>
        </p:nvSpPr>
        <p:spPr/>
        <p:txBody>
          <a:bodyPr>
            <a:normAutofit fontScale="90000"/>
          </a:bodyPr>
          <a:lstStyle/>
          <a:p>
            <a:r>
              <a:rPr lang="es-ES_tradnl"/>
              <a:t>Programación orientada a objetos</a:t>
            </a:r>
            <a:endParaRPr lang="en-GB"/>
          </a:p>
        </p:txBody>
      </p:sp>
      <p:grpSp>
        <p:nvGrpSpPr>
          <p:cNvPr id="2" name="Group 15"/>
          <p:cNvGrpSpPr>
            <a:grpSpLocks/>
          </p:cNvGrpSpPr>
          <p:nvPr/>
        </p:nvGrpSpPr>
        <p:grpSpPr bwMode="auto">
          <a:xfrm>
            <a:off x="3810000" y="4038600"/>
            <a:ext cx="3943350" cy="2424113"/>
            <a:chOff x="934" y="1987"/>
            <a:chExt cx="2484" cy="1527"/>
          </a:xfrm>
        </p:grpSpPr>
        <p:sp>
          <p:nvSpPr>
            <p:cNvPr id="442374" name="Text Box 6"/>
            <p:cNvSpPr txBox="1">
              <a:spLocks noChangeArrowheads="1"/>
            </p:cNvSpPr>
            <p:nvPr/>
          </p:nvSpPr>
          <p:spPr bwMode="auto">
            <a:xfrm>
              <a:off x="934" y="2481"/>
              <a:ext cx="867" cy="449"/>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sz="1600" b="0">
                  <a:solidFill>
                    <a:schemeClr val="tx1"/>
                  </a:solidFill>
                  <a:latin typeface="Arial" charset="0"/>
                </a:rPr>
                <a:t>Objeto 2</a:t>
              </a:r>
            </a:p>
            <a:p>
              <a:pPr algn="ctr">
                <a:spcBef>
                  <a:spcPct val="50000"/>
                </a:spcBef>
              </a:pPr>
              <a:r>
                <a:rPr lang="es-ES_tradnl" sz="1600" b="0">
                  <a:solidFill>
                    <a:schemeClr val="tx1"/>
                  </a:solidFill>
                  <a:latin typeface="Arial" charset="0"/>
                </a:rPr>
                <a:t>datos</a:t>
              </a:r>
              <a:endParaRPr lang="en-GB" sz="1600" b="0">
                <a:solidFill>
                  <a:schemeClr val="tx1"/>
                </a:solidFill>
                <a:latin typeface="Arial" charset="0"/>
              </a:endParaRPr>
            </a:p>
          </p:txBody>
        </p:sp>
        <p:sp>
          <p:nvSpPr>
            <p:cNvPr id="442375" name="Line 7"/>
            <p:cNvSpPr>
              <a:spLocks noChangeShapeType="1"/>
            </p:cNvSpPr>
            <p:nvPr/>
          </p:nvSpPr>
          <p:spPr bwMode="auto">
            <a:xfrm>
              <a:off x="1454" y="3054"/>
              <a:ext cx="658" cy="201"/>
            </a:xfrm>
            <a:prstGeom prst="line">
              <a:avLst/>
            </a:prstGeom>
            <a:noFill/>
            <a:ln w="9525">
              <a:solidFill>
                <a:schemeClr val="tx1"/>
              </a:solidFill>
              <a:round/>
              <a:headEnd type="triangle" w="med" len="med"/>
              <a:tailEnd type="triangle" w="med" len="med"/>
            </a:ln>
            <a:effectLst/>
          </p:spPr>
          <p:txBody>
            <a:bodyPr/>
            <a:lstStyle/>
            <a:p>
              <a:endParaRPr lang="en-GB"/>
            </a:p>
          </p:txBody>
        </p:sp>
        <p:sp>
          <p:nvSpPr>
            <p:cNvPr id="442377" name="Line 9"/>
            <p:cNvSpPr>
              <a:spLocks noChangeShapeType="1"/>
            </p:cNvSpPr>
            <p:nvPr/>
          </p:nvSpPr>
          <p:spPr bwMode="auto">
            <a:xfrm flipH="1">
              <a:off x="2760" y="2577"/>
              <a:ext cx="146" cy="365"/>
            </a:xfrm>
            <a:prstGeom prst="line">
              <a:avLst/>
            </a:prstGeom>
            <a:noFill/>
            <a:ln w="9525">
              <a:solidFill>
                <a:schemeClr val="tx1"/>
              </a:solidFill>
              <a:round/>
              <a:headEnd type="triangle" w="med" len="med"/>
              <a:tailEnd type="triangle" w="med" len="med"/>
            </a:ln>
            <a:effectLst/>
          </p:spPr>
          <p:txBody>
            <a:bodyPr/>
            <a:lstStyle/>
            <a:p>
              <a:endParaRPr lang="en-GB"/>
            </a:p>
          </p:txBody>
        </p:sp>
        <p:sp>
          <p:nvSpPr>
            <p:cNvPr id="442380" name="Text Box 12"/>
            <p:cNvSpPr txBox="1">
              <a:spLocks noChangeArrowheads="1"/>
            </p:cNvSpPr>
            <p:nvPr/>
          </p:nvSpPr>
          <p:spPr bwMode="auto">
            <a:xfrm>
              <a:off x="2551" y="1987"/>
              <a:ext cx="867" cy="449"/>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sz="1600" b="0">
                  <a:solidFill>
                    <a:schemeClr val="tx1"/>
                  </a:solidFill>
                  <a:latin typeface="Arial" charset="0"/>
                </a:rPr>
                <a:t>Objeto 1</a:t>
              </a:r>
            </a:p>
            <a:p>
              <a:pPr algn="ctr">
                <a:spcBef>
                  <a:spcPct val="50000"/>
                </a:spcBef>
              </a:pPr>
              <a:r>
                <a:rPr lang="es-ES_tradnl" sz="1600" b="0">
                  <a:solidFill>
                    <a:schemeClr val="tx1"/>
                  </a:solidFill>
                  <a:latin typeface="Arial" charset="0"/>
                </a:rPr>
                <a:t>datos</a:t>
              </a:r>
              <a:endParaRPr lang="en-GB" sz="1600" b="0">
                <a:solidFill>
                  <a:schemeClr val="tx1"/>
                </a:solidFill>
                <a:latin typeface="Arial" charset="0"/>
              </a:endParaRPr>
            </a:p>
          </p:txBody>
        </p:sp>
        <p:sp>
          <p:nvSpPr>
            <p:cNvPr id="442381" name="Text Box 13"/>
            <p:cNvSpPr txBox="1">
              <a:spLocks noChangeArrowheads="1"/>
            </p:cNvSpPr>
            <p:nvPr/>
          </p:nvSpPr>
          <p:spPr bwMode="auto">
            <a:xfrm>
              <a:off x="2277" y="3065"/>
              <a:ext cx="867" cy="449"/>
            </a:xfrm>
            <a:prstGeom prst="rect">
              <a:avLst/>
            </a:prstGeom>
            <a:noFill/>
            <a:ln w="9525">
              <a:solidFill>
                <a:schemeClr val="tx1"/>
              </a:solidFill>
              <a:miter lim="800000"/>
              <a:headEnd/>
              <a:tailEnd/>
            </a:ln>
            <a:effectLst/>
          </p:spPr>
          <p:txBody>
            <a:bodyPr>
              <a:spAutoFit/>
            </a:bodyPr>
            <a:lstStyle/>
            <a:p>
              <a:pPr algn="ctr">
                <a:spcBef>
                  <a:spcPct val="50000"/>
                </a:spcBef>
              </a:pPr>
              <a:r>
                <a:rPr lang="es-ES_tradnl" sz="1600" b="0">
                  <a:solidFill>
                    <a:schemeClr val="tx1"/>
                  </a:solidFill>
                  <a:latin typeface="Arial" charset="0"/>
                </a:rPr>
                <a:t>Objeto 3</a:t>
              </a:r>
            </a:p>
            <a:p>
              <a:pPr algn="ctr">
                <a:spcBef>
                  <a:spcPct val="50000"/>
                </a:spcBef>
              </a:pPr>
              <a:r>
                <a:rPr lang="es-ES_tradnl" sz="1600" b="0">
                  <a:solidFill>
                    <a:schemeClr val="tx1"/>
                  </a:solidFill>
                  <a:latin typeface="Arial" charset="0"/>
                </a:rPr>
                <a:t>datos</a:t>
              </a:r>
              <a:endParaRPr lang="en-GB" sz="1600" b="0">
                <a:solidFill>
                  <a:schemeClr val="tx1"/>
                </a:solidFill>
                <a:latin typeface="Arial" charset="0"/>
              </a:endParaRPr>
            </a:p>
          </p:txBody>
        </p:sp>
        <p:sp>
          <p:nvSpPr>
            <p:cNvPr id="442382" name="Line 14"/>
            <p:cNvSpPr>
              <a:spLocks noChangeShapeType="1"/>
            </p:cNvSpPr>
            <p:nvPr/>
          </p:nvSpPr>
          <p:spPr bwMode="auto">
            <a:xfrm flipV="1">
              <a:off x="1516" y="2193"/>
              <a:ext cx="878" cy="192"/>
            </a:xfrm>
            <a:prstGeom prst="line">
              <a:avLst/>
            </a:prstGeom>
            <a:noFill/>
            <a:ln w="9525">
              <a:solidFill>
                <a:schemeClr val="tx1"/>
              </a:solidFill>
              <a:round/>
              <a:headEnd type="triangle" w="med" len="med"/>
              <a:tailEnd type="triangle" w="med" len="med"/>
            </a:ln>
            <a:effectLst/>
          </p:spPr>
          <p:txBody>
            <a:bodyPr/>
            <a:lstStyle/>
            <a:p>
              <a:endParaRPr lang="en-GB"/>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p:cNvSpPr>
            <a:spLocks noGrp="1" noChangeArrowheads="1"/>
          </p:cNvSpPr>
          <p:nvPr>
            <p:ph idx="1"/>
          </p:nvPr>
        </p:nvSpPr>
        <p:spPr/>
        <p:txBody>
          <a:bodyPr>
            <a:normAutofit fontScale="92500" lnSpcReduction="10000"/>
          </a:bodyPr>
          <a:lstStyle/>
          <a:p>
            <a:r>
              <a:rPr lang="es-ES_tradnl"/>
              <a:t>Los conceptos de objeto son básicos para la mayoría de productos de software actuales</a:t>
            </a:r>
          </a:p>
          <a:p>
            <a:pPr lvl="1"/>
            <a:r>
              <a:rPr lang="es-ES_tradnl"/>
              <a:t>Entornos gráficos (GUI) y de interacción con el ordenador, componentes, frameworks, etc</a:t>
            </a:r>
          </a:p>
          <a:p>
            <a:r>
              <a:rPr lang="es-ES_tradnl"/>
              <a:t>Las metodologías OO utilizan técnicas tradicionales de análisis del software pero:</a:t>
            </a:r>
          </a:p>
          <a:p>
            <a:pPr lvl="1"/>
            <a:r>
              <a:rPr lang="es-ES_tradnl"/>
              <a:t>La OO integra mucho mejor el análisis y el diseño. Proximidad de los conceptos de modelación respecto de las entidades.</a:t>
            </a:r>
          </a:p>
          <a:p>
            <a:pPr lvl="1"/>
            <a:r>
              <a:rPr lang="en-GB"/>
              <a:t> Herramientas de generación de código desde entornos visuales</a:t>
            </a:r>
          </a:p>
          <a:p>
            <a:pPr lvl="2"/>
            <a:r>
              <a:rPr lang="es-ES_tradnl"/>
              <a:t>Herramientas CASE (Computer Aided Software Engineering)</a:t>
            </a:r>
          </a:p>
          <a:p>
            <a:pPr lvl="2"/>
            <a:r>
              <a:rPr lang="es-ES_tradnl"/>
              <a:t>MDA Model Driven Architecuture</a:t>
            </a:r>
          </a:p>
          <a:p>
            <a:pPr lvl="1"/>
            <a:endParaRPr lang="en-GB"/>
          </a:p>
        </p:txBody>
      </p:sp>
      <p:sp>
        <p:nvSpPr>
          <p:cNvPr id="444418" name="Rectangle 2"/>
          <p:cNvSpPr>
            <a:spLocks noGrp="1" noChangeArrowheads="1"/>
          </p:cNvSpPr>
          <p:nvPr>
            <p:ph type="title"/>
          </p:nvPr>
        </p:nvSpPr>
        <p:spPr/>
        <p:txBody>
          <a:bodyPr/>
          <a:lstStyle/>
          <a:p>
            <a:r>
              <a:rPr lang="es-ES_tradnl"/>
              <a:t>¿Por qué la OO?</a:t>
            </a:r>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idx="1"/>
          </p:nvPr>
        </p:nvSpPr>
        <p:spPr>
          <a:xfrm>
            <a:off x="971550" y="1341438"/>
            <a:ext cx="7978775" cy="4845050"/>
          </a:xfrm>
        </p:spPr>
        <p:txBody>
          <a:bodyPr>
            <a:normAutofit/>
          </a:bodyPr>
          <a:lstStyle/>
          <a:p>
            <a:r>
              <a:rPr lang="es-ES"/>
              <a:t>Los principios sobre los que se fundamenta la O.O. los podemos resumir en:</a:t>
            </a:r>
          </a:p>
          <a:p>
            <a:pPr lvl="1"/>
            <a:r>
              <a:rPr lang="es-ES"/>
              <a:t>Se utilizan modelos basados en conceptos del mundo real para el desarrollo de aplicaciones.</a:t>
            </a:r>
          </a:p>
          <a:p>
            <a:pPr lvl="1"/>
            <a:r>
              <a:rPr lang="es-ES"/>
              <a:t>El software se organiza como una colección discreta de objetos a los que se asocian datos (atributos) y comportamiento (operaciones, procedimientos ó métodos)</a:t>
            </a:r>
          </a:p>
          <a:p>
            <a:pPr lvl="1"/>
            <a:r>
              <a:rPr lang="es-ES"/>
              <a:t>La comunicación de los objetos se realiza a través del paso de mensajes. Cuando un objeto es receptor del mensaje ejecuta una acción (operación, procedimiento ó método)</a:t>
            </a:r>
          </a:p>
        </p:txBody>
      </p:sp>
      <p:sp>
        <p:nvSpPr>
          <p:cNvPr id="445444" name="Rectangle 4"/>
          <p:cNvSpPr>
            <a:spLocks noChangeArrowheads="1"/>
          </p:cNvSpPr>
          <p:nvPr/>
        </p:nvSpPr>
        <p:spPr bwMode="auto">
          <a:xfrm>
            <a:off x="914400" y="457200"/>
            <a:ext cx="5389563" cy="438150"/>
          </a:xfrm>
          <a:prstGeom prst="rect">
            <a:avLst/>
          </a:prstGeom>
          <a:noFill/>
          <a:ln w="9525">
            <a:noFill/>
            <a:miter lim="800000"/>
            <a:headEnd/>
            <a:tailEnd/>
          </a:ln>
          <a:effectLst/>
        </p:spPr>
        <p:txBody>
          <a:bodyPr anchor="ctr"/>
          <a:lstStyle/>
          <a:p>
            <a:pPr eaLnBrk="1" hangingPunct="1"/>
            <a:r>
              <a:rPr lang="es-ES" sz="3000" b="0">
                <a:solidFill>
                  <a:schemeClr val="bg1"/>
                </a:solidFill>
                <a:latin typeface="Verdana" pitchFamily="34" charset="0"/>
              </a:rPr>
              <a:t>Fundamentos de la OO</a:t>
            </a:r>
            <a:endParaRPr lang="en-GB" sz="3000" b="0">
              <a:solidFill>
                <a:schemeClr val="bg1"/>
              </a:solidFill>
              <a:latin typeface="Verdana" pitchFamily="34"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idx="1"/>
          </p:nvPr>
        </p:nvSpPr>
        <p:spPr>
          <a:xfrm>
            <a:off x="1014413" y="1463675"/>
            <a:ext cx="7661275" cy="4114800"/>
          </a:xfrm>
        </p:spPr>
        <p:txBody>
          <a:bodyPr>
            <a:normAutofit fontScale="92500" lnSpcReduction="20000"/>
          </a:bodyPr>
          <a:lstStyle/>
          <a:p>
            <a:pPr>
              <a:lnSpc>
                <a:spcPct val="90000"/>
              </a:lnSpc>
            </a:pPr>
            <a:r>
              <a:rPr lang="es-ES"/>
              <a:t>Un objeto es “una cosa que tiene comportamiento, estado e identidad”.</a:t>
            </a:r>
          </a:p>
          <a:p>
            <a:pPr lvl="1">
              <a:lnSpc>
                <a:spcPct val="90000"/>
              </a:lnSpc>
            </a:pPr>
            <a:r>
              <a:rPr lang="es-ES" b="1"/>
              <a:t>Comportamiento</a:t>
            </a:r>
            <a:r>
              <a:rPr lang="es-ES"/>
              <a:t>: Cómo actúa un objeto al recibir un mensaje o estímulo externo. Existen cuatro tipos de comportamiento, también llamados operación:</a:t>
            </a:r>
          </a:p>
          <a:p>
            <a:pPr lvl="2">
              <a:lnSpc>
                <a:spcPct val="90000"/>
              </a:lnSpc>
            </a:pPr>
            <a:r>
              <a:rPr lang="es-ES"/>
              <a:t>Modificación: alteración del estado del objeto.</a:t>
            </a:r>
          </a:p>
          <a:p>
            <a:pPr lvl="2">
              <a:lnSpc>
                <a:spcPct val="90000"/>
              </a:lnSpc>
            </a:pPr>
            <a:r>
              <a:rPr lang="es-ES"/>
              <a:t>Selección: acceso al estado del objeto.</a:t>
            </a:r>
          </a:p>
          <a:p>
            <a:pPr lvl="2">
              <a:lnSpc>
                <a:spcPct val="90000"/>
              </a:lnSpc>
            </a:pPr>
            <a:r>
              <a:rPr lang="es-ES"/>
              <a:t>Construcción: creación de un objeto e iniciación de su estado.</a:t>
            </a:r>
          </a:p>
          <a:p>
            <a:pPr lvl="2">
              <a:lnSpc>
                <a:spcPct val="90000"/>
              </a:lnSpc>
            </a:pPr>
            <a:r>
              <a:rPr lang="es-ES"/>
              <a:t>Destrucción: liberación del estado de un objeto.</a:t>
            </a:r>
          </a:p>
          <a:p>
            <a:pPr lvl="1">
              <a:lnSpc>
                <a:spcPct val="90000"/>
              </a:lnSpc>
            </a:pPr>
            <a:r>
              <a:rPr lang="es-ES" b="1"/>
              <a:t>Estado</a:t>
            </a:r>
            <a:r>
              <a:rPr lang="es-ES"/>
              <a:t>: La suma de las propiedades o atributos que tiene el objeto, y que forman su estructura estática, junto con los posibles valores de cada uno de esos atributos que forman su estructura dinámica.</a:t>
            </a:r>
          </a:p>
          <a:p>
            <a:pPr lvl="1">
              <a:lnSpc>
                <a:spcPct val="90000"/>
              </a:lnSpc>
            </a:pPr>
            <a:r>
              <a:rPr lang="es-ES" b="1"/>
              <a:t>Identidad</a:t>
            </a:r>
            <a:r>
              <a:rPr lang="es-ES"/>
              <a:t>: Un atributo o propiedad característica del objeto que le distingue de todos los demás.</a:t>
            </a:r>
          </a:p>
        </p:txBody>
      </p:sp>
      <p:sp>
        <p:nvSpPr>
          <p:cNvPr id="446468" name="Rectangle 4"/>
          <p:cNvSpPr>
            <a:spLocks noChangeArrowheads="1"/>
          </p:cNvSpPr>
          <p:nvPr/>
        </p:nvSpPr>
        <p:spPr bwMode="auto">
          <a:xfrm>
            <a:off x="914400" y="457200"/>
            <a:ext cx="5410200" cy="304800"/>
          </a:xfrm>
          <a:prstGeom prst="rect">
            <a:avLst/>
          </a:prstGeom>
          <a:noFill/>
          <a:ln w="9525">
            <a:noFill/>
            <a:miter lim="800000"/>
            <a:headEnd/>
            <a:tailEnd/>
          </a:ln>
          <a:effectLst/>
        </p:spPr>
        <p:txBody>
          <a:bodyPr anchor="ctr"/>
          <a:lstStyle/>
          <a:p>
            <a:pPr eaLnBrk="1" hangingPunct="1"/>
            <a:r>
              <a:rPr lang="es-ES" sz="3000" b="0">
                <a:solidFill>
                  <a:schemeClr val="bg1"/>
                </a:solidFill>
                <a:latin typeface="Verdana" pitchFamily="34" charset="0"/>
              </a:rPr>
              <a:t>Objetos</a:t>
            </a:r>
            <a:endParaRPr lang="en-GB" sz="3000" b="0">
              <a:solidFill>
                <a:schemeClr val="bg1"/>
              </a:solidFill>
              <a:latin typeface="Verdana" pitchFamily="34"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idx="1"/>
          </p:nvPr>
        </p:nvSpPr>
        <p:spPr>
          <a:xfrm>
            <a:off x="971550" y="1341438"/>
            <a:ext cx="8024813" cy="4886325"/>
          </a:xfrm>
        </p:spPr>
        <p:txBody>
          <a:bodyPr>
            <a:normAutofit fontScale="92500" lnSpcReduction="20000"/>
          </a:bodyPr>
          <a:lstStyle/>
          <a:p>
            <a:pPr>
              <a:lnSpc>
                <a:spcPct val="90000"/>
              </a:lnSpc>
            </a:pPr>
            <a:r>
              <a:rPr lang="es-ES"/>
              <a:t>Características de los Objetos:</a:t>
            </a:r>
          </a:p>
          <a:p>
            <a:pPr lvl="1">
              <a:lnSpc>
                <a:spcPct val="90000"/>
              </a:lnSpc>
            </a:pPr>
            <a:r>
              <a:rPr lang="es-ES" b="1"/>
              <a:t>Encapsulación</a:t>
            </a:r>
            <a:r>
              <a:rPr lang="es-ES"/>
              <a:t>: Característica por la cual los atributos y operaciones se reúnen en una entidad única que es el objeto.</a:t>
            </a:r>
          </a:p>
          <a:p>
            <a:pPr lvl="1">
              <a:lnSpc>
                <a:spcPct val="90000"/>
              </a:lnSpc>
            </a:pPr>
            <a:r>
              <a:rPr lang="es-ES" b="1"/>
              <a:t>Persistencia de objetos</a:t>
            </a:r>
            <a:r>
              <a:rPr lang="es-ES"/>
              <a:t>: Capacidad de un objeto de permanecer en el tiempo o en el espacio. Sobre él se pueden realizar las operaciones:</a:t>
            </a:r>
          </a:p>
          <a:p>
            <a:pPr lvl="2">
              <a:lnSpc>
                <a:spcPct val="90000"/>
              </a:lnSpc>
            </a:pPr>
            <a:r>
              <a:rPr lang="es-ES"/>
              <a:t>Pasivación del objeto.</a:t>
            </a:r>
          </a:p>
          <a:p>
            <a:pPr lvl="2">
              <a:lnSpc>
                <a:spcPct val="90000"/>
              </a:lnSpc>
            </a:pPr>
            <a:r>
              <a:rPr lang="es-ES"/>
              <a:t>Activación del objeto.</a:t>
            </a:r>
          </a:p>
          <a:p>
            <a:pPr lvl="1">
              <a:lnSpc>
                <a:spcPct val="90000"/>
              </a:lnSpc>
            </a:pPr>
            <a:endParaRPr lang="es-ES"/>
          </a:p>
          <a:p>
            <a:pPr>
              <a:lnSpc>
                <a:spcPct val="90000"/>
              </a:lnSpc>
            </a:pPr>
            <a:r>
              <a:rPr lang="es-ES"/>
              <a:t>Temas avanzados:</a:t>
            </a:r>
          </a:p>
          <a:p>
            <a:pPr lvl="1">
              <a:lnSpc>
                <a:spcPct val="90000"/>
              </a:lnSpc>
            </a:pPr>
            <a:r>
              <a:rPr lang="es-ES"/>
              <a:t>Transmisión de objetos: Consiste en el envío de objetos por un medio de comunicación cualquiera entre espacios de direccionamiento.</a:t>
            </a:r>
          </a:p>
          <a:p>
            <a:pPr lvl="1">
              <a:lnSpc>
                <a:spcPct val="90000"/>
              </a:lnSpc>
            </a:pPr>
            <a:r>
              <a:rPr lang="es-ES"/>
              <a:t>Objetos espejo (proxies): Consiste en una alternativa a la transmisión de objetos, ya que permite manipular un objeto espejo como si se estuviera manipulando un objeto remoto con el que está sincronizado. </a:t>
            </a:r>
          </a:p>
        </p:txBody>
      </p:sp>
      <p:sp>
        <p:nvSpPr>
          <p:cNvPr id="447492" name="Rectangle 4"/>
          <p:cNvSpPr>
            <a:spLocks noChangeArrowheads="1"/>
          </p:cNvSpPr>
          <p:nvPr/>
        </p:nvSpPr>
        <p:spPr bwMode="auto">
          <a:xfrm>
            <a:off x="914400" y="457200"/>
            <a:ext cx="5410200" cy="304800"/>
          </a:xfrm>
          <a:prstGeom prst="rect">
            <a:avLst/>
          </a:prstGeom>
          <a:noFill/>
          <a:ln w="9525">
            <a:noFill/>
            <a:miter lim="800000"/>
            <a:headEnd/>
            <a:tailEnd/>
          </a:ln>
          <a:effectLst/>
        </p:spPr>
        <p:txBody>
          <a:bodyPr anchor="ctr"/>
          <a:lstStyle/>
          <a:p>
            <a:pPr eaLnBrk="1" hangingPunct="1"/>
            <a:r>
              <a:rPr lang="es-ES" sz="3000" b="0">
                <a:solidFill>
                  <a:schemeClr val="bg1"/>
                </a:solidFill>
                <a:latin typeface="Verdana" pitchFamily="34" charset="0"/>
              </a:rPr>
              <a:t>Objetos</a:t>
            </a:r>
            <a:endParaRPr lang="en-GB" sz="3000" b="0">
              <a:solidFill>
                <a:schemeClr val="bg1"/>
              </a:solidFill>
              <a:latin typeface="Verdana" pitchFamily="34"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idx="1"/>
          </p:nvPr>
        </p:nvSpPr>
        <p:spPr>
          <a:xfrm>
            <a:off x="971550" y="1341438"/>
            <a:ext cx="7661275" cy="4608512"/>
          </a:xfrm>
        </p:spPr>
        <p:txBody>
          <a:bodyPr/>
          <a:lstStyle/>
          <a:p>
            <a:pPr>
              <a:lnSpc>
                <a:spcPct val="90000"/>
              </a:lnSpc>
            </a:pPr>
            <a:r>
              <a:rPr lang="es-ES"/>
              <a:t>Comunicación entre Objetos:</a:t>
            </a:r>
          </a:p>
          <a:p>
            <a:pPr>
              <a:lnSpc>
                <a:spcPct val="90000"/>
              </a:lnSpc>
            </a:pPr>
            <a:endParaRPr lang="es-ES"/>
          </a:p>
          <a:p>
            <a:pPr lvl="1">
              <a:lnSpc>
                <a:spcPct val="90000"/>
              </a:lnSpc>
            </a:pPr>
            <a:r>
              <a:rPr lang="es-ES"/>
              <a:t>Los objetos interactúan para realizar las funciones de la aplicación. </a:t>
            </a:r>
          </a:p>
          <a:p>
            <a:pPr lvl="1">
              <a:lnSpc>
                <a:spcPct val="90000"/>
              </a:lnSpc>
            </a:pPr>
            <a:endParaRPr lang="es-ES"/>
          </a:p>
          <a:p>
            <a:pPr lvl="1">
              <a:lnSpc>
                <a:spcPct val="90000"/>
              </a:lnSpc>
            </a:pPr>
            <a:r>
              <a:rPr lang="es-ES"/>
              <a:t>Podemos tener los siguiente tipos de mensajes:</a:t>
            </a:r>
          </a:p>
          <a:p>
            <a:pPr lvl="2">
              <a:lnSpc>
                <a:spcPct val="90000"/>
              </a:lnSpc>
            </a:pPr>
            <a:r>
              <a:rPr lang="es-ES"/>
              <a:t>Simple.</a:t>
            </a:r>
          </a:p>
          <a:p>
            <a:pPr lvl="2">
              <a:lnSpc>
                <a:spcPct val="90000"/>
              </a:lnSpc>
            </a:pPr>
            <a:r>
              <a:rPr lang="es-ES"/>
              <a:t>Síncrono.</a:t>
            </a:r>
          </a:p>
          <a:p>
            <a:pPr lvl="2">
              <a:lnSpc>
                <a:spcPct val="90000"/>
              </a:lnSpc>
            </a:pPr>
            <a:r>
              <a:rPr lang="es-ES"/>
              <a:t>Asíncrono.</a:t>
            </a:r>
          </a:p>
          <a:p>
            <a:pPr lvl="2">
              <a:lnSpc>
                <a:spcPct val="90000"/>
              </a:lnSpc>
            </a:pPr>
            <a:r>
              <a:rPr lang="es-ES"/>
              <a:t>Esperado.</a:t>
            </a:r>
          </a:p>
          <a:p>
            <a:pPr lvl="2">
              <a:lnSpc>
                <a:spcPct val="90000"/>
              </a:lnSpc>
            </a:pPr>
            <a:r>
              <a:rPr lang="es-ES"/>
              <a:t>Cronometrado.</a:t>
            </a:r>
          </a:p>
        </p:txBody>
      </p:sp>
      <p:sp>
        <p:nvSpPr>
          <p:cNvPr id="448516" name="Rectangle 4"/>
          <p:cNvSpPr>
            <a:spLocks noChangeArrowheads="1"/>
          </p:cNvSpPr>
          <p:nvPr/>
        </p:nvSpPr>
        <p:spPr bwMode="auto">
          <a:xfrm>
            <a:off x="914400" y="295275"/>
            <a:ext cx="7634288" cy="669925"/>
          </a:xfrm>
          <a:prstGeom prst="rect">
            <a:avLst/>
          </a:prstGeom>
          <a:noFill/>
          <a:ln w="9525">
            <a:noFill/>
            <a:miter lim="800000"/>
            <a:headEnd/>
            <a:tailEnd/>
          </a:ln>
          <a:effectLst/>
        </p:spPr>
        <p:txBody>
          <a:bodyPr anchor="ctr"/>
          <a:lstStyle/>
          <a:p>
            <a:pPr eaLnBrk="1" hangingPunct="1"/>
            <a:r>
              <a:rPr lang="es-ES" sz="3000" b="0">
                <a:solidFill>
                  <a:schemeClr val="bg1"/>
                </a:solidFill>
                <a:latin typeface="Verdana" pitchFamily="34" charset="0"/>
              </a:rPr>
              <a:t>Comunicación entre Objetos</a:t>
            </a:r>
            <a:endParaRPr lang="en-GB" sz="3000" b="0">
              <a:solidFill>
                <a:schemeClr val="bg1"/>
              </a:solidFill>
              <a:latin typeface="Verdana" pitchFamily="34"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p:cNvSpPr>
            <a:spLocks noGrp="1" noChangeArrowheads="1"/>
          </p:cNvSpPr>
          <p:nvPr>
            <p:ph idx="1"/>
          </p:nvPr>
        </p:nvSpPr>
        <p:spPr/>
        <p:txBody>
          <a:bodyPr>
            <a:normAutofit fontScale="92500" lnSpcReduction="20000"/>
          </a:bodyPr>
          <a:lstStyle/>
          <a:p>
            <a:pPr>
              <a:lnSpc>
                <a:spcPct val="90000"/>
              </a:lnSpc>
            </a:pPr>
            <a:r>
              <a:rPr lang="es-ES"/>
              <a:t>Una clase </a:t>
            </a:r>
            <a:r>
              <a:rPr lang="es-ES" u="sng"/>
              <a:t>describe un conjunto de objetos</a:t>
            </a:r>
            <a:r>
              <a:rPr lang="es-ES"/>
              <a:t> con propiedades similares (mismos atributos y comportamientos), relaciones comunes con otros y una semántica común. </a:t>
            </a:r>
          </a:p>
          <a:p>
            <a:pPr lvl="1">
              <a:lnSpc>
                <a:spcPct val="90000"/>
              </a:lnSpc>
            </a:pPr>
            <a:r>
              <a:rPr lang="es-ES"/>
              <a:t>Las clases son abstracciones que permiten crear categorías de objetos. </a:t>
            </a:r>
          </a:p>
          <a:p>
            <a:pPr lvl="1">
              <a:lnSpc>
                <a:spcPct val="90000"/>
              </a:lnSpc>
            </a:pPr>
            <a:r>
              <a:rPr lang="es-ES"/>
              <a:t>Cada objeto de una clase es un ejemplar o una </a:t>
            </a:r>
            <a:r>
              <a:rPr lang="es-ES" u="sng"/>
              <a:t>instancia</a:t>
            </a:r>
            <a:r>
              <a:rPr lang="es-ES"/>
              <a:t> de la clase. Cuando creamos objetos concretos de una clase estamos realizando un proceso de instanciación.</a:t>
            </a:r>
          </a:p>
          <a:p>
            <a:pPr lvl="1">
              <a:lnSpc>
                <a:spcPct val="90000"/>
              </a:lnSpc>
            </a:pPr>
            <a:r>
              <a:rPr lang="es-ES"/>
              <a:t>Se programan las clases, NO los objetos</a:t>
            </a:r>
          </a:p>
          <a:p>
            <a:pPr lvl="1">
              <a:lnSpc>
                <a:spcPct val="90000"/>
              </a:lnSpc>
            </a:pPr>
            <a:r>
              <a:rPr lang="es-ES"/>
              <a:t>La encapsulación de los datos y del comportamiento en una misma unidad. Define diferentes niveles de visibilidad o accesibilidad:</a:t>
            </a:r>
          </a:p>
          <a:p>
            <a:pPr lvl="2">
              <a:lnSpc>
                <a:spcPct val="90000"/>
              </a:lnSpc>
              <a:buSzPct val="150000"/>
            </a:pPr>
            <a:r>
              <a:rPr lang="es-ES"/>
              <a:t>Nivel privado: visibilidad para la propia clase.</a:t>
            </a:r>
          </a:p>
          <a:p>
            <a:pPr lvl="2">
              <a:lnSpc>
                <a:spcPct val="90000"/>
              </a:lnSpc>
              <a:buSzPct val="150000"/>
            </a:pPr>
            <a:r>
              <a:rPr lang="es-ES"/>
              <a:t>Nivel protegido: visibilidad para las clases derivadas.</a:t>
            </a:r>
          </a:p>
          <a:p>
            <a:pPr lvl="2">
              <a:lnSpc>
                <a:spcPct val="90000"/>
              </a:lnSpc>
              <a:buSzPct val="150000"/>
            </a:pPr>
            <a:r>
              <a:rPr lang="es-ES"/>
              <a:t>Nivel público: visibilidad para todas las clases.</a:t>
            </a:r>
            <a:endParaRPr lang="en-GB"/>
          </a:p>
        </p:txBody>
      </p:sp>
      <p:sp>
        <p:nvSpPr>
          <p:cNvPr id="488450" name="Rectangle 2"/>
          <p:cNvSpPr>
            <a:spLocks noGrp="1" noChangeArrowheads="1"/>
          </p:cNvSpPr>
          <p:nvPr>
            <p:ph type="title"/>
          </p:nvPr>
        </p:nvSpPr>
        <p:spPr/>
        <p:txBody>
          <a:bodyPr/>
          <a:lstStyle/>
          <a:p>
            <a:r>
              <a:rPr lang="es-ES_tradnl"/>
              <a:t>Clases</a:t>
            </a:r>
            <a:endParaRPr lang="en-GB"/>
          </a:p>
        </p:txBody>
      </p:sp>
      <p:pic>
        <p:nvPicPr>
          <p:cNvPr id="488452" name="Picture 4"/>
          <p:cNvPicPr>
            <a:picLocks noChangeAspect="1" noChangeArrowheads="1"/>
          </p:cNvPicPr>
          <p:nvPr/>
        </p:nvPicPr>
        <p:blipFill>
          <a:blip r:embed="rId2" cstate="print"/>
          <a:srcRect/>
          <a:stretch>
            <a:fillRect/>
          </a:stretch>
        </p:blipFill>
        <p:spPr bwMode="auto">
          <a:xfrm>
            <a:off x="7383463" y="4962525"/>
            <a:ext cx="1654175" cy="1096963"/>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idx="1"/>
          </p:nvPr>
        </p:nvSpPr>
        <p:spPr>
          <a:xfrm>
            <a:off x="971550" y="1341438"/>
            <a:ext cx="7661275" cy="4608512"/>
          </a:xfrm>
        </p:spPr>
        <p:txBody>
          <a:bodyPr>
            <a:normAutofit fontScale="85000" lnSpcReduction="20000"/>
          </a:bodyPr>
          <a:lstStyle/>
          <a:p>
            <a:pPr>
              <a:lnSpc>
                <a:spcPct val="90000"/>
              </a:lnSpc>
            </a:pPr>
            <a:r>
              <a:rPr lang="es-ES"/>
              <a:t>Relaciones entre clases:</a:t>
            </a:r>
          </a:p>
          <a:p>
            <a:pPr lvl="1">
              <a:lnSpc>
                <a:spcPct val="90000"/>
              </a:lnSpc>
            </a:pPr>
            <a:r>
              <a:rPr lang="es-ES" b="1"/>
              <a:t>Asociación</a:t>
            </a:r>
            <a:r>
              <a:rPr lang="es-ES"/>
              <a:t>: conexión semántica bidireccional entre clases. Una asociación describe un grupo de enlaces con una estructura y una semántica comunes. Se entiende por enlace una conexión física o conceptual entre instancias. Por ejemplo un enlace sería ‘Rosa trabaja en Telefónica’ y una asociación ‘Persona trabaja en Empresa’. </a:t>
            </a:r>
          </a:p>
          <a:p>
            <a:pPr lvl="1">
              <a:lnSpc>
                <a:spcPct val="90000"/>
              </a:lnSpc>
            </a:pPr>
            <a:r>
              <a:rPr lang="es-ES" b="1"/>
              <a:t>Agregación</a:t>
            </a:r>
            <a:r>
              <a:rPr lang="es-ES"/>
              <a:t>: conexión bidireccional asimétrica. La agregación es una forma de asociación que permite representar relaciones del tipo amo-esclavo, todo-partes o agregado-componentes. Por ejemplo ‘Departamento forma parte de Empresa’. Existe la agregación recursiva. Ejemplo ‘Persona es jefe de Persona’.</a:t>
            </a:r>
          </a:p>
          <a:p>
            <a:pPr lvl="1">
              <a:lnSpc>
                <a:spcPct val="90000"/>
              </a:lnSpc>
            </a:pPr>
            <a:r>
              <a:rPr lang="es-ES" b="1"/>
              <a:t>Composición</a:t>
            </a:r>
            <a:r>
              <a:rPr lang="es-ES"/>
              <a:t>: Relación semántica que describe una forma de agregación con un matiz fuerte de propiedad y de coincidencia de vida como partes de un todo. Por ejemplo ‘Panel, Cabecera y Deslizador componen Ventana’.</a:t>
            </a:r>
          </a:p>
        </p:txBody>
      </p:sp>
      <p:sp>
        <p:nvSpPr>
          <p:cNvPr id="451588" name="Rectangle 4"/>
          <p:cNvSpPr>
            <a:spLocks noChangeArrowheads="1"/>
          </p:cNvSpPr>
          <p:nvPr/>
        </p:nvSpPr>
        <p:spPr bwMode="auto">
          <a:xfrm>
            <a:off x="914400" y="457200"/>
            <a:ext cx="5410200" cy="304800"/>
          </a:xfrm>
          <a:prstGeom prst="rect">
            <a:avLst/>
          </a:prstGeom>
          <a:noFill/>
          <a:ln w="9525">
            <a:noFill/>
            <a:miter lim="800000"/>
            <a:headEnd/>
            <a:tailEnd/>
          </a:ln>
          <a:effectLst/>
        </p:spPr>
        <p:txBody>
          <a:bodyPr anchor="ctr"/>
          <a:lstStyle/>
          <a:p>
            <a:pPr eaLnBrk="1" hangingPunct="1"/>
            <a:r>
              <a:rPr lang="es-ES" sz="2800" b="0">
                <a:solidFill>
                  <a:schemeClr val="tx2"/>
                </a:solidFill>
                <a:latin typeface="Arial" charset="0"/>
              </a:rPr>
              <a:t>Relaciones entre Clases</a:t>
            </a:r>
            <a:endParaRPr lang="en-GB" sz="2800" b="0">
              <a:solidFill>
                <a:schemeClr val="tx2"/>
              </a:solidFill>
              <a:latin typeface="Arial"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idx="1"/>
          </p:nvPr>
        </p:nvSpPr>
        <p:spPr>
          <a:xfrm>
            <a:off x="971550" y="1341438"/>
            <a:ext cx="7661275" cy="4608512"/>
          </a:xfrm>
        </p:spPr>
        <p:txBody>
          <a:bodyPr/>
          <a:lstStyle/>
          <a:p>
            <a:pPr>
              <a:lnSpc>
                <a:spcPct val="90000"/>
              </a:lnSpc>
            </a:pPr>
            <a:r>
              <a:rPr lang="es-ES"/>
              <a:t>Generalización y especialización. </a:t>
            </a:r>
          </a:p>
          <a:p>
            <a:pPr lvl="1">
              <a:lnSpc>
                <a:spcPct val="90000"/>
              </a:lnSpc>
            </a:pPr>
            <a:r>
              <a:rPr lang="es-ES"/>
              <a:t>La generalización consiste en unir los elementos comunes de varias clases en una más general llamada superclase. </a:t>
            </a:r>
          </a:p>
          <a:p>
            <a:pPr lvl="1">
              <a:lnSpc>
                <a:spcPct val="90000"/>
              </a:lnSpc>
            </a:pPr>
            <a:r>
              <a:rPr lang="es-ES"/>
              <a:t>La especialización permite capturar las particularidades de un conjunto de objetos no discriminados por las clases ya identificadas en una subclase. </a:t>
            </a:r>
          </a:p>
        </p:txBody>
      </p:sp>
      <p:pic>
        <p:nvPicPr>
          <p:cNvPr id="452611" name="Picture 3"/>
          <p:cNvPicPr>
            <a:picLocks noChangeAspect="1" noChangeArrowheads="1"/>
          </p:cNvPicPr>
          <p:nvPr/>
        </p:nvPicPr>
        <p:blipFill>
          <a:blip r:embed="rId2" cstate="print"/>
          <a:srcRect/>
          <a:stretch>
            <a:fillRect/>
          </a:stretch>
        </p:blipFill>
        <p:spPr bwMode="auto">
          <a:xfrm>
            <a:off x="1966913" y="3219450"/>
            <a:ext cx="5151437" cy="2703513"/>
          </a:xfrm>
          <a:prstGeom prst="rect">
            <a:avLst/>
          </a:prstGeom>
          <a:noFill/>
          <a:ln w="9525">
            <a:noFill/>
            <a:miter lim="800000"/>
            <a:headEnd/>
            <a:tailEnd/>
          </a:ln>
        </p:spPr>
      </p:pic>
      <p:sp>
        <p:nvSpPr>
          <p:cNvPr id="452613" name="Rectangle 5"/>
          <p:cNvSpPr>
            <a:spLocks noChangeArrowheads="1"/>
          </p:cNvSpPr>
          <p:nvPr/>
        </p:nvSpPr>
        <p:spPr bwMode="auto">
          <a:xfrm>
            <a:off x="914400" y="457200"/>
            <a:ext cx="5410200" cy="304800"/>
          </a:xfrm>
          <a:prstGeom prst="rect">
            <a:avLst/>
          </a:prstGeom>
          <a:noFill/>
          <a:ln w="9525">
            <a:noFill/>
            <a:miter lim="800000"/>
            <a:headEnd/>
            <a:tailEnd/>
          </a:ln>
          <a:effectLst/>
        </p:spPr>
        <p:txBody>
          <a:bodyPr anchor="ctr"/>
          <a:lstStyle/>
          <a:p>
            <a:pPr eaLnBrk="1" hangingPunct="1"/>
            <a:r>
              <a:rPr lang="es-ES" sz="2800" b="0">
                <a:solidFill>
                  <a:schemeClr val="tx2"/>
                </a:solidFill>
                <a:latin typeface="Arial" charset="0"/>
              </a:rPr>
              <a:t>Relaciones entre Clases</a:t>
            </a:r>
            <a:endParaRPr lang="en-GB" sz="2800" b="0">
              <a:solidFill>
                <a:schemeClr val="tx2"/>
              </a:solidFill>
              <a:latin typeface="Arial"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idx="1"/>
          </p:nvPr>
        </p:nvSpPr>
        <p:spPr>
          <a:xfrm>
            <a:off x="971550" y="1341438"/>
            <a:ext cx="8012113" cy="4897437"/>
          </a:xfrm>
        </p:spPr>
        <p:txBody>
          <a:bodyPr/>
          <a:lstStyle/>
          <a:p>
            <a:pPr>
              <a:lnSpc>
                <a:spcPct val="90000"/>
              </a:lnSpc>
            </a:pPr>
            <a:r>
              <a:rPr lang="es-ES_tradnl"/>
              <a:t>Herencia</a:t>
            </a:r>
          </a:p>
          <a:p>
            <a:pPr lvl="1">
              <a:lnSpc>
                <a:spcPct val="90000"/>
              </a:lnSpc>
            </a:pPr>
            <a:r>
              <a:rPr lang="es-ES"/>
              <a:t>La herencia es el mecanismo por el que las clases refinadas incorporan las características de una o más clases superiores en la estructura jerárquica. Una subclase heredará atributos y operaciones de las superclases, </a:t>
            </a:r>
            <a:r>
              <a:rPr lang="es-ES_tradnl"/>
              <a:t>más las suyas propias.</a:t>
            </a:r>
            <a:r>
              <a:rPr lang="en-GB"/>
              <a:t> </a:t>
            </a:r>
            <a:endParaRPr lang="es-ES"/>
          </a:p>
          <a:p>
            <a:pPr lvl="1">
              <a:lnSpc>
                <a:spcPct val="90000"/>
              </a:lnSpc>
            </a:pPr>
            <a:r>
              <a:rPr lang="es-ES"/>
              <a:t>Hay dos tipos de herencia:</a:t>
            </a:r>
          </a:p>
          <a:p>
            <a:pPr lvl="2">
              <a:lnSpc>
                <a:spcPct val="90000"/>
              </a:lnSpc>
              <a:buSzPct val="150000"/>
            </a:pPr>
            <a:r>
              <a:rPr lang="es-ES" b="1"/>
              <a:t>Herencia simple</a:t>
            </a:r>
            <a:r>
              <a:rPr lang="es-ES"/>
              <a:t>: una clase sólo puede tener una superclase.</a:t>
            </a:r>
          </a:p>
          <a:p>
            <a:pPr lvl="2">
              <a:lnSpc>
                <a:spcPct val="90000"/>
              </a:lnSpc>
              <a:buSzPct val="150000"/>
            </a:pPr>
            <a:r>
              <a:rPr lang="es-ES" b="1"/>
              <a:t>Herencia múltiple</a:t>
            </a:r>
            <a:r>
              <a:rPr lang="es-ES"/>
              <a:t>: una clase puede tener más de una superclase y heredar características de todos sus antecesores.</a:t>
            </a:r>
          </a:p>
        </p:txBody>
      </p:sp>
      <p:pic>
        <p:nvPicPr>
          <p:cNvPr id="453635" name="Picture 3"/>
          <p:cNvPicPr>
            <a:picLocks noChangeAspect="1" noChangeArrowheads="1"/>
          </p:cNvPicPr>
          <p:nvPr/>
        </p:nvPicPr>
        <p:blipFill>
          <a:blip r:embed="rId2" cstate="print"/>
          <a:srcRect/>
          <a:stretch>
            <a:fillRect/>
          </a:stretch>
        </p:blipFill>
        <p:spPr bwMode="auto">
          <a:xfrm>
            <a:off x="2605088" y="4014788"/>
            <a:ext cx="4408487" cy="2187575"/>
          </a:xfrm>
          <a:prstGeom prst="rect">
            <a:avLst/>
          </a:prstGeom>
          <a:noFill/>
          <a:ln w="9525">
            <a:noFill/>
            <a:miter lim="800000"/>
            <a:headEnd/>
            <a:tailEnd/>
          </a:ln>
        </p:spPr>
      </p:pic>
      <p:sp>
        <p:nvSpPr>
          <p:cNvPr id="453637" name="Rectangle 5"/>
          <p:cNvSpPr>
            <a:spLocks noChangeArrowheads="1"/>
          </p:cNvSpPr>
          <p:nvPr/>
        </p:nvSpPr>
        <p:spPr bwMode="auto">
          <a:xfrm>
            <a:off x="914400" y="457200"/>
            <a:ext cx="5410200" cy="304800"/>
          </a:xfrm>
          <a:prstGeom prst="rect">
            <a:avLst/>
          </a:prstGeom>
          <a:noFill/>
          <a:ln w="9525">
            <a:noFill/>
            <a:miter lim="800000"/>
            <a:headEnd/>
            <a:tailEnd/>
          </a:ln>
          <a:effectLst/>
        </p:spPr>
        <p:txBody>
          <a:bodyPr anchor="ctr"/>
          <a:lstStyle/>
          <a:p>
            <a:pPr eaLnBrk="1" hangingPunct="1"/>
            <a:r>
              <a:rPr lang="es-ES" sz="2800" b="0">
                <a:solidFill>
                  <a:schemeClr val="tx2"/>
                </a:solidFill>
                <a:latin typeface="Arial" charset="0"/>
              </a:rPr>
              <a:t>Relaciones entre Clases</a:t>
            </a:r>
            <a:endParaRPr lang="en-GB" sz="2800" b="0">
              <a:solidFill>
                <a:schemeClr val="tx2"/>
              </a:solidFill>
              <a:latin typeface="Arial"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Rectangle 3"/>
          <p:cNvSpPr>
            <a:spLocks noGrp="1" noChangeArrowheads="1"/>
          </p:cNvSpPr>
          <p:nvPr>
            <p:ph idx="1"/>
          </p:nvPr>
        </p:nvSpPr>
        <p:spPr/>
        <p:txBody>
          <a:bodyPr/>
          <a:lstStyle/>
          <a:p>
            <a:r>
              <a:rPr lang="es-ES_tradnl"/>
              <a:t>Encapsulamiento </a:t>
            </a:r>
          </a:p>
          <a:p>
            <a:pPr lvl="1"/>
            <a:r>
              <a:rPr lang="es-ES_tradnl"/>
              <a:t>Consiste en agrupar todos los datos y operaciones relacionadas en una misma clase. Esta propiedad facilita que aparezcan otras características de la programación orientada a objetos como la reutilización y la ocultación de información. </a:t>
            </a:r>
          </a:p>
          <a:p>
            <a:pPr lvl="1"/>
            <a:r>
              <a:rPr lang="es-ES_tradnl"/>
              <a:t>De esta manera, y debido a la ocultación de la información, los usuarios de esta clase disponen de unos métodos que permiten consultar y modificar el comportamiento de esta clase, pero no tienen acceso directo a los datos.</a:t>
            </a:r>
            <a:endParaRPr lang="en-GB"/>
          </a:p>
        </p:txBody>
      </p:sp>
      <p:sp>
        <p:nvSpPr>
          <p:cNvPr id="490498" name="Rectangle 2"/>
          <p:cNvSpPr>
            <a:spLocks noGrp="1" noChangeArrowheads="1"/>
          </p:cNvSpPr>
          <p:nvPr>
            <p:ph type="title"/>
          </p:nvPr>
        </p:nvSpPr>
        <p:spPr/>
        <p:txBody>
          <a:bodyPr/>
          <a:lstStyle/>
          <a:p>
            <a:r>
              <a:rPr lang="es-ES_tradnl"/>
              <a:t>Encapsulamiento</a:t>
            </a:r>
            <a:endParaRPr lang="en-GB"/>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idx="1"/>
          </p:nvPr>
        </p:nvSpPr>
        <p:spPr>
          <a:xfrm>
            <a:off x="971550" y="1341438"/>
            <a:ext cx="7661275" cy="4608512"/>
          </a:xfrm>
        </p:spPr>
        <p:txBody>
          <a:bodyPr/>
          <a:lstStyle/>
          <a:p>
            <a:pPr>
              <a:lnSpc>
                <a:spcPct val="90000"/>
              </a:lnSpc>
            </a:pPr>
            <a:r>
              <a:rPr lang="es-ES"/>
              <a:t>Propiedad por la que una operación se comporta de forma diferente en la misma o diferentes clases por medio de la herencia, por tanto existe la capacidad de que un mensaje sea interpretado de maneras distintas según el objeto que lo recibe. </a:t>
            </a:r>
          </a:p>
          <a:p>
            <a:pPr>
              <a:lnSpc>
                <a:spcPct val="90000"/>
              </a:lnSpc>
            </a:pPr>
            <a:r>
              <a:rPr lang="es-ES"/>
              <a:t>El polimorfismo en los lenguajes OO se puede ver en:</a:t>
            </a:r>
          </a:p>
          <a:p>
            <a:pPr lvl="1">
              <a:lnSpc>
                <a:spcPct val="90000"/>
              </a:lnSpc>
            </a:pPr>
            <a:r>
              <a:rPr lang="es-ES"/>
              <a:t>Atributos con el mismo nombre (en distintas clases)</a:t>
            </a:r>
          </a:p>
          <a:p>
            <a:pPr lvl="1">
              <a:lnSpc>
                <a:spcPct val="90000"/>
              </a:lnSpc>
            </a:pPr>
            <a:r>
              <a:rPr lang="es-ES"/>
              <a:t>Métodos con el mismo nombre (en la misma o en distintas clases)</a:t>
            </a:r>
          </a:p>
          <a:p>
            <a:pPr lvl="1">
              <a:lnSpc>
                <a:spcPct val="90000"/>
              </a:lnSpc>
            </a:pPr>
            <a:r>
              <a:rPr lang="es-ES"/>
              <a:t>Capacidad de ciertos elementos para recibir distintos objetos mediante una sola definición. P. e.:</a:t>
            </a:r>
          </a:p>
          <a:p>
            <a:pPr lvl="2">
              <a:lnSpc>
                <a:spcPct val="90000"/>
              </a:lnSpc>
            </a:pPr>
            <a:r>
              <a:rPr lang="es-ES" sz="1200"/>
              <a:t>Un método declara un atributo de tipo interfaz </a:t>
            </a:r>
            <a:r>
              <a:rPr lang="es-ES" sz="1200">
                <a:sym typeface="Wingdings" pitchFamily="2" charset="2"/>
              </a:rPr>
              <a:t> Puede recibir un objeto de cualquier clase que implemente ese interfaz</a:t>
            </a:r>
          </a:p>
          <a:p>
            <a:pPr lvl="2">
              <a:lnSpc>
                <a:spcPct val="90000"/>
              </a:lnSpc>
            </a:pPr>
            <a:r>
              <a:rPr lang="es-ES" sz="1200">
                <a:sym typeface="Wingdings" pitchFamily="2" charset="2"/>
              </a:rPr>
              <a:t>Un método declara un atributo de una determinada clase  Puede recibir un objeto de cualquiera de sus subclases</a:t>
            </a:r>
          </a:p>
        </p:txBody>
      </p:sp>
      <p:sp>
        <p:nvSpPr>
          <p:cNvPr id="454660" name="Rectangle 4"/>
          <p:cNvSpPr>
            <a:spLocks noChangeArrowheads="1"/>
          </p:cNvSpPr>
          <p:nvPr/>
        </p:nvSpPr>
        <p:spPr bwMode="auto">
          <a:xfrm>
            <a:off x="914400" y="457200"/>
            <a:ext cx="5410200" cy="304800"/>
          </a:xfrm>
          <a:prstGeom prst="rect">
            <a:avLst/>
          </a:prstGeom>
          <a:noFill/>
          <a:ln w="9525">
            <a:noFill/>
            <a:miter lim="800000"/>
            <a:headEnd/>
            <a:tailEnd/>
          </a:ln>
          <a:effectLst/>
        </p:spPr>
        <p:txBody>
          <a:bodyPr anchor="ctr"/>
          <a:lstStyle/>
          <a:p>
            <a:pPr eaLnBrk="1" hangingPunct="1"/>
            <a:r>
              <a:rPr lang="es-ES" sz="2800" b="0">
                <a:solidFill>
                  <a:schemeClr val="tx2"/>
                </a:solidFill>
                <a:latin typeface="Arial" charset="0"/>
              </a:rPr>
              <a:t>Polimorfismo</a:t>
            </a:r>
            <a:endParaRPr lang="en-GB" sz="2800" b="0">
              <a:solidFill>
                <a:schemeClr val="tx2"/>
              </a:solidFill>
              <a:latin typeface="Arial"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5" name="Rectangle 3"/>
          <p:cNvSpPr>
            <a:spLocks noGrp="1" noChangeArrowheads="1"/>
          </p:cNvSpPr>
          <p:nvPr>
            <p:ph idx="1"/>
          </p:nvPr>
        </p:nvSpPr>
        <p:spPr/>
        <p:txBody>
          <a:bodyPr/>
          <a:lstStyle/>
          <a:p>
            <a:pPr>
              <a:lnSpc>
                <a:spcPct val="90000"/>
              </a:lnSpc>
            </a:pPr>
            <a:r>
              <a:rPr lang="es-ES"/>
              <a:t>Genericidad</a:t>
            </a:r>
          </a:p>
          <a:p>
            <a:pPr lvl="1">
              <a:lnSpc>
                <a:spcPct val="90000"/>
              </a:lnSpc>
            </a:pPr>
            <a:r>
              <a:rPr lang="es-ES"/>
              <a:t>Es la propiedad que permite definir métodos que tienen como parámetros elementos de cualquier tipo.</a:t>
            </a:r>
          </a:p>
          <a:p>
            <a:pPr>
              <a:lnSpc>
                <a:spcPct val="90000"/>
              </a:lnSpc>
            </a:pPr>
            <a:r>
              <a:rPr lang="es-ES_tradnl"/>
              <a:t>Abstracción</a:t>
            </a:r>
          </a:p>
          <a:p>
            <a:pPr lvl="1">
              <a:lnSpc>
                <a:spcPct val="90000"/>
              </a:lnSpc>
            </a:pPr>
            <a:r>
              <a:rPr lang="es-ES_tradnl"/>
              <a:t>Se reduce la complejidad mediante la abstracción, es decir, la eliminación de información redundante e irrelevante.</a:t>
            </a:r>
          </a:p>
          <a:p>
            <a:pPr lvl="1">
              <a:lnSpc>
                <a:spcPct val="90000"/>
              </a:lnSpc>
            </a:pPr>
            <a:r>
              <a:rPr lang="es-ES_tradnl"/>
              <a:t>Se abstrae hasta el nivel de información que es necesario.</a:t>
            </a:r>
            <a:r>
              <a:rPr lang="en-GB"/>
              <a:t> </a:t>
            </a:r>
          </a:p>
          <a:p>
            <a:pPr>
              <a:lnSpc>
                <a:spcPct val="90000"/>
              </a:lnSpc>
            </a:pPr>
            <a:r>
              <a:rPr lang="es-ES_tradnl"/>
              <a:t>Tipificación estricta</a:t>
            </a:r>
          </a:p>
          <a:p>
            <a:pPr lvl="1">
              <a:lnSpc>
                <a:spcPct val="90000"/>
              </a:lnSpc>
            </a:pPr>
            <a:r>
              <a:rPr lang="es-ES_tradnl"/>
              <a:t>Éste es un concepto que, aunque no es específico de la programación orientada a objetos, es necesario cumplir. Este hecho implica que si dos expresiones están relacionadas, tanto si se trata de una asignación como si se trata de cualquiera de las operaciones que se pueden hacer sobre expresiones, tienen que coincidir en tipo. </a:t>
            </a:r>
          </a:p>
          <a:p>
            <a:pPr lvl="1">
              <a:lnSpc>
                <a:spcPct val="90000"/>
              </a:lnSpc>
            </a:pPr>
            <a:r>
              <a:rPr lang="es-ES_tradnl"/>
              <a:t>Si no lo hacen, el compilador genera un error en tiempo de compilación</a:t>
            </a:r>
            <a:endParaRPr lang="en-GB"/>
          </a:p>
          <a:p>
            <a:pPr>
              <a:lnSpc>
                <a:spcPct val="90000"/>
              </a:lnSpc>
            </a:pPr>
            <a:endParaRPr lang="en-GB"/>
          </a:p>
        </p:txBody>
      </p:sp>
      <p:sp>
        <p:nvSpPr>
          <p:cNvPr id="489474" name="Rectangle 2"/>
          <p:cNvSpPr>
            <a:spLocks noGrp="1" noChangeArrowheads="1"/>
          </p:cNvSpPr>
          <p:nvPr>
            <p:ph type="title"/>
          </p:nvPr>
        </p:nvSpPr>
        <p:spPr/>
        <p:txBody>
          <a:bodyPr/>
          <a:lstStyle/>
          <a:p>
            <a:r>
              <a:rPr lang="es-ES_tradnl"/>
              <a:t>Otras propiedades…</a:t>
            </a:r>
            <a:endParaRPr lang="en-GB"/>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0</TotalTime>
  <Words>1653</Words>
  <Application>Microsoft Office PowerPoint</Application>
  <PresentationFormat>On-screen Show (4:3)</PresentationFormat>
  <Paragraphs>158</Paragraphs>
  <Slides>22</Slides>
  <Notes>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Concourse</vt:lpstr>
      <vt:lpstr>Metodologías en la Ingeniería del Software Métodos Orientados a Objetos </vt:lpstr>
      <vt:lpstr>Bibliografía</vt:lpstr>
      <vt:lpstr>Contenidos</vt:lpstr>
      <vt:lpstr>Historia de la Orientación a Objetos</vt:lpstr>
      <vt:lpstr>En relación a la programación…</vt:lpstr>
      <vt:lpstr>Programación no estructurada</vt:lpstr>
      <vt:lpstr>Programación procedural</vt:lpstr>
      <vt:lpstr>Programación modular</vt:lpstr>
      <vt:lpstr>Problemas con la programación modular</vt:lpstr>
      <vt:lpstr>Programación orientada a objetos</vt:lpstr>
      <vt:lpstr>¿Por qué la OO?</vt:lpstr>
      <vt:lpstr>Slide 12</vt:lpstr>
      <vt:lpstr>Slide 13</vt:lpstr>
      <vt:lpstr>Slide 14</vt:lpstr>
      <vt:lpstr>Slide 15</vt:lpstr>
      <vt:lpstr>Clases</vt:lpstr>
      <vt:lpstr>Slide 17</vt:lpstr>
      <vt:lpstr>Slide 18</vt:lpstr>
      <vt:lpstr>Slide 19</vt:lpstr>
      <vt:lpstr>Encapsulamiento</vt:lpstr>
      <vt:lpstr>Slide 21</vt:lpstr>
      <vt:lpstr>Otras propiedades…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Metodologías en la Ingeniería del Software Métodos Orientados a Objetos </dc:title>
  <dc:creator>drg</dc:creator>
  <cp:lastModifiedBy>drg</cp:lastModifiedBy>
  <cp:revision>1</cp:revision>
  <dcterms:created xsi:type="dcterms:W3CDTF">2006-08-16T00:00:00Z</dcterms:created>
  <dcterms:modified xsi:type="dcterms:W3CDTF">2010-11-07T10:42:52Z</dcterms:modified>
</cp:coreProperties>
</file>