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317" r:id="rId2"/>
    <p:sldId id="332" r:id="rId3"/>
    <p:sldId id="336" r:id="rId4"/>
    <p:sldId id="337" r:id="rId5"/>
    <p:sldId id="338" r:id="rId6"/>
    <p:sldId id="339" r:id="rId7"/>
    <p:sldId id="340" r:id="rId8"/>
    <p:sldId id="341" r:id="rId9"/>
    <p:sldId id="307" r:id="rId10"/>
    <p:sldId id="308" r:id="rId11"/>
    <p:sldId id="309" r:id="rId12"/>
    <p:sldId id="313" r:id="rId13"/>
    <p:sldId id="334" r:id="rId14"/>
    <p:sldId id="335" r:id="rId15"/>
    <p:sldId id="342" r:id="rId16"/>
    <p:sldId id="34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230" autoAdjust="0"/>
    <p:restoredTop sz="79674" autoAdjust="0"/>
  </p:normalViewPr>
  <p:slideViewPr>
    <p:cSldViewPr>
      <p:cViewPr>
        <p:scale>
          <a:sx n="75" d="100"/>
          <a:sy n="75" d="100"/>
        </p:scale>
        <p:origin x="-1704" y="-282"/>
      </p:cViewPr>
      <p:guideLst>
        <p:guide orient="horz" pos="2160"/>
        <p:guide pos="2880"/>
      </p:guideLst>
    </p:cSldViewPr>
  </p:slideViewPr>
  <p:notesTextViewPr>
    <p:cViewPr>
      <p:scale>
        <a:sx n="100" d="100"/>
        <a:sy n="100" d="100"/>
      </p:scale>
      <p:origin x="0" y="0"/>
    </p:cViewPr>
  </p:notesTextViewPr>
  <p:notesViewPr>
    <p:cSldViewPr>
      <p:cViewPr varScale="1">
        <p:scale>
          <a:sx n="67" d="100"/>
          <a:sy n="67" d="100"/>
        </p:scale>
        <p:origin x="-1860" y="-12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D1538A-2321-49BA-AE5F-A5444307E285}" type="datetimeFigureOut">
              <a:rPr lang="en-GB" smtClean="0"/>
              <a:pPr/>
              <a:t>27/04/2012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46186C-46FC-456A-B7F9-6C59E8B8113A}" type="slidenum">
              <a:rPr lang="en-GB" smtClean="0"/>
              <a:pPr/>
              <a:t>‹#›</a:t>
            </a:fld>
            <a:endParaRPr lang="en-GB"/>
          </a:p>
        </p:txBody>
      </p:sp>
    </p:spTree>
    <p:extLst>
      <p:ext uri="{BB962C8B-B14F-4D97-AF65-F5344CB8AC3E}">
        <p14:creationId xmlns:p14="http://schemas.microsoft.com/office/powerpoint/2010/main" xmlns="" val="1393754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This lead to develop an inference with almost the same a priori probabilities in this overlapping area, which makes very hard or even impossible the distinction between classes. </a:t>
            </a:r>
          </a:p>
          <a:p>
            <a:endParaRPr lang="en-US" dirty="0"/>
          </a:p>
        </p:txBody>
      </p:sp>
      <p:sp>
        <p:nvSpPr>
          <p:cNvPr id="4" name="Slide Number Placeholder 3"/>
          <p:cNvSpPr>
            <a:spLocks noGrp="1"/>
          </p:cNvSpPr>
          <p:nvPr>
            <p:ph type="sldNum" sz="quarter" idx="10"/>
          </p:nvPr>
        </p:nvSpPr>
        <p:spPr/>
        <p:txBody>
          <a:bodyPr/>
          <a:lstStyle/>
          <a:p>
            <a:fld id="{BB46186C-46FC-456A-B7F9-6C59E8B8113A}" type="slidenum">
              <a:rPr lang="en-GB" smtClean="0"/>
              <a:pPr/>
              <a:t>16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4572000" cy="13687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Rectangle 14"/>
          <p:cNvSpPr/>
          <p:nvPr/>
        </p:nvSpPr>
        <p:spPr>
          <a:xfrm>
            <a:off x="0" y="4743451"/>
            <a:ext cx="9144000" cy="21145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0" y="4714875"/>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Date Placeholder 21"/>
          <p:cNvSpPr>
            <a:spLocks noGrp="1"/>
          </p:cNvSpPr>
          <p:nvPr>
            <p:ph type="dt" sz="half" idx="10"/>
          </p:nvPr>
        </p:nvSpPr>
        <p:spPr/>
        <p:txBody>
          <a:bodyPr/>
          <a:lstStyle/>
          <a:p>
            <a:fld id="{1D8BD707-D9CF-40AE-B4C6-C98DA3205C09}" type="datetimeFigureOut">
              <a:rPr lang="en-US" smtClean="0"/>
              <a:pPr/>
              <a:t>4/27/2012</a:t>
            </a:fld>
            <a:endParaRPr lang="en-US"/>
          </a:p>
        </p:txBody>
      </p:sp>
      <p:sp>
        <p:nvSpPr>
          <p:cNvPr id="23" name="Slide Number Placeholder 22"/>
          <p:cNvSpPr>
            <a:spLocks noGrp="1"/>
          </p:cNvSpPr>
          <p:nvPr>
            <p:ph type="sldNum" sz="quarter" idx="11"/>
          </p:nvPr>
        </p:nvSpPr>
        <p:spPr/>
        <p:txBody>
          <a:bodyPr/>
          <a:lstStyle/>
          <a:p>
            <a:fld id="{B6F15528-21DE-4FAA-801E-634DDDAF4B2B}" type="slidenum">
              <a:rPr lang="en-US" smtClean="0"/>
              <a:pPr/>
              <a:t>‹#›</a:t>
            </a:fld>
            <a:endParaRPr lang="en-US"/>
          </a:p>
        </p:txBody>
      </p:sp>
      <p:sp>
        <p:nvSpPr>
          <p:cNvPr id="24" name="Footer Placeholder 23"/>
          <p:cNvSpPr>
            <a:spLocks noGrp="1"/>
          </p:cNvSpPr>
          <p:nvPr>
            <p:ph type="ftr" sz="quarter" idx="12"/>
          </p:nvPr>
        </p:nvSpPr>
        <p:spPr/>
        <p:txBody>
          <a:bodyPr/>
          <a:lstStyle/>
          <a:p>
            <a:endParaRPr lang="en-US"/>
          </a:p>
        </p:txBody>
      </p:sp>
      <p:sp>
        <p:nvSpPr>
          <p:cNvPr id="12" name="Title 11"/>
          <p:cNvSpPr>
            <a:spLocks noGrp="1"/>
          </p:cNvSpPr>
          <p:nvPr>
            <p:ph type="title"/>
          </p:nvPr>
        </p:nvSpPr>
        <p:spPr>
          <a:xfrm>
            <a:off x="352426" y="457200"/>
            <a:ext cx="7680960" cy="2438399"/>
          </a:xfrm>
        </p:spPr>
        <p:txBody>
          <a:bodyPr>
            <a:normAutofit/>
          </a:bodyPr>
          <a:lstStyle>
            <a:lvl1pPr>
              <a:spcBef>
                <a:spcPts val="0"/>
              </a:spcBef>
              <a:defRPr kumimoji="0" lang="en-US" sz="6000" b="1" i="0" u="none" strike="noStrike" kern="1200" cap="none" spc="0" normalizeH="0" baseline="0" noProof="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0"/>
          <p:cNvSpPr>
            <a:spLocks noGrp="1"/>
          </p:cNvSpPr>
          <p:nvPr>
            <p:ph sz="quarter" idx="13"/>
          </p:nvPr>
        </p:nvSpPr>
        <p:spPr>
          <a:xfrm>
            <a:off x="352426" y="1463040"/>
            <a:ext cx="7680960" cy="472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Date Placeholder 11"/>
          <p:cNvSpPr>
            <a:spLocks noGrp="1"/>
          </p:cNvSpPr>
          <p:nvPr>
            <p:ph type="dt" sz="half" idx="14"/>
          </p:nvPr>
        </p:nvSpPr>
        <p:spPr/>
        <p:txBody>
          <a:bodyPr/>
          <a:lstStyle/>
          <a:p>
            <a:fld id="{1D8BD707-D9CF-40AE-B4C6-C98DA3205C09}" type="datetimeFigureOut">
              <a:rPr lang="en-US" smtClean="0"/>
              <a:pPr/>
              <a:t>4/27/2012</a:t>
            </a:fld>
            <a:endParaRPr lang="en-US"/>
          </a:p>
        </p:txBody>
      </p:sp>
      <p:sp>
        <p:nvSpPr>
          <p:cNvPr id="19" name="Slide Number Placeholder 18"/>
          <p:cNvSpPr>
            <a:spLocks noGrp="1"/>
          </p:cNvSpPr>
          <p:nvPr>
            <p:ph type="sldNum" sz="quarter" idx="15"/>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6"/>
          </p:nvPr>
        </p:nvSpPr>
        <p:spPr/>
        <p:txBody>
          <a:bodyPr/>
          <a:lstStyle/>
          <a:p>
            <a:endParaRPr lang="en-US"/>
          </a:p>
        </p:txBody>
      </p:sp>
      <p:sp>
        <p:nvSpPr>
          <p:cNvPr id="8" name="Title 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2"/>
          <p:cNvSpPr>
            <a:spLocks noGrp="1"/>
          </p:cNvSpPr>
          <p:nvPr>
            <p:ph type="subTitle" idx="1"/>
          </p:nvPr>
        </p:nvSpPr>
        <p:spPr>
          <a:xfrm>
            <a:off x="352426" y="4003302"/>
            <a:ext cx="4572000" cy="11782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1D8BD707-D9CF-40AE-B4C6-C98DA3205C09}" type="datetimeFigureOut">
              <a:rPr lang="en-US" smtClean="0"/>
              <a:pPr/>
              <a:t>4/27/2012</a:t>
            </a:fld>
            <a:endParaRPr lang="en-US"/>
          </a:p>
        </p:txBody>
      </p:sp>
      <p:sp>
        <p:nvSpPr>
          <p:cNvPr id="20" name="Slide Number Placeholder 19"/>
          <p:cNvSpPr>
            <a:spLocks noGrp="1"/>
          </p:cNvSpPr>
          <p:nvPr>
            <p:ph type="sldNum" sz="quarter" idx="11"/>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a:lstStyle/>
          <a:p>
            <a:endParaRPr lang="en-US"/>
          </a:p>
        </p:txBody>
      </p:sp>
      <p:sp>
        <p:nvSpPr>
          <p:cNvPr id="13" name="Rectangle 12"/>
          <p:cNvSpPr/>
          <p:nvPr/>
        </p:nvSpPr>
        <p:spPr>
          <a:xfrm>
            <a:off x="0" y="0"/>
            <a:ext cx="9144000" cy="182880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4439" y="182880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p:cNvSpPr>
            <a:spLocks noGrp="1"/>
          </p:cNvSpPr>
          <p:nvPr>
            <p:ph type="title"/>
          </p:nvPr>
        </p:nvSpPr>
        <p:spPr>
          <a:xfrm>
            <a:off x="354366" y="1990078"/>
            <a:ext cx="8439912" cy="1984248"/>
          </a:xfrm>
        </p:spPr>
        <p:txBody>
          <a:bodyPr>
            <a:noAutofit/>
          </a:bodyPr>
          <a:lstStyle>
            <a:lvl1pPr>
              <a:defRPr kumimoji="0" lang="en-US" sz="6000" b="1" i="0" u="none" strike="noStrike" kern="1200" cap="none" spc="0" normalizeH="0" baseline="0" noProof="0" dirty="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1"/>
          <p:cNvSpPr>
            <a:spLocks noGrp="1"/>
          </p:cNvSpPr>
          <p:nvPr>
            <p:ph sz="quarter" idx="14"/>
          </p:nvPr>
        </p:nvSpPr>
        <p:spPr>
          <a:xfrm>
            <a:off x="4901184"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0"/>
          <p:cNvSpPr>
            <a:spLocks noGrp="1"/>
          </p:cNvSpPr>
          <p:nvPr>
            <p:ph sz="quarter" idx="13"/>
          </p:nvPr>
        </p:nvSpPr>
        <p:spPr>
          <a:xfrm>
            <a:off x="352426"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itle 26"/>
          <p:cNvSpPr>
            <a:spLocks noGrp="1"/>
          </p:cNvSpPr>
          <p:nvPr>
            <p:ph type="title"/>
          </p:nvPr>
        </p:nvSpPr>
        <p:spPr/>
        <p:txBody>
          <a:bodyPr/>
          <a:lstStyle/>
          <a:p>
            <a:r>
              <a:rPr lang="en-US" smtClean="0"/>
              <a:t>Click to edit Master title style</a:t>
            </a:r>
            <a:endParaRPr lang="en-US" dirty="0"/>
          </a:p>
        </p:txBody>
      </p:sp>
      <p:sp>
        <p:nvSpPr>
          <p:cNvPr id="20" name="Date Placeholder 19"/>
          <p:cNvSpPr>
            <a:spLocks noGrp="1"/>
          </p:cNvSpPr>
          <p:nvPr>
            <p:ph type="dt" sz="half" idx="15"/>
          </p:nvPr>
        </p:nvSpPr>
        <p:spPr/>
        <p:txBody>
          <a:bodyPr/>
          <a:lstStyle/>
          <a:p>
            <a:fld id="{1D8BD707-D9CF-40AE-B4C6-C98DA3205C09}" type="datetimeFigureOut">
              <a:rPr lang="en-US" smtClean="0"/>
              <a:pPr/>
              <a:t>4/27/2012</a:t>
            </a:fld>
            <a:endParaRPr lang="en-US"/>
          </a:p>
        </p:txBody>
      </p:sp>
      <p:sp>
        <p:nvSpPr>
          <p:cNvPr id="25" name="Slide Number Placeholder 24"/>
          <p:cNvSpPr>
            <a:spLocks noGrp="1"/>
          </p:cNvSpPr>
          <p:nvPr>
            <p:ph type="sldNum" sz="quarter" idx="16"/>
          </p:nvPr>
        </p:nvSpPr>
        <p:spPr/>
        <p:txBody>
          <a:bodyPr/>
          <a:lstStyle/>
          <a:p>
            <a:fld id="{B6F15528-21DE-4FAA-801E-634DDDAF4B2B}" type="slidenum">
              <a:rPr lang="en-US" smtClean="0"/>
              <a:pPr/>
              <a:t>‹#›</a:t>
            </a:fld>
            <a:endParaRPr lang="en-US"/>
          </a:p>
        </p:txBody>
      </p:sp>
      <p:sp>
        <p:nvSpPr>
          <p:cNvPr id="26" name="Footer Placeholder 25"/>
          <p:cNvSpPr>
            <a:spLocks noGrp="1"/>
          </p:cNvSpPr>
          <p:nvPr>
            <p:ph type="ftr" sz="quarter" idx="17"/>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Rectangle 12"/>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3"/>
          <p:cNvSpPr>
            <a:spLocks noGrp="1"/>
          </p:cNvSpPr>
          <p:nvPr>
            <p:ph type="body" sz="half" idx="2"/>
          </p:nvPr>
        </p:nvSpPr>
        <p:spPr>
          <a:xfrm>
            <a:off x="352426"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9" name="Text Placeholder 3"/>
          <p:cNvSpPr>
            <a:spLocks noGrp="1"/>
          </p:cNvSpPr>
          <p:nvPr>
            <p:ph type="body" sz="half" idx="15"/>
          </p:nvPr>
        </p:nvSpPr>
        <p:spPr>
          <a:xfrm>
            <a:off x="4900613"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Content Placeholder 11"/>
          <p:cNvSpPr>
            <a:spLocks noGrp="1"/>
          </p:cNvSpPr>
          <p:nvPr>
            <p:ph sz="quarter" idx="14"/>
          </p:nvPr>
        </p:nvSpPr>
        <p:spPr>
          <a:xfrm>
            <a:off x="4900613"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Content Placeholder 30"/>
          <p:cNvSpPr>
            <a:spLocks noGrp="1"/>
          </p:cNvSpPr>
          <p:nvPr>
            <p:ph sz="quarter" idx="13"/>
          </p:nvPr>
        </p:nvSpPr>
        <p:spPr>
          <a:xfrm>
            <a:off x="352426"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0" name="Title 29"/>
          <p:cNvSpPr>
            <a:spLocks noGrp="1"/>
          </p:cNvSpPr>
          <p:nvPr>
            <p:ph type="title"/>
          </p:nvPr>
        </p:nvSpPr>
        <p:spPr/>
        <p:txBody>
          <a:bodyPr/>
          <a:lstStyle/>
          <a:p>
            <a:r>
              <a:rPr lang="en-US" smtClean="0"/>
              <a:t>Click to edit Master title style</a:t>
            </a:r>
            <a:endParaRPr lang="en-US"/>
          </a:p>
        </p:txBody>
      </p:sp>
      <p:sp>
        <p:nvSpPr>
          <p:cNvPr id="20" name="Date Placeholder 19"/>
          <p:cNvSpPr>
            <a:spLocks noGrp="1"/>
          </p:cNvSpPr>
          <p:nvPr>
            <p:ph type="dt" sz="half" idx="16"/>
          </p:nvPr>
        </p:nvSpPr>
        <p:spPr/>
        <p:txBody>
          <a:bodyPr/>
          <a:lstStyle/>
          <a:p>
            <a:fld id="{1D8BD707-D9CF-40AE-B4C6-C98DA3205C09}" type="datetimeFigureOut">
              <a:rPr lang="en-US" smtClean="0"/>
              <a:pPr/>
              <a:t>4/27/2012</a:t>
            </a:fld>
            <a:endParaRPr lang="en-US"/>
          </a:p>
        </p:txBody>
      </p:sp>
      <p:sp>
        <p:nvSpPr>
          <p:cNvPr id="24" name="Slide Number Placeholder 23"/>
          <p:cNvSpPr>
            <a:spLocks noGrp="1"/>
          </p:cNvSpPr>
          <p:nvPr>
            <p:ph type="sldNum" sz="quarter" idx="17"/>
          </p:nvPr>
        </p:nvSpPr>
        <p:spPr/>
        <p:txBody>
          <a:bodyPr/>
          <a:lstStyle/>
          <a:p>
            <a:fld id="{B6F15528-21DE-4FAA-801E-634DDDAF4B2B}" type="slidenum">
              <a:rPr lang="en-US" smtClean="0"/>
              <a:pPr/>
              <a:t>‹#›</a:t>
            </a:fld>
            <a:endParaRPr lang="en-US"/>
          </a:p>
        </p:txBody>
      </p:sp>
      <p:sp>
        <p:nvSpPr>
          <p:cNvPr id="29" name="Footer Placeholder 28"/>
          <p:cNvSpPr>
            <a:spLocks noGrp="1"/>
          </p:cNvSpPr>
          <p:nvPr>
            <p:ph type="ftr" sz="quarter" idx="18"/>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p:cNvSpPr>
            <a:spLocks noGrp="1"/>
          </p:cNvSpPr>
          <p:nvPr>
            <p:ph type="dt" sz="half" idx="10"/>
          </p:nvPr>
        </p:nvSpPr>
        <p:spPr/>
        <p:txBody>
          <a:bodyPr/>
          <a:lstStyle/>
          <a:p>
            <a:fld id="{1D8BD707-D9CF-40AE-B4C6-C98DA3205C09}" type="datetimeFigureOut">
              <a:rPr lang="en-US" smtClean="0"/>
              <a:pPr/>
              <a:t>4/27/2012</a:t>
            </a:fld>
            <a:endParaRPr lang="en-US"/>
          </a:p>
        </p:txBody>
      </p:sp>
      <p:sp>
        <p:nvSpPr>
          <p:cNvPr id="14" name="Slide Number Placeholder 13"/>
          <p:cNvSpPr>
            <a:spLocks noGrp="1"/>
          </p:cNvSpPr>
          <p:nvPr>
            <p:ph type="sldNum" sz="quarter" idx="11"/>
          </p:nvPr>
        </p:nvSpPr>
        <p:spPr/>
        <p:txBody>
          <a:bodyPr/>
          <a:lstStyle/>
          <a:p>
            <a:fld id="{B6F15528-21DE-4FAA-801E-634DDDAF4B2B}" type="slidenum">
              <a:rPr lang="en-US" smtClean="0"/>
              <a:pPr/>
              <a:t>‹#›</a:t>
            </a:fld>
            <a:endParaRPr lang="en-US"/>
          </a:p>
        </p:txBody>
      </p:sp>
      <p:sp>
        <p:nvSpPr>
          <p:cNvPr id="18" name="Footer Placeholder 17"/>
          <p:cNvSpPr>
            <a:spLocks noGrp="1"/>
          </p:cNvSpPr>
          <p:nvPr>
            <p:ph type="ftr" sz="quarter" idx="12"/>
          </p:nvPr>
        </p:nvSpPr>
        <p:spPr/>
        <p:txBody>
          <a:bodyPr/>
          <a:lstStyle/>
          <a:p>
            <a:endParaRPr lang="en-US"/>
          </a:p>
        </p:txBody>
      </p:sp>
      <p:sp>
        <p:nvSpPr>
          <p:cNvPr id="15" name="Title 14"/>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4/27/2012</a:t>
            </a:fld>
            <a:endParaRPr lang="en-US"/>
          </a:p>
        </p:txBody>
      </p:sp>
      <p:sp>
        <p:nvSpPr>
          <p:cNvPr id="12" name="Slide Number Placeholder 11"/>
          <p:cNvSpPr>
            <a:spLocks noGrp="1"/>
          </p:cNvSpPr>
          <p:nvPr>
            <p:ph type="sldNum" sz="quarter" idx="11"/>
          </p:nvPr>
        </p:nvSpPr>
        <p:spPr/>
        <p:txBody>
          <a:bodyPr/>
          <a:lstStyle/>
          <a:p>
            <a:fld id="{B6F15528-21DE-4FAA-801E-634DDDAF4B2B}" type="slidenum">
              <a:rPr lang="en-US" smtClean="0"/>
              <a:pPr/>
              <a:t>‹#›</a:t>
            </a:fld>
            <a:endParaRPr lang="en-US"/>
          </a:p>
        </p:txBody>
      </p:sp>
      <p:sp>
        <p:nvSpPr>
          <p:cNvPr id="13" name="Footer Placeholder 12"/>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le 23"/>
          <p:cNvSpPr>
            <a:spLocks noGrp="1"/>
          </p:cNvSpPr>
          <p:nvPr>
            <p:ph type="title"/>
          </p:nvPr>
        </p:nvSpPr>
        <p:spPr/>
        <p:txBody>
          <a:bodyPr/>
          <a:lstStyle/>
          <a:p>
            <a:r>
              <a:rPr lang="en-US" smtClean="0"/>
              <a:t>Click to edit Master title style</a:t>
            </a:r>
            <a:endParaRPr lang="en-US"/>
          </a:p>
        </p:txBody>
      </p:sp>
      <p:sp>
        <p:nvSpPr>
          <p:cNvPr id="11" name="Text Placeholder 3"/>
          <p:cNvSpPr>
            <a:spLocks noGrp="1"/>
          </p:cNvSpPr>
          <p:nvPr>
            <p:ph type="body" sz="half" idx="2"/>
          </p:nvPr>
        </p:nvSpPr>
        <p:spPr>
          <a:xfrm>
            <a:off x="352426" y="1463040"/>
            <a:ext cx="3381375" cy="3967162"/>
          </a:xfrm>
        </p:spPr>
        <p:txBody>
          <a:bodyPr>
            <a:normAutofit/>
          </a:bodyPr>
          <a:lstStyle>
            <a:lvl1pPr marL="0" indent="0">
              <a:lnSpc>
                <a:spcPct val="150000"/>
              </a:lnSpc>
              <a:buNone/>
              <a:defRPr sz="1600" b="0" i="1" spc="0" baseline="0">
                <a:solidFill>
                  <a:schemeClr val="tx2"/>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Content Placeholder 11"/>
          <p:cNvSpPr>
            <a:spLocks noGrp="1"/>
          </p:cNvSpPr>
          <p:nvPr>
            <p:ph sz="quarter" idx="14"/>
          </p:nvPr>
        </p:nvSpPr>
        <p:spPr>
          <a:xfrm>
            <a:off x="4105275" y="1463040"/>
            <a:ext cx="4681538" cy="396849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12"/>
          <p:cNvSpPr>
            <a:spLocks noGrp="1"/>
          </p:cNvSpPr>
          <p:nvPr>
            <p:ph type="dt" sz="half" idx="15"/>
          </p:nvPr>
        </p:nvSpPr>
        <p:spPr/>
        <p:txBody>
          <a:bodyPr/>
          <a:lstStyle/>
          <a:p>
            <a:fld id="{1D8BD707-D9CF-40AE-B4C6-C98DA3205C09}" type="datetimeFigureOut">
              <a:rPr lang="en-US" smtClean="0"/>
              <a:pPr/>
              <a:t>4/27/2012</a:t>
            </a:fld>
            <a:endParaRPr lang="en-US"/>
          </a:p>
        </p:txBody>
      </p:sp>
      <p:sp>
        <p:nvSpPr>
          <p:cNvPr id="18" name="Slide Number Placeholder 17"/>
          <p:cNvSpPr>
            <a:spLocks noGrp="1"/>
          </p:cNvSpPr>
          <p:nvPr>
            <p:ph type="sldNum" sz="quarter" idx="16"/>
          </p:nvPr>
        </p:nvSpPr>
        <p:spPr/>
        <p:txBody>
          <a:bodyPr/>
          <a:lstStyle/>
          <a:p>
            <a:fld id="{B6F15528-21DE-4FAA-801E-634DDDAF4B2B}" type="slidenum">
              <a:rPr lang="en-US" smtClean="0"/>
              <a:pPr/>
              <a:t>‹#›</a:t>
            </a:fld>
            <a:endParaRPr lang="en-US"/>
          </a:p>
        </p:txBody>
      </p:sp>
      <p:sp>
        <p:nvSpPr>
          <p:cNvPr id="20" name="Footer Placeholder 19"/>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229224" y="0"/>
            <a:ext cx="3914775" cy="5657850"/>
          </a:xfrm>
        </p:spPr>
        <p:txBody>
          <a:bodyPr anchor="ctr" anchorCtr="0"/>
          <a:lstStyle>
            <a:lvl1pPr marL="0" indent="0" algn="ctr">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352426" y="1600199"/>
            <a:ext cx="4572000" cy="3593237"/>
          </a:xfrm>
        </p:spPr>
        <p:txBody>
          <a:bodyPr>
            <a:normAutofit/>
          </a:bodyPr>
          <a:lstStyle>
            <a:lvl1pPr marL="0" indent="0">
              <a:lnSpc>
                <a:spcPct val="150000"/>
              </a:lnSpc>
              <a:spcBef>
                <a:spcPts val="0"/>
              </a:spcBef>
              <a:buNone/>
              <a:defRPr sz="1600" i="1">
                <a:solidFill>
                  <a:schemeClr val="tx1"/>
                </a:solidFill>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lvl="0"/>
            <a:r>
              <a:rPr lang="en-US" smtClean="0"/>
              <a:t>Click to edit Master text styles</a:t>
            </a:r>
          </a:p>
        </p:txBody>
      </p:sp>
      <p:sp>
        <p:nvSpPr>
          <p:cNvPr id="11" name="Rectangle 10"/>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itle Placeholder 1"/>
          <p:cNvSpPr>
            <a:spLocks noGrp="1"/>
          </p:cNvSpPr>
          <p:nvPr>
            <p:ph type="title"/>
          </p:nvPr>
        </p:nvSpPr>
        <p:spPr>
          <a:xfrm>
            <a:off x="352425" y="275208"/>
            <a:ext cx="4572000" cy="1324992"/>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13" name="Date Placeholder 12"/>
          <p:cNvSpPr>
            <a:spLocks noGrp="1"/>
          </p:cNvSpPr>
          <p:nvPr>
            <p:ph type="dt" sz="half" idx="14"/>
          </p:nvPr>
        </p:nvSpPr>
        <p:spPr/>
        <p:txBody>
          <a:bodyPr/>
          <a:lstStyle/>
          <a:p>
            <a:fld id="{1D8BD707-D9CF-40AE-B4C6-C98DA3205C09}" type="datetimeFigureOut">
              <a:rPr lang="en-US" smtClean="0"/>
              <a:pPr/>
              <a:t>4/27/2012</a:t>
            </a:fld>
            <a:endParaRPr lang="en-US"/>
          </a:p>
        </p:txBody>
      </p:sp>
      <p:sp>
        <p:nvSpPr>
          <p:cNvPr id="20" name="Slide Number Placeholder 19"/>
          <p:cNvSpPr>
            <a:spLocks noGrp="1"/>
          </p:cNvSpPr>
          <p:nvPr>
            <p:ph type="sldNum" sz="quarter" idx="15"/>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6"/>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426" y="228600"/>
            <a:ext cx="7680960" cy="10668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52426" y="1463040"/>
            <a:ext cx="768096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52426" y="6543676"/>
            <a:ext cx="1466850" cy="247650"/>
          </a:xfrm>
          <a:prstGeom prst="rect">
            <a:avLst/>
          </a:prstGeom>
        </p:spPr>
        <p:txBody>
          <a:bodyPr vert="horz" lIns="91440" tIns="45720" rIns="91440" bIns="45720" rtlCol="0" anchor="ctr">
            <a:normAutofit/>
          </a:bodyPr>
          <a:lstStyle>
            <a:lvl1pPr algn="l">
              <a:defRPr sz="1000" b="1">
                <a:solidFill>
                  <a:schemeClr val="tx1">
                    <a:alpha val="65000"/>
                  </a:schemeClr>
                </a:solidFill>
              </a:defRPr>
            </a:lvl1pPr>
          </a:lstStyle>
          <a:p>
            <a:fld id="{1D8BD707-D9CF-40AE-B4C6-C98DA3205C09}" type="datetimeFigureOut">
              <a:rPr lang="en-US" smtClean="0"/>
              <a:pPr/>
              <a:t>4/27/2012</a:t>
            </a:fld>
            <a:endParaRPr lang="en-US"/>
          </a:p>
        </p:txBody>
      </p:sp>
      <p:sp>
        <p:nvSpPr>
          <p:cNvPr id="5" name="Footer Placeholder 4"/>
          <p:cNvSpPr>
            <a:spLocks noGrp="1"/>
          </p:cNvSpPr>
          <p:nvPr>
            <p:ph type="ftr" sz="quarter" idx="3"/>
          </p:nvPr>
        </p:nvSpPr>
        <p:spPr>
          <a:xfrm>
            <a:off x="1809749" y="6543676"/>
            <a:ext cx="4086225" cy="247650"/>
          </a:xfrm>
          <a:prstGeom prst="rect">
            <a:avLst/>
          </a:prstGeom>
        </p:spPr>
        <p:txBody>
          <a:bodyPr vert="horz" lIns="91440" tIns="45720" rIns="91440" bIns="45720" rtlCol="0" anchor="ctr">
            <a:normAutofit/>
          </a:bodyPr>
          <a:lstStyle>
            <a:lvl1pPr algn="l">
              <a:defRPr sz="1000" b="1" i="1">
                <a:solidFill>
                  <a:schemeClr val="tx1">
                    <a:alpha val="65000"/>
                  </a:schemeClr>
                </a:solidFill>
              </a:defRPr>
            </a:lvl1pPr>
          </a:lstStyle>
          <a:p>
            <a:endParaRPr lang="en-US"/>
          </a:p>
        </p:txBody>
      </p:sp>
      <p:sp>
        <p:nvSpPr>
          <p:cNvPr id="6" name="Slide Number Placeholder 5"/>
          <p:cNvSpPr>
            <a:spLocks noGrp="1"/>
          </p:cNvSpPr>
          <p:nvPr>
            <p:ph type="sldNum" sz="quarter" idx="4"/>
          </p:nvPr>
        </p:nvSpPr>
        <p:spPr>
          <a:xfrm>
            <a:off x="7886700" y="6543676"/>
            <a:ext cx="876300" cy="247650"/>
          </a:xfrm>
          <a:prstGeom prst="rect">
            <a:avLst/>
          </a:prstGeom>
        </p:spPr>
        <p:txBody>
          <a:bodyPr vert="horz" lIns="91440" tIns="45720" rIns="91440" bIns="45720" rtlCol="0" anchor="ctr">
            <a:normAutofit/>
          </a:bodyPr>
          <a:lstStyle>
            <a:lvl1pPr algn="r">
              <a:defRPr sz="1000" b="1">
                <a:solidFill>
                  <a:schemeClr val="tx1">
                    <a:alpha val="65000"/>
                  </a:schemeClr>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ts val="400"/>
        </a:spcBef>
        <a:buNone/>
        <a:defRPr sz="4000" b="0" kern="1200" cap="none" spc="0" baseline="0">
          <a:solidFill>
            <a:schemeClr val="tx1"/>
          </a:solidFill>
          <a:latin typeface="+mj-lt"/>
          <a:ea typeface="+mj-ea"/>
          <a:cs typeface="Tunga" pitchFamily="2"/>
        </a:defRPr>
      </a:lvl1pPr>
    </p:titleStyle>
    <p:bodyStyle>
      <a:lvl1pPr marL="0" indent="0" algn="l" defTabSz="914400" rtl="0" eaLnBrk="1" latinLnBrk="0" hangingPunct="1">
        <a:spcBef>
          <a:spcPts val="1200"/>
        </a:spcBef>
        <a:spcAft>
          <a:spcPts val="0"/>
        </a:spcAft>
        <a:buClr>
          <a:schemeClr val="accent5"/>
        </a:buClr>
        <a:buFont typeface="Arial" pitchFamily="34" charset="0"/>
        <a:buNone/>
        <a:defRPr sz="1800" b="0" i="0" kern="1200" cap="none" spc="30" baseline="0">
          <a:solidFill>
            <a:schemeClr val="tx1"/>
          </a:solidFill>
          <a:latin typeface="+mn-lt"/>
          <a:ea typeface="+mn-ea"/>
          <a:cs typeface="Tahoma" pitchFamily="34" charset="0"/>
        </a:defRPr>
      </a:lvl1pPr>
      <a:lvl2pPr marL="171450" indent="-17145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2pPr>
      <a:lvl3pPr marL="344488" indent="-16510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3pPr>
      <a:lvl4pPr marL="517525" indent="-169863"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4pPr>
      <a:lvl5pPr marL="688975" indent="-173038"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5pPr>
      <a:lvl6pPr marL="8686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06984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24358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40817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5591182" cy="1368798"/>
          </a:xfrm>
        </p:spPr>
        <p:txBody>
          <a:bodyPr>
            <a:normAutofit/>
          </a:bodyPr>
          <a:lstStyle/>
          <a:p>
            <a:r>
              <a:rPr lang="en-GB" dirty="0" smtClean="0"/>
              <a:t>Daniel Rodríguez, University of </a:t>
            </a:r>
            <a:r>
              <a:rPr lang="en-GB" dirty="0" err="1" smtClean="0"/>
              <a:t>Alcalá</a:t>
            </a:r>
            <a:endParaRPr lang="en-GB" dirty="0" smtClean="0"/>
          </a:p>
        </p:txBody>
      </p:sp>
      <p:sp>
        <p:nvSpPr>
          <p:cNvPr id="2" name="Title 1"/>
          <p:cNvSpPr>
            <a:spLocks noGrp="1"/>
          </p:cNvSpPr>
          <p:nvPr>
            <p:ph type="title"/>
          </p:nvPr>
        </p:nvSpPr>
        <p:spPr/>
        <p:txBody>
          <a:bodyPr>
            <a:normAutofit/>
          </a:bodyPr>
          <a:lstStyle/>
          <a:p>
            <a:r>
              <a:rPr lang="en-GB" dirty="0" smtClean="0"/>
              <a:t>Data Carving</a:t>
            </a:r>
            <a:endParaRPr lang="en-GB" dirty="0"/>
          </a:p>
        </p:txBody>
      </p:sp>
      <p:pic>
        <p:nvPicPr>
          <p:cNvPr id="7171" name="Picture 3" descr="F:\2011\SSBSE2011\poster\logos\brookes-logo.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57800" y="5105400"/>
            <a:ext cx="2362200" cy="939202"/>
          </a:xfrm>
          <a:prstGeom prst="rect">
            <a:avLst/>
          </a:prstGeom>
          <a:noFill/>
          <a:extLst>
            <a:ext uri="{909E8E84-426E-40DD-AFC4-6F175D3DCCD1}">
              <a14:hiddenFill xmlns:a14="http://schemas.microsoft.com/office/drawing/2010/main" xmlns="">
                <a:solidFill>
                  <a:srgbClr val="FFFFFF"/>
                </a:solidFill>
              </a14:hiddenFill>
            </a:ext>
          </a:extLst>
        </p:spPr>
      </p:pic>
      <p:pic>
        <p:nvPicPr>
          <p:cNvPr id="7172" name="Picture 4" descr="F:\2011\SSBSE2011\poster\logos\uah2.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3400" y="5130501"/>
            <a:ext cx="3253513" cy="97482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473278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285750" indent="-285750">
              <a:buFont typeface="Arial" pitchFamily="34" charset="0"/>
              <a:buChar char="•"/>
            </a:pPr>
            <a:r>
              <a:rPr lang="es-ES" dirty="0" smtClean="0"/>
              <a:t>Data </a:t>
            </a:r>
            <a:r>
              <a:rPr lang="es-ES" dirty="0" err="1" smtClean="0"/>
              <a:t>transformation</a:t>
            </a:r>
            <a:endParaRPr lang="es-ES" dirty="0" smtClean="0"/>
          </a:p>
          <a:p>
            <a:pPr marL="285750" indent="-285750">
              <a:buFont typeface="Arial" pitchFamily="34" charset="0"/>
              <a:buChar char="•"/>
            </a:pPr>
            <a:r>
              <a:rPr lang="es-ES" dirty="0" err="1" smtClean="0"/>
              <a:t>Sampling</a:t>
            </a:r>
            <a:endParaRPr lang="es-ES" dirty="0" smtClean="0"/>
          </a:p>
          <a:p>
            <a:pPr marL="285750" indent="-285750">
              <a:buFont typeface="Arial" pitchFamily="34" charset="0"/>
              <a:buChar char="•"/>
            </a:pPr>
            <a:r>
              <a:rPr lang="es-ES" dirty="0" err="1" smtClean="0"/>
              <a:t>Feature</a:t>
            </a:r>
            <a:r>
              <a:rPr lang="es-ES" dirty="0" smtClean="0"/>
              <a:t> </a:t>
            </a:r>
            <a:r>
              <a:rPr lang="es-ES" dirty="0" err="1" smtClean="0"/>
              <a:t>Subset</a:t>
            </a:r>
            <a:r>
              <a:rPr lang="es-ES" dirty="0" smtClean="0"/>
              <a:t> </a:t>
            </a:r>
            <a:r>
              <a:rPr lang="es-ES" dirty="0" err="1" smtClean="0"/>
              <a:t>Selection</a:t>
            </a:r>
            <a:r>
              <a:rPr lang="es-ES" dirty="0" smtClean="0"/>
              <a:t> (FSS)</a:t>
            </a:r>
          </a:p>
          <a:p>
            <a:pPr marL="285750" indent="-285750">
              <a:buFont typeface="Arial" pitchFamily="34" charset="0"/>
              <a:buChar char="•"/>
            </a:pPr>
            <a:r>
              <a:rPr lang="es-ES" dirty="0" err="1" smtClean="0"/>
              <a:t>Feature</a:t>
            </a:r>
            <a:r>
              <a:rPr lang="es-ES" dirty="0" smtClean="0"/>
              <a:t> Ranking</a:t>
            </a:r>
          </a:p>
          <a:p>
            <a:pPr marL="285750" indent="-285750">
              <a:buFont typeface="Arial" pitchFamily="34" charset="0"/>
              <a:buChar char="•"/>
            </a:pPr>
            <a:r>
              <a:rPr lang="es-ES" dirty="0" err="1" smtClean="0"/>
              <a:t>Instance</a:t>
            </a:r>
            <a:r>
              <a:rPr lang="es-ES" dirty="0" smtClean="0"/>
              <a:t> </a:t>
            </a:r>
            <a:r>
              <a:rPr lang="es-ES" dirty="0" err="1" smtClean="0"/>
              <a:t>Selection</a:t>
            </a:r>
            <a:endParaRPr lang="es-ES" dirty="0"/>
          </a:p>
          <a:p>
            <a:pPr marL="285750" indent="-285750">
              <a:buFont typeface="Arial" pitchFamily="34" charset="0"/>
              <a:buChar char="•"/>
            </a:pPr>
            <a:endParaRPr lang="en-GB" dirty="0"/>
          </a:p>
        </p:txBody>
      </p:sp>
      <p:sp>
        <p:nvSpPr>
          <p:cNvPr id="3" name="Title 2"/>
          <p:cNvSpPr>
            <a:spLocks noGrp="1"/>
          </p:cNvSpPr>
          <p:nvPr>
            <p:ph type="title"/>
          </p:nvPr>
        </p:nvSpPr>
        <p:spPr/>
        <p:txBody>
          <a:bodyPr/>
          <a:lstStyle/>
          <a:p>
            <a:r>
              <a:rPr lang="es-ES" dirty="0" err="1" smtClean="0"/>
              <a:t>Outline</a:t>
            </a:r>
            <a:endParaRPr lang="en-GB" dirty="0"/>
          </a:p>
        </p:txBody>
      </p:sp>
    </p:spTree>
    <p:extLst>
      <p:ext uri="{BB962C8B-B14F-4D97-AF65-F5344CB8AC3E}">
        <p14:creationId xmlns:p14="http://schemas.microsoft.com/office/powerpoint/2010/main" xmlns="" val="35339371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Many algorithms require data to be symmetrical, i.e., following the normal (Gaussian) distribution.</a:t>
            </a:r>
          </a:p>
          <a:p>
            <a:r>
              <a:rPr lang="en-GB" dirty="0" smtClean="0"/>
              <a:t>Typical transformations include:</a:t>
            </a:r>
          </a:p>
          <a:p>
            <a:r>
              <a:rPr lang="en-GB" dirty="0"/>
              <a:t> </a:t>
            </a:r>
            <a:r>
              <a:rPr lang="en-GB" dirty="0" smtClean="0"/>
              <a:t>log </a:t>
            </a:r>
            <a:r>
              <a:rPr lang="en-GB" dirty="0" err="1" smtClean="0"/>
              <a:t>tranformations</a:t>
            </a:r>
            <a:r>
              <a:rPr lang="en-GB" dirty="0" smtClean="0"/>
              <a:t>, power, etc.</a:t>
            </a:r>
          </a:p>
          <a:p>
            <a:endParaRPr lang="en-GB" dirty="0" smtClean="0"/>
          </a:p>
          <a:p>
            <a:endParaRPr lang="en-GB" dirty="0"/>
          </a:p>
          <a:p>
            <a:endParaRPr lang="en-GB" dirty="0"/>
          </a:p>
        </p:txBody>
      </p:sp>
      <p:sp>
        <p:nvSpPr>
          <p:cNvPr id="3" name="Title 2"/>
          <p:cNvSpPr>
            <a:spLocks noGrp="1"/>
          </p:cNvSpPr>
          <p:nvPr>
            <p:ph type="title"/>
          </p:nvPr>
        </p:nvSpPr>
        <p:spPr/>
        <p:txBody>
          <a:bodyPr/>
          <a:lstStyle/>
          <a:p>
            <a:r>
              <a:rPr lang="en-GB" dirty="0" smtClean="0"/>
              <a:t>Data transformation</a:t>
            </a:r>
            <a:endParaRPr lang="en-GB" dirty="0"/>
          </a:p>
        </p:txBody>
      </p:sp>
    </p:spTree>
    <p:extLst>
      <p:ext uri="{BB962C8B-B14F-4D97-AF65-F5344CB8AC3E}">
        <p14:creationId xmlns:p14="http://schemas.microsoft.com/office/powerpoint/2010/main" xmlns="" val="27689780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dirty="0"/>
              <a:t>When </a:t>
            </a:r>
            <a:r>
              <a:rPr lang="en-US" dirty="0" smtClean="0"/>
              <a:t>dealing with </a:t>
            </a:r>
            <a:r>
              <a:rPr lang="en-US" dirty="0"/>
              <a:t>imbalanced datasets, there are two alternatives, either (i) sampling </a:t>
            </a:r>
            <a:r>
              <a:rPr lang="en-US" dirty="0" smtClean="0"/>
              <a:t>or balancing techniques, cost or robust algorithms.</a:t>
            </a:r>
          </a:p>
          <a:p>
            <a:pPr marL="285750" indent="-285750">
              <a:buFont typeface="Arial" pitchFamily="34" charset="0"/>
              <a:buChar char="•"/>
            </a:pPr>
            <a:r>
              <a:rPr lang="en-US" dirty="0" smtClean="0"/>
              <a:t>Over-sampling </a:t>
            </a:r>
            <a:r>
              <a:rPr lang="en-US" dirty="0"/>
              <a:t>algorithms aimed at balancing the </a:t>
            </a:r>
            <a:r>
              <a:rPr lang="en-US" dirty="0" smtClean="0"/>
              <a:t>class distribution </a:t>
            </a:r>
            <a:r>
              <a:rPr lang="en-US" dirty="0"/>
              <a:t>increasing the minority </a:t>
            </a:r>
            <a:r>
              <a:rPr lang="en-US" dirty="0" smtClean="0"/>
              <a:t>class</a:t>
            </a:r>
          </a:p>
          <a:p>
            <a:pPr marL="630238" lvl="2" indent="-285750"/>
            <a:r>
              <a:rPr lang="es-ES" dirty="0" smtClean="0"/>
              <a:t>Res-</a:t>
            </a:r>
            <a:r>
              <a:rPr lang="es-ES" dirty="0" err="1" smtClean="0"/>
              <a:t>ampling</a:t>
            </a:r>
            <a:r>
              <a:rPr lang="es-ES" dirty="0"/>
              <a:t>: </a:t>
            </a:r>
            <a:r>
              <a:rPr lang="es-ES" dirty="0" err="1" smtClean="0"/>
              <a:t>Duplication</a:t>
            </a:r>
            <a:r>
              <a:rPr lang="es-ES" dirty="0" smtClean="0"/>
              <a:t> of </a:t>
            </a:r>
            <a:r>
              <a:rPr lang="es-ES" dirty="0" err="1" smtClean="0"/>
              <a:t>random</a:t>
            </a:r>
            <a:r>
              <a:rPr lang="es-ES" dirty="0" smtClean="0"/>
              <a:t> </a:t>
            </a:r>
            <a:r>
              <a:rPr lang="es-ES" dirty="0" err="1" smtClean="0"/>
              <a:t>instances</a:t>
            </a:r>
            <a:r>
              <a:rPr lang="es-ES" dirty="0" smtClean="0"/>
              <a:t> of </a:t>
            </a:r>
            <a:r>
              <a:rPr lang="es-ES" dirty="0" err="1" smtClean="0"/>
              <a:t>the</a:t>
            </a:r>
            <a:r>
              <a:rPr lang="es-ES" dirty="0" smtClean="0"/>
              <a:t> </a:t>
            </a:r>
            <a:r>
              <a:rPr lang="es-ES" dirty="0" err="1" smtClean="0"/>
              <a:t>minority</a:t>
            </a:r>
            <a:r>
              <a:rPr lang="es-ES" dirty="0" smtClean="0"/>
              <a:t> </a:t>
            </a:r>
            <a:r>
              <a:rPr lang="es-ES" dirty="0" err="1" smtClean="0"/>
              <a:t>class</a:t>
            </a:r>
            <a:r>
              <a:rPr lang="es-ES" dirty="0" smtClean="0"/>
              <a:t>(es)</a:t>
            </a:r>
          </a:p>
          <a:p>
            <a:pPr marL="630238" lvl="2" indent="-285750"/>
            <a:r>
              <a:rPr lang="es-ES" dirty="0"/>
              <a:t>SMOTE: Generación por interpolación de instancias </a:t>
            </a:r>
            <a:r>
              <a:rPr lang="es-ES" dirty="0" smtClean="0"/>
              <a:t>minoritarias</a:t>
            </a:r>
            <a:endParaRPr lang="es-ES" dirty="0"/>
          </a:p>
          <a:p>
            <a:pPr marL="285750" indent="-285750">
              <a:buFont typeface="Arial" pitchFamily="34" charset="0"/>
              <a:buChar char="•"/>
            </a:pPr>
            <a:r>
              <a:rPr lang="en-US" dirty="0" smtClean="0"/>
              <a:t>Under-sampling </a:t>
            </a:r>
            <a:r>
              <a:rPr lang="en-US" dirty="0"/>
              <a:t>algorithms </a:t>
            </a:r>
            <a:r>
              <a:rPr lang="en-US" dirty="0" smtClean="0"/>
              <a:t>that balance </a:t>
            </a:r>
            <a:r>
              <a:rPr lang="en-US" dirty="0"/>
              <a:t>the class removing instances from the majority </a:t>
            </a:r>
            <a:r>
              <a:rPr lang="en-US" dirty="0" smtClean="0"/>
              <a:t>classes:</a:t>
            </a:r>
          </a:p>
          <a:p>
            <a:pPr marL="630238" lvl="2" indent="-285750"/>
            <a:r>
              <a:rPr lang="en-US" dirty="0" smtClean="0"/>
              <a:t>Random </a:t>
            </a:r>
            <a:r>
              <a:rPr lang="en-US" dirty="0" err="1" smtClean="0"/>
              <a:t>Undersampling</a:t>
            </a:r>
            <a:endParaRPr lang="en-US" dirty="0" smtClean="0"/>
          </a:p>
          <a:p>
            <a:pPr marL="630238" lvl="2" indent="-285750"/>
            <a:r>
              <a:rPr lang="en-GB" dirty="0"/>
              <a:t>Wilson Editing </a:t>
            </a:r>
            <a:r>
              <a:rPr lang="en-GB" dirty="0" smtClean="0"/>
              <a:t>aka Edited </a:t>
            </a:r>
            <a:r>
              <a:rPr lang="en-GB" dirty="0"/>
              <a:t>Nearest </a:t>
            </a:r>
            <a:r>
              <a:rPr lang="en-GB" dirty="0" err="1"/>
              <a:t>Neighbor</a:t>
            </a:r>
            <a:r>
              <a:rPr lang="en-GB" dirty="0"/>
              <a:t> (ENN)</a:t>
            </a:r>
          </a:p>
          <a:p>
            <a:pPr marL="630238" lvl="2" indent="-285750"/>
            <a:r>
              <a:rPr lang="en-GB" dirty="0" err="1" smtClean="0"/>
              <a:t>Tomek</a:t>
            </a:r>
            <a:r>
              <a:rPr lang="en-GB" dirty="0" smtClean="0"/>
              <a:t> Links</a:t>
            </a:r>
            <a:endParaRPr lang="en-GB" dirty="0"/>
          </a:p>
          <a:p>
            <a:pPr marL="285750" indent="-285750">
              <a:buFont typeface="Arial" pitchFamily="34" charset="0"/>
              <a:buChar char="•"/>
            </a:pPr>
            <a:endParaRPr lang="en-GB" dirty="0"/>
          </a:p>
        </p:txBody>
      </p:sp>
      <p:sp>
        <p:nvSpPr>
          <p:cNvPr id="3" name="Title 2"/>
          <p:cNvSpPr>
            <a:spLocks noGrp="1"/>
          </p:cNvSpPr>
          <p:nvPr>
            <p:ph type="title"/>
          </p:nvPr>
        </p:nvSpPr>
        <p:spPr/>
        <p:txBody>
          <a:bodyPr/>
          <a:lstStyle/>
          <a:p>
            <a:r>
              <a:rPr lang="en-GB" dirty="0" smtClean="0"/>
              <a:t>Sampling techniques</a:t>
            </a:r>
            <a:endParaRPr lang="en-GB" dirty="0"/>
          </a:p>
        </p:txBody>
      </p:sp>
    </p:spTree>
    <p:extLst>
      <p:ext uri="{BB962C8B-B14F-4D97-AF65-F5344CB8AC3E}">
        <p14:creationId xmlns:p14="http://schemas.microsoft.com/office/powerpoint/2010/main" xmlns="" val="8273632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Example:</a:t>
            </a:r>
          </a:p>
          <a:p>
            <a:endParaRPr lang="en-GB" dirty="0"/>
          </a:p>
          <a:p>
            <a:endParaRPr lang="en-GB" dirty="0"/>
          </a:p>
        </p:txBody>
      </p:sp>
      <p:sp>
        <p:nvSpPr>
          <p:cNvPr id="3" name="Title 2"/>
          <p:cNvSpPr>
            <a:spLocks noGrp="1"/>
          </p:cNvSpPr>
          <p:nvPr>
            <p:ph type="title"/>
          </p:nvPr>
        </p:nvSpPr>
        <p:spPr/>
        <p:txBody>
          <a:bodyPr/>
          <a:lstStyle/>
          <a:p>
            <a:r>
              <a:rPr lang="en-GB" dirty="0" smtClean="0"/>
              <a:t>SMOTE</a:t>
            </a:r>
            <a:endParaRPr lang="en-GB" dirty="0"/>
          </a:p>
        </p:txBody>
      </p:sp>
      <p:sp>
        <p:nvSpPr>
          <p:cNvPr id="4" name="Text Box 23"/>
          <p:cNvSpPr txBox="1">
            <a:spLocks noChangeArrowheads="1"/>
          </p:cNvSpPr>
          <p:nvPr/>
        </p:nvSpPr>
        <p:spPr bwMode="auto">
          <a:xfrm>
            <a:off x="609600" y="5334000"/>
            <a:ext cx="3924300" cy="129266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xmlns="">
                <a:solidFill>
                  <a:srgbClr val="FFFFFF"/>
                </a:solidFill>
              </a14:hiddenFill>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800" dirty="0">
                <a:latin typeface="Tahoma" pitchFamily="34" charset="0"/>
              </a:rPr>
              <a:t> </a:t>
            </a:r>
          </a:p>
          <a:p>
            <a:pPr eaLnBrk="1" hangingPunct="1"/>
            <a:r>
              <a:rPr lang="en-US" dirty="0">
                <a:latin typeface="Tahoma" pitchFamily="34" charset="0"/>
              </a:rPr>
              <a:t>        </a:t>
            </a:r>
            <a:r>
              <a:rPr lang="en-US" dirty="0" smtClean="0">
                <a:latin typeface="Tahoma" pitchFamily="34" charset="0"/>
              </a:rPr>
              <a:t>Class A (</a:t>
            </a:r>
            <a:r>
              <a:rPr lang="en-US" dirty="0" err="1" smtClean="0">
                <a:latin typeface="Tahoma" pitchFamily="34" charset="0"/>
              </a:rPr>
              <a:t>mayority</a:t>
            </a:r>
            <a:r>
              <a:rPr lang="en-US" dirty="0" smtClean="0">
                <a:latin typeface="Tahoma" pitchFamily="34" charset="0"/>
              </a:rPr>
              <a:t> class)</a:t>
            </a:r>
            <a:endParaRPr lang="en-US" dirty="0">
              <a:latin typeface="Tahoma" pitchFamily="34" charset="0"/>
            </a:endParaRPr>
          </a:p>
          <a:p>
            <a:pPr eaLnBrk="1" hangingPunct="1"/>
            <a:r>
              <a:rPr lang="en-US" sz="800" dirty="0">
                <a:latin typeface="Tahoma" pitchFamily="34" charset="0"/>
              </a:rPr>
              <a:t>  </a:t>
            </a:r>
          </a:p>
          <a:p>
            <a:pPr eaLnBrk="1" hangingPunct="1"/>
            <a:r>
              <a:rPr lang="en-US" dirty="0">
                <a:latin typeface="Tahoma" pitchFamily="34" charset="0"/>
              </a:rPr>
              <a:t>        </a:t>
            </a:r>
            <a:r>
              <a:rPr lang="en-US" dirty="0" smtClean="0">
                <a:latin typeface="Tahoma" pitchFamily="34" charset="0"/>
              </a:rPr>
              <a:t>Class B (Minority class)</a:t>
            </a:r>
            <a:endParaRPr lang="en-US" dirty="0">
              <a:latin typeface="Tahoma" pitchFamily="34" charset="0"/>
            </a:endParaRPr>
          </a:p>
          <a:p>
            <a:pPr eaLnBrk="1" hangingPunct="1"/>
            <a:endParaRPr lang="en-US" sz="800" dirty="0">
              <a:latin typeface="Tahoma" pitchFamily="34" charset="0"/>
            </a:endParaRPr>
          </a:p>
          <a:p>
            <a:pPr eaLnBrk="1" hangingPunct="1"/>
            <a:r>
              <a:rPr lang="en-US" dirty="0">
                <a:latin typeface="Tahoma" pitchFamily="34" charset="0"/>
              </a:rPr>
              <a:t>        </a:t>
            </a:r>
            <a:r>
              <a:rPr lang="en-US" dirty="0" smtClean="0">
                <a:latin typeface="Tahoma" pitchFamily="34" charset="0"/>
              </a:rPr>
              <a:t>Synthetic samples</a:t>
            </a:r>
            <a:endParaRPr lang="en-US" dirty="0">
              <a:latin typeface="Tahoma" pitchFamily="34" charset="0"/>
            </a:endParaRPr>
          </a:p>
        </p:txBody>
      </p:sp>
      <p:sp>
        <p:nvSpPr>
          <p:cNvPr id="6" name="Oval 7"/>
          <p:cNvSpPr>
            <a:spLocks noChangeArrowheads="1"/>
          </p:cNvSpPr>
          <p:nvPr/>
        </p:nvSpPr>
        <p:spPr bwMode="auto">
          <a:xfrm>
            <a:off x="3048000" y="2852738"/>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sp>
        <p:nvSpPr>
          <p:cNvPr id="7" name="Oval 8"/>
          <p:cNvSpPr>
            <a:spLocks noChangeArrowheads="1"/>
          </p:cNvSpPr>
          <p:nvPr/>
        </p:nvSpPr>
        <p:spPr bwMode="auto">
          <a:xfrm>
            <a:off x="2057400" y="4681538"/>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sp>
        <p:nvSpPr>
          <p:cNvPr id="8" name="Oval 10"/>
          <p:cNvSpPr>
            <a:spLocks noChangeArrowheads="1"/>
          </p:cNvSpPr>
          <p:nvPr/>
        </p:nvSpPr>
        <p:spPr bwMode="auto">
          <a:xfrm>
            <a:off x="762000" y="5867400"/>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grpSp>
        <p:nvGrpSpPr>
          <p:cNvPr id="9" name="Group 30"/>
          <p:cNvGrpSpPr>
            <a:grpSpLocks/>
          </p:cNvGrpSpPr>
          <p:nvPr/>
        </p:nvGrpSpPr>
        <p:grpSpPr bwMode="auto">
          <a:xfrm>
            <a:off x="3771900" y="2514600"/>
            <a:ext cx="1790700" cy="1433513"/>
            <a:chOff x="2280" y="1392"/>
            <a:chExt cx="1128" cy="903"/>
          </a:xfrm>
        </p:grpSpPr>
        <p:sp>
          <p:nvSpPr>
            <p:cNvPr id="10" name="Line 12"/>
            <p:cNvSpPr>
              <a:spLocks noChangeShapeType="1"/>
            </p:cNvSpPr>
            <p:nvPr/>
          </p:nvSpPr>
          <p:spPr bwMode="auto">
            <a:xfrm flipV="1">
              <a:off x="2280" y="1392"/>
              <a:ext cx="1128" cy="90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GB"/>
            </a:p>
          </p:txBody>
        </p:sp>
        <p:sp>
          <p:nvSpPr>
            <p:cNvPr id="11" name="Oval 13"/>
            <p:cNvSpPr>
              <a:spLocks noChangeArrowheads="1"/>
            </p:cNvSpPr>
            <p:nvPr/>
          </p:nvSpPr>
          <p:spPr bwMode="auto">
            <a:xfrm>
              <a:off x="2976" y="1605"/>
              <a:ext cx="144" cy="144"/>
            </a:xfrm>
            <a:prstGeom prst="ellipse">
              <a:avLst/>
            </a:prstGeom>
            <a:solidFill>
              <a:srgbClr val="0099CC"/>
            </a:solidFill>
            <a:ln w="28575">
              <a:solidFill>
                <a:srgbClr val="800000"/>
              </a:solidFill>
              <a:prstDash val="sysDot"/>
              <a:round/>
              <a:headEnd type="none" w="sm" len="sm"/>
              <a:tailEnd type="none" w="sm" len="sm"/>
            </a:ln>
          </p:spPr>
          <p:txBody>
            <a:bodyPr wrap="none" anchor="ctr"/>
            <a:lstStyle/>
            <a:p>
              <a:endParaRPr lang="en-US"/>
            </a:p>
          </p:txBody>
        </p:sp>
      </p:grpSp>
      <p:grpSp>
        <p:nvGrpSpPr>
          <p:cNvPr id="12" name="Group 29"/>
          <p:cNvGrpSpPr>
            <a:grpSpLocks/>
          </p:cNvGrpSpPr>
          <p:nvPr/>
        </p:nvGrpSpPr>
        <p:grpSpPr bwMode="auto">
          <a:xfrm>
            <a:off x="3733800" y="4224338"/>
            <a:ext cx="1066800" cy="838200"/>
            <a:chOff x="2256" y="2469"/>
            <a:chExt cx="672" cy="528"/>
          </a:xfrm>
        </p:grpSpPr>
        <p:sp>
          <p:nvSpPr>
            <p:cNvPr id="13" name="Line 14"/>
            <p:cNvSpPr>
              <a:spLocks noChangeShapeType="1"/>
            </p:cNvSpPr>
            <p:nvPr/>
          </p:nvSpPr>
          <p:spPr bwMode="auto">
            <a:xfrm>
              <a:off x="2256" y="2469"/>
              <a:ext cx="672" cy="52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GB"/>
            </a:p>
          </p:txBody>
        </p:sp>
        <p:sp>
          <p:nvSpPr>
            <p:cNvPr id="14" name="Oval 15"/>
            <p:cNvSpPr>
              <a:spLocks noChangeArrowheads="1"/>
            </p:cNvSpPr>
            <p:nvPr/>
          </p:nvSpPr>
          <p:spPr bwMode="auto">
            <a:xfrm>
              <a:off x="2640" y="2757"/>
              <a:ext cx="144" cy="144"/>
            </a:xfrm>
            <a:prstGeom prst="ellipse">
              <a:avLst/>
            </a:prstGeom>
            <a:solidFill>
              <a:srgbClr val="0099CC"/>
            </a:solidFill>
            <a:ln w="12700" cap="sq">
              <a:solidFill>
                <a:schemeClr val="tx1"/>
              </a:solidFill>
              <a:round/>
              <a:headEnd type="none" w="sm" len="sm"/>
              <a:tailEnd type="none" w="sm" len="sm"/>
            </a:ln>
          </p:spPr>
          <p:txBody>
            <a:bodyPr wrap="none" anchor="ctr"/>
            <a:lstStyle/>
            <a:p>
              <a:pPr algn="ctr"/>
              <a:endParaRPr lang="en-US" sz="2400">
                <a:latin typeface="Times New Roman" charset="0"/>
              </a:endParaRPr>
            </a:p>
          </p:txBody>
        </p:sp>
      </p:grpSp>
      <p:grpSp>
        <p:nvGrpSpPr>
          <p:cNvPr id="15" name="Group 31"/>
          <p:cNvGrpSpPr>
            <a:grpSpLocks/>
          </p:cNvGrpSpPr>
          <p:nvPr/>
        </p:nvGrpSpPr>
        <p:grpSpPr bwMode="auto">
          <a:xfrm>
            <a:off x="2419350" y="4162425"/>
            <a:ext cx="1066800" cy="609600"/>
            <a:chOff x="1428" y="2430"/>
            <a:chExt cx="672" cy="384"/>
          </a:xfrm>
        </p:grpSpPr>
        <p:sp>
          <p:nvSpPr>
            <p:cNvPr id="16" name="Line 18"/>
            <p:cNvSpPr>
              <a:spLocks noChangeShapeType="1"/>
            </p:cNvSpPr>
            <p:nvPr/>
          </p:nvSpPr>
          <p:spPr bwMode="auto">
            <a:xfrm flipH="1">
              <a:off x="1428" y="2430"/>
              <a:ext cx="672" cy="38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GB"/>
            </a:p>
          </p:txBody>
        </p:sp>
        <p:sp>
          <p:nvSpPr>
            <p:cNvPr id="17" name="Oval 16"/>
            <p:cNvSpPr>
              <a:spLocks noChangeArrowheads="1"/>
            </p:cNvSpPr>
            <p:nvPr/>
          </p:nvSpPr>
          <p:spPr bwMode="auto">
            <a:xfrm>
              <a:off x="1680" y="2565"/>
              <a:ext cx="144" cy="144"/>
            </a:xfrm>
            <a:prstGeom prst="ellipse">
              <a:avLst/>
            </a:prstGeom>
            <a:solidFill>
              <a:srgbClr val="0099CC"/>
            </a:solidFill>
            <a:ln w="12700" cap="sq">
              <a:solidFill>
                <a:schemeClr val="tx1"/>
              </a:solidFill>
              <a:round/>
              <a:headEnd type="none" w="sm" len="sm"/>
              <a:tailEnd type="none" w="sm" len="sm"/>
            </a:ln>
          </p:spPr>
          <p:txBody>
            <a:bodyPr wrap="none" anchor="ctr"/>
            <a:lstStyle/>
            <a:p>
              <a:pPr algn="ctr"/>
              <a:endParaRPr lang="en-US" sz="2400">
                <a:latin typeface="Times New Roman" charset="0"/>
              </a:endParaRPr>
            </a:p>
          </p:txBody>
        </p:sp>
      </p:grpSp>
      <p:sp>
        <p:nvSpPr>
          <p:cNvPr id="18" name="Oval 17"/>
          <p:cNvSpPr>
            <a:spLocks noChangeArrowheads="1"/>
          </p:cNvSpPr>
          <p:nvPr/>
        </p:nvSpPr>
        <p:spPr bwMode="auto">
          <a:xfrm>
            <a:off x="838200" y="6324600"/>
            <a:ext cx="228600" cy="228600"/>
          </a:xfrm>
          <a:prstGeom prst="ellipse">
            <a:avLst/>
          </a:prstGeom>
          <a:solidFill>
            <a:srgbClr val="0099CC"/>
          </a:solidFill>
          <a:ln w="12700" cap="sq">
            <a:solidFill>
              <a:schemeClr val="tx1"/>
            </a:solidFill>
            <a:round/>
            <a:headEnd type="none" w="sm" len="sm"/>
            <a:tailEnd type="none" w="sm" len="sm"/>
          </a:ln>
        </p:spPr>
        <p:txBody>
          <a:bodyPr wrap="none" anchor="ctr"/>
          <a:lstStyle/>
          <a:p>
            <a:pPr algn="ctr"/>
            <a:endParaRPr lang="en-US" sz="2400">
              <a:latin typeface="Times New Roman" charset="0"/>
            </a:endParaRPr>
          </a:p>
        </p:txBody>
      </p:sp>
      <p:sp>
        <p:nvSpPr>
          <p:cNvPr id="20" name="Oval 21"/>
          <p:cNvSpPr>
            <a:spLocks noChangeArrowheads="1"/>
          </p:cNvSpPr>
          <p:nvPr/>
        </p:nvSpPr>
        <p:spPr bwMode="auto">
          <a:xfrm>
            <a:off x="4343400" y="3157538"/>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21" name="Oval 22"/>
          <p:cNvSpPr>
            <a:spLocks noChangeArrowheads="1"/>
          </p:cNvSpPr>
          <p:nvPr/>
        </p:nvSpPr>
        <p:spPr bwMode="auto">
          <a:xfrm>
            <a:off x="762000" y="5424488"/>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22" name="Oval 9"/>
          <p:cNvSpPr>
            <a:spLocks noChangeArrowheads="1"/>
          </p:cNvSpPr>
          <p:nvPr/>
        </p:nvSpPr>
        <p:spPr bwMode="auto">
          <a:xfrm>
            <a:off x="4667250" y="4953000"/>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sp>
        <p:nvSpPr>
          <p:cNvPr id="23" name="Oval 4"/>
          <p:cNvSpPr>
            <a:spLocks noChangeArrowheads="1"/>
          </p:cNvSpPr>
          <p:nvPr/>
        </p:nvSpPr>
        <p:spPr bwMode="auto">
          <a:xfrm>
            <a:off x="3462338" y="3857625"/>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sp>
        <p:nvSpPr>
          <p:cNvPr id="24" name="Oval 5"/>
          <p:cNvSpPr>
            <a:spLocks noChangeArrowheads="1"/>
          </p:cNvSpPr>
          <p:nvPr/>
        </p:nvSpPr>
        <p:spPr bwMode="auto">
          <a:xfrm>
            <a:off x="5410200" y="2243138"/>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sp>
        <p:nvSpPr>
          <p:cNvPr id="25" name="Oval 34"/>
          <p:cNvSpPr>
            <a:spLocks noChangeArrowheads="1"/>
          </p:cNvSpPr>
          <p:nvPr/>
        </p:nvSpPr>
        <p:spPr bwMode="auto">
          <a:xfrm>
            <a:off x="5486400" y="3962400"/>
            <a:ext cx="381000" cy="381000"/>
          </a:xfrm>
          <a:prstGeom prst="ellipse">
            <a:avLst/>
          </a:prstGeom>
          <a:solidFill>
            <a:srgbClr val="006699"/>
          </a:solidFill>
          <a:ln w="12700" cap="sq">
            <a:solidFill>
              <a:schemeClr val="tx1"/>
            </a:solidFill>
            <a:round/>
            <a:headEnd type="none" w="sm" len="sm"/>
            <a:tailEnd type="none" w="sm" len="sm"/>
          </a:ln>
        </p:spPr>
        <p:txBody>
          <a:bodyPr wrap="none" anchor="ctr"/>
          <a:lstStyle/>
          <a:p>
            <a:endParaRPr lang="en-US"/>
          </a:p>
        </p:txBody>
      </p:sp>
      <p:sp>
        <p:nvSpPr>
          <p:cNvPr id="26" name="Oval 35"/>
          <p:cNvSpPr>
            <a:spLocks noChangeArrowheads="1"/>
          </p:cNvSpPr>
          <p:nvPr/>
        </p:nvSpPr>
        <p:spPr bwMode="auto">
          <a:xfrm>
            <a:off x="7924800" y="31623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27" name="Oval 36"/>
          <p:cNvSpPr>
            <a:spLocks noChangeArrowheads="1"/>
          </p:cNvSpPr>
          <p:nvPr/>
        </p:nvSpPr>
        <p:spPr bwMode="auto">
          <a:xfrm>
            <a:off x="6705600" y="39624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28" name="Oval 37"/>
          <p:cNvSpPr>
            <a:spLocks noChangeArrowheads="1"/>
          </p:cNvSpPr>
          <p:nvPr/>
        </p:nvSpPr>
        <p:spPr bwMode="auto">
          <a:xfrm>
            <a:off x="6400800" y="55626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29" name="Oval 38"/>
          <p:cNvSpPr>
            <a:spLocks noChangeArrowheads="1"/>
          </p:cNvSpPr>
          <p:nvPr/>
        </p:nvSpPr>
        <p:spPr bwMode="auto">
          <a:xfrm>
            <a:off x="6705600" y="25146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30" name="Oval 39"/>
          <p:cNvSpPr>
            <a:spLocks noChangeArrowheads="1"/>
          </p:cNvSpPr>
          <p:nvPr/>
        </p:nvSpPr>
        <p:spPr bwMode="auto">
          <a:xfrm>
            <a:off x="5943600" y="15240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31" name="Oval 40"/>
          <p:cNvSpPr>
            <a:spLocks noChangeArrowheads="1"/>
          </p:cNvSpPr>
          <p:nvPr/>
        </p:nvSpPr>
        <p:spPr bwMode="auto">
          <a:xfrm>
            <a:off x="7162800" y="17526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32" name="Oval 41"/>
          <p:cNvSpPr>
            <a:spLocks noChangeArrowheads="1"/>
          </p:cNvSpPr>
          <p:nvPr/>
        </p:nvSpPr>
        <p:spPr bwMode="auto">
          <a:xfrm>
            <a:off x="7620000" y="51054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
        <p:nvSpPr>
          <p:cNvPr id="33" name="Oval 42"/>
          <p:cNvSpPr>
            <a:spLocks noChangeArrowheads="1"/>
          </p:cNvSpPr>
          <p:nvPr/>
        </p:nvSpPr>
        <p:spPr bwMode="auto">
          <a:xfrm>
            <a:off x="4724400" y="1752600"/>
            <a:ext cx="381000" cy="381000"/>
          </a:xfrm>
          <a:prstGeom prst="ellipse">
            <a:avLst/>
          </a:prstGeom>
          <a:solidFill>
            <a:srgbClr val="FFFF99"/>
          </a:solidFill>
          <a:ln w="12700" cap="sq">
            <a:solidFill>
              <a:schemeClr val="tx1"/>
            </a:solidFill>
            <a:round/>
            <a:headEnd type="none" w="sm" len="sm"/>
            <a:tailEnd type="none" w="sm" len="sm"/>
          </a:ln>
        </p:spPr>
        <p:txBody>
          <a:bodyPr wrap="none" anchor="ctr"/>
          <a:lstStyle/>
          <a:p>
            <a:endParaRPr lang="en-US"/>
          </a:p>
        </p:txBody>
      </p:sp>
    </p:spTree>
    <p:extLst>
      <p:ext uri="{BB962C8B-B14F-4D97-AF65-F5344CB8AC3E}">
        <p14:creationId xmlns:p14="http://schemas.microsoft.com/office/powerpoint/2010/main" xmlns="" val="47211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par>
                          <p:cTn id="8" fill="hold">
                            <p:stCondLst>
                              <p:cond delay="2500"/>
                            </p:stCondLst>
                            <p:childTnLst>
                              <p:par>
                                <p:cTn id="9" presetID="9" presetClass="entr" presetSubtype="0" fill="hold" nodeType="afterEffect">
                                  <p:stCondLst>
                                    <p:cond delay="200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par>
                          <p:cTn id="12" fill="hold">
                            <p:stCondLst>
                              <p:cond delay="5000"/>
                            </p:stCondLst>
                            <p:childTnLst>
                              <p:par>
                                <p:cTn id="13" presetID="9" presetClass="entr" presetSubtype="0" fill="hold" nodeType="afterEffect">
                                  <p:stCondLst>
                                    <p:cond delay="100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Sampling should not be preformed over the test set</a:t>
            </a:r>
            <a:endParaRPr lang="en-GB" dirty="0"/>
          </a:p>
        </p:txBody>
      </p:sp>
      <p:sp>
        <p:nvSpPr>
          <p:cNvPr id="3" name="Title 2"/>
          <p:cNvSpPr>
            <a:spLocks noGrp="1"/>
          </p:cNvSpPr>
          <p:nvPr>
            <p:ph type="title"/>
          </p:nvPr>
        </p:nvSpPr>
        <p:spPr/>
        <p:txBody>
          <a:bodyPr/>
          <a:lstStyle/>
          <a:p>
            <a:endParaRPr lang="en-GB"/>
          </a:p>
        </p:txBody>
      </p:sp>
    </p:spTree>
    <p:extLst>
      <p:ext uri="{BB962C8B-B14F-4D97-AF65-F5344CB8AC3E}">
        <p14:creationId xmlns:p14="http://schemas.microsoft.com/office/powerpoint/2010/main" xmlns="" val="35426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dirty="0"/>
              <a:t>Data discretization </a:t>
            </a:r>
            <a:r>
              <a:rPr lang="en-US" dirty="0" smtClean="0"/>
              <a:t>transforms continuous </a:t>
            </a:r>
            <a:r>
              <a:rPr lang="en-US" dirty="0"/>
              <a:t>attributes </a:t>
            </a:r>
            <a:r>
              <a:rPr lang="en-US" dirty="0" smtClean="0"/>
              <a:t>into discrete (nominal) attributes. : </a:t>
            </a:r>
            <a:r>
              <a:rPr lang="en-US" dirty="0"/>
              <a:t>first using equal-width intervals (</a:t>
            </a:r>
            <a:r>
              <a:rPr lang="en-US" dirty="0" err="1"/>
              <a:t>orange.EquiDistDiscretization</a:t>
            </a:r>
            <a:r>
              <a:rPr lang="en-US" dirty="0"/>
              <a:t>), second using equal-frequency intervals (</a:t>
            </a:r>
            <a:r>
              <a:rPr lang="en-US" dirty="0" err="1"/>
              <a:t>orange.EquiNDiscretization</a:t>
            </a:r>
            <a:r>
              <a:rPr lang="en-US" dirty="0"/>
              <a:t>)</a:t>
            </a:r>
            <a:endParaRPr lang="en-GB" dirty="0" smtClean="0"/>
          </a:p>
          <a:p>
            <a:r>
              <a:rPr lang="en-GB" dirty="0" smtClean="0"/>
              <a:t>Unsupervised</a:t>
            </a:r>
          </a:p>
          <a:p>
            <a:pPr marL="457200" lvl="1" indent="-285750"/>
            <a:r>
              <a:rPr lang="en-GB" dirty="0" smtClean="0"/>
              <a:t>Equal size intervals</a:t>
            </a:r>
          </a:p>
          <a:p>
            <a:pPr marL="457200" lvl="1" indent="-285750"/>
            <a:endParaRPr lang="en-GB" dirty="0" smtClean="0"/>
          </a:p>
          <a:p>
            <a:pPr marL="457200" lvl="1" indent="-285750"/>
            <a:endParaRPr lang="en-GB" dirty="0" smtClean="0"/>
          </a:p>
          <a:p>
            <a:pPr marL="457200" lvl="1" indent="-285750"/>
            <a:r>
              <a:rPr lang="en-GB" dirty="0" smtClean="0"/>
              <a:t>Equal width intervals</a:t>
            </a:r>
          </a:p>
          <a:p>
            <a:pPr marL="285750" indent="-285750"/>
            <a:endParaRPr lang="en-GB" dirty="0" smtClean="0"/>
          </a:p>
          <a:p>
            <a:pPr marL="285750" indent="-285750"/>
            <a:r>
              <a:rPr lang="en-GB" dirty="0" smtClean="0"/>
              <a:t>Unsupervised </a:t>
            </a:r>
          </a:p>
          <a:p>
            <a:pPr marL="457200" lvl="1" indent="-285750"/>
            <a:r>
              <a:rPr lang="en-US" dirty="0"/>
              <a:t>Fayyad &amp; </a:t>
            </a:r>
            <a:r>
              <a:rPr lang="en-US" dirty="0" err="1"/>
              <a:t>Irani</a:t>
            </a:r>
            <a:r>
              <a:rPr lang="en-US" dirty="0"/>
              <a:t> (AAAI92) </a:t>
            </a:r>
            <a:r>
              <a:rPr lang="en-US" dirty="0" smtClean="0"/>
              <a:t>based on MDL </a:t>
            </a:r>
            <a:r>
              <a:rPr lang="en-US" dirty="0"/>
              <a:t>and entropy to find the best cut-off </a:t>
            </a:r>
            <a:r>
              <a:rPr lang="en-US" dirty="0" smtClean="0"/>
              <a:t>points considering the class attribute</a:t>
            </a:r>
          </a:p>
          <a:p>
            <a:pPr marL="457200" lvl="1" indent="-285750"/>
            <a:endParaRPr lang="en-GB" dirty="0" smtClean="0"/>
          </a:p>
        </p:txBody>
      </p:sp>
      <p:sp>
        <p:nvSpPr>
          <p:cNvPr id="3" name="Title 2"/>
          <p:cNvSpPr>
            <a:spLocks noGrp="1"/>
          </p:cNvSpPr>
          <p:nvPr>
            <p:ph type="title"/>
          </p:nvPr>
        </p:nvSpPr>
        <p:spPr/>
        <p:txBody>
          <a:bodyPr/>
          <a:lstStyle/>
          <a:p>
            <a:r>
              <a:rPr lang="en-GB" dirty="0" smtClean="0"/>
              <a:t>Discretisation</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98700" y="3213100"/>
            <a:ext cx="4457700" cy="457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73300" y="4114800"/>
            <a:ext cx="4457700" cy="3905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56141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Finds the best cut-off points</a:t>
            </a:r>
          </a:p>
          <a:p>
            <a:endParaRPr lang="en-GB" dirty="0"/>
          </a:p>
        </p:txBody>
      </p:sp>
      <p:sp>
        <p:nvSpPr>
          <p:cNvPr id="3" name="Title 2"/>
          <p:cNvSpPr>
            <a:spLocks noGrp="1"/>
          </p:cNvSpPr>
          <p:nvPr>
            <p:ph type="title"/>
          </p:nvPr>
        </p:nvSpPr>
        <p:spPr/>
        <p:txBody>
          <a:bodyPr/>
          <a:lstStyle/>
          <a:p>
            <a:r>
              <a:rPr lang="en-GB" dirty="0" smtClean="0"/>
              <a:t>Supervised Discretisation</a:t>
            </a:r>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0" y="2133600"/>
            <a:ext cx="4874964" cy="2743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179764" y="3505200"/>
            <a:ext cx="3048000" cy="136748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04800" y="4876800"/>
            <a:ext cx="3733800" cy="9680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99038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a:t>Feature selection is important in different ways:</a:t>
            </a:r>
          </a:p>
          <a:p>
            <a:pPr lvl="1"/>
            <a:r>
              <a:rPr lang="en-GB" dirty="0"/>
              <a:t>A reduced volume of data allows different data mining or searching techniques to be applied.</a:t>
            </a:r>
          </a:p>
          <a:p>
            <a:pPr lvl="1"/>
            <a:r>
              <a:rPr lang="en-GB" dirty="0" smtClean="0"/>
              <a:t>Irrelevant </a:t>
            </a:r>
            <a:r>
              <a:rPr lang="en-GB" dirty="0"/>
              <a:t>and redundant attributes can generate less accurate and more complex models. Furthermore, data mining algorithms can be executed faster.</a:t>
            </a:r>
          </a:p>
          <a:p>
            <a:pPr lvl="1"/>
            <a:r>
              <a:rPr lang="en-GB" dirty="0" smtClean="0"/>
              <a:t>We </a:t>
            </a:r>
            <a:r>
              <a:rPr lang="en-GB" dirty="0"/>
              <a:t>can avoid the collection of data for those irrelevant and redundant attributes in the future</a:t>
            </a:r>
            <a:r>
              <a:rPr lang="en-GB" dirty="0" smtClean="0"/>
              <a:t>.</a:t>
            </a:r>
          </a:p>
          <a:p>
            <a:r>
              <a:rPr lang="en-GB" dirty="0" smtClean="0"/>
              <a:t>There </a:t>
            </a:r>
            <a:r>
              <a:rPr lang="en-GB" dirty="0"/>
              <a:t>exist two major approach in feature selection from the method's output point of view depending on the way that features are evaluated:</a:t>
            </a:r>
          </a:p>
          <a:p>
            <a:pPr marL="457200" lvl="1" indent="-285750"/>
            <a:r>
              <a:rPr lang="en-GB" sz="1800" b="1" dirty="0">
                <a:solidFill>
                  <a:srgbClr val="FFFF00"/>
                </a:solidFill>
              </a:rPr>
              <a:t>Feature ranking</a:t>
            </a:r>
            <a:r>
              <a:rPr lang="en-GB" dirty="0"/>
              <a:t>, a.k.a. feature weighting, assesses individual features and assigns them weights according to their degrees of relevance</a:t>
            </a:r>
          </a:p>
          <a:p>
            <a:pPr marL="457200" lvl="1" indent="-285750"/>
            <a:r>
              <a:rPr lang="en-GB" sz="1800" b="1" dirty="0">
                <a:solidFill>
                  <a:srgbClr val="FFFF00"/>
                </a:solidFill>
              </a:rPr>
              <a:t>Feature subset selection </a:t>
            </a:r>
            <a:r>
              <a:rPr lang="en-GB" sz="1800" dirty="0">
                <a:solidFill>
                  <a:srgbClr val="FFFF00"/>
                </a:solidFill>
              </a:rPr>
              <a:t>(FSS)</a:t>
            </a:r>
            <a:r>
              <a:rPr lang="en-GB" sz="1800" dirty="0"/>
              <a:t> </a:t>
            </a:r>
            <a:r>
              <a:rPr lang="en-GB" dirty="0"/>
              <a:t>evaluate the goodness of each found feature subset (Unusually, some search strategies in combination with subset evaluation can provide a ranked list).</a:t>
            </a:r>
          </a:p>
          <a:p>
            <a:pPr lvl="1"/>
            <a:endParaRPr lang="fi-FI" dirty="0"/>
          </a:p>
          <a:p>
            <a:endParaRPr lang="en-GB" dirty="0"/>
          </a:p>
        </p:txBody>
      </p:sp>
      <p:sp>
        <p:nvSpPr>
          <p:cNvPr id="3" name="Title 2"/>
          <p:cNvSpPr>
            <a:spLocks noGrp="1"/>
          </p:cNvSpPr>
          <p:nvPr>
            <p:ph type="title"/>
          </p:nvPr>
        </p:nvSpPr>
        <p:spPr/>
        <p:txBody>
          <a:bodyPr/>
          <a:lstStyle/>
          <a:p>
            <a:r>
              <a:rPr lang="fi-FI" dirty="0"/>
              <a:t>Attribute Selection</a:t>
            </a:r>
            <a:endParaRPr lang="en-GB" dirty="0"/>
          </a:p>
        </p:txBody>
      </p:sp>
    </p:spTree>
    <p:extLst>
      <p:ext uri="{BB962C8B-B14F-4D97-AF65-F5344CB8AC3E}">
        <p14:creationId xmlns:p14="http://schemas.microsoft.com/office/powerpoint/2010/main" xmlns="" val="8429649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Feature </a:t>
            </a:r>
            <a:r>
              <a:rPr lang="en-GB" dirty="0"/>
              <a:t>ranking algorithms category, one can expect a </a:t>
            </a:r>
            <a:r>
              <a:rPr lang="en-GB" dirty="0" smtClean="0"/>
              <a:t>ranked list </a:t>
            </a:r>
            <a:r>
              <a:rPr lang="en-GB" dirty="0"/>
              <a:t>of features which are ordered according to evaluation </a:t>
            </a:r>
            <a:r>
              <a:rPr lang="en-GB" dirty="0" smtClean="0"/>
              <a:t>measures</a:t>
            </a:r>
          </a:p>
          <a:p>
            <a:pPr lvl="0"/>
            <a:r>
              <a:rPr lang="fi-FI" dirty="0" smtClean="0"/>
              <a:t>Each attribute correlation with the class is evaluated independenly of other attributes according to a statistical test  (e.g.: </a:t>
            </a:r>
            <a:r>
              <a:rPr lang="el-GR" dirty="0" smtClean="0"/>
              <a:t>χ</a:t>
            </a:r>
            <a:r>
              <a:rPr lang="es-ES" dirty="0" smtClean="0"/>
              <a:t>-</a:t>
            </a:r>
            <a:r>
              <a:rPr lang="es-ES" dirty="0" err="1" smtClean="0"/>
              <a:t>squared</a:t>
            </a:r>
            <a:r>
              <a:rPr lang="fi-FI" dirty="0" smtClean="0"/>
              <a:t>, Infogain</a:t>
            </a:r>
            <a:r>
              <a:rPr lang="fi-FI" dirty="0"/>
              <a:t>, etc.)</a:t>
            </a:r>
          </a:p>
          <a:p>
            <a:pPr marL="285750" indent="-285750">
              <a:buFont typeface="Arial" pitchFamily="34" charset="0"/>
              <a:buChar char="•"/>
            </a:pPr>
            <a:r>
              <a:rPr lang="en-GB" dirty="0" smtClean="0"/>
              <a:t>A </a:t>
            </a:r>
            <a:r>
              <a:rPr lang="en-GB" dirty="0"/>
              <a:t>subset of features is often selected from the top of a </a:t>
            </a:r>
            <a:r>
              <a:rPr lang="en-GB" dirty="0" smtClean="0"/>
              <a:t>ranking list</a:t>
            </a:r>
            <a:r>
              <a:rPr lang="en-GB" dirty="0"/>
              <a:t>. A feature is good and thus will be selected if its weight </a:t>
            </a:r>
            <a:r>
              <a:rPr lang="en-GB" dirty="0" smtClean="0"/>
              <a:t>of relevance </a:t>
            </a:r>
            <a:r>
              <a:rPr lang="en-GB" dirty="0"/>
              <a:t>is greater than a user-specified threshold value, </a:t>
            </a:r>
            <a:endParaRPr lang="en-GB" dirty="0" smtClean="0"/>
          </a:p>
          <a:p>
            <a:pPr marL="285750" indent="-285750">
              <a:buFont typeface="Arial" pitchFamily="34" charset="0"/>
              <a:buChar char="•"/>
            </a:pPr>
            <a:r>
              <a:rPr lang="en-GB" dirty="0" smtClean="0"/>
              <a:t>or we can </a:t>
            </a:r>
            <a:r>
              <a:rPr lang="en-GB" dirty="0"/>
              <a:t>simply select the first </a:t>
            </a:r>
            <a:r>
              <a:rPr lang="en-GB" i="1" dirty="0" smtClean="0"/>
              <a:t>k</a:t>
            </a:r>
            <a:r>
              <a:rPr lang="en-GB" dirty="0" smtClean="0"/>
              <a:t> </a:t>
            </a:r>
            <a:r>
              <a:rPr lang="en-GB" dirty="0"/>
              <a:t>features from the ranked list</a:t>
            </a:r>
            <a:r>
              <a:rPr lang="en-GB" dirty="0" smtClean="0"/>
              <a:t>.</a:t>
            </a:r>
          </a:p>
          <a:p>
            <a:r>
              <a:rPr lang="en-GB" dirty="0" smtClean="0"/>
              <a:t>This approach </a:t>
            </a:r>
            <a:r>
              <a:rPr lang="en-GB" dirty="0"/>
              <a:t>is efficient for high-dimensional data due to its </a:t>
            </a:r>
            <a:r>
              <a:rPr lang="en-GB" dirty="0" smtClean="0"/>
              <a:t>linear time </a:t>
            </a:r>
            <a:r>
              <a:rPr lang="en-GB" dirty="0"/>
              <a:t>complexity in terms of </a:t>
            </a:r>
            <a:r>
              <a:rPr lang="en-GB" dirty="0" smtClean="0"/>
              <a:t>dimensionality</a:t>
            </a:r>
          </a:p>
          <a:p>
            <a:r>
              <a:rPr lang="es-ES" dirty="0" err="1" smtClean="0"/>
              <a:t>Very</a:t>
            </a:r>
            <a:r>
              <a:rPr lang="es-ES" dirty="0" smtClean="0"/>
              <a:t> </a:t>
            </a:r>
            <a:r>
              <a:rPr lang="es-ES" dirty="0" err="1" smtClean="0"/>
              <a:t>fast</a:t>
            </a:r>
            <a:r>
              <a:rPr lang="es-ES" dirty="0" smtClean="0"/>
              <a:t> </a:t>
            </a:r>
            <a:r>
              <a:rPr lang="es-ES" dirty="0" err="1" smtClean="0"/>
              <a:t>method</a:t>
            </a:r>
            <a:r>
              <a:rPr lang="es-ES" dirty="0" smtClean="0"/>
              <a:t>.</a:t>
            </a:r>
            <a:endParaRPr lang="en-GB" dirty="0" smtClean="0"/>
          </a:p>
          <a:p>
            <a:r>
              <a:rPr lang="es-ES" dirty="0" err="1" smtClean="0"/>
              <a:t>However</a:t>
            </a:r>
            <a:r>
              <a:rPr lang="es-ES" dirty="0" smtClean="0"/>
              <a:t>, </a:t>
            </a:r>
            <a:r>
              <a:rPr lang="es-ES" dirty="0" err="1" smtClean="0"/>
              <a:t>it</a:t>
            </a:r>
            <a:r>
              <a:rPr lang="es-ES" dirty="0" smtClean="0"/>
              <a:t> </a:t>
            </a:r>
            <a:r>
              <a:rPr lang="es-ES" dirty="0" err="1" smtClean="0"/>
              <a:t>cannot</a:t>
            </a:r>
            <a:r>
              <a:rPr lang="es-ES" dirty="0" smtClean="0"/>
              <a:t> </a:t>
            </a:r>
            <a:r>
              <a:rPr lang="es-ES" dirty="0" err="1" smtClean="0"/>
              <a:t>detect</a:t>
            </a:r>
            <a:r>
              <a:rPr lang="es-ES" dirty="0" smtClean="0"/>
              <a:t> </a:t>
            </a:r>
            <a:r>
              <a:rPr lang="es-ES" dirty="0" err="1" smtClean="0"/>
              <a:t>redundant</a:t>
            </a:r>
            <a:r>
              <a:rPr lang="es-ES" dirty="0" smtClean="0"/>
              <a:t> </a:t>
            </a:r>
            <a:r>
              <a:rPr lang="es-ES" dirty="0" err="1" smtClean="0"/>
              <a:t>attributes</a:t>
            </a:r>
            <a:endParaRPr lang="en-GB" dirty="0"/>
          </a:p>
        </p:txBody>
      </p:sp>
      <p:sp>
        <p:nvSpPr>
          <p:cNvPr id="3" name="Title 2"/>
          <p:cNvSpPr>
            <a:spLocks noGrp="1"/>
          </p:cNvSpPr>
          <p:nvPr>
            <p:ph type="title"/>
          </p:nvPr>
        </p:nvSpPr>
        <p:spPr/>
        <p:txBody>
          <a:bodyPr/>
          <a:lstStyle/>
          <a:p>
            <a:r>
              <a:rPr lang="en-GB" dirty="0" smtClean="0"/>
              <a:t>Feature Ranking</a:t>
            </a:r>
            <a:endParaRPr lang="en-GB" dirty="0"/>
          </a:p>
        </p:txBody>
      </p:sp>
    </p:spTree>
    <p:extLst>
      <p:ext uri="{BB962C8B-B14F-4D97-AF65-F5344CB8AC3E}">
        <p14:creationId xmlns:p14="http://schemas.microsoft.com/office/powerpoint/2010/main" xmlns="" val="34852005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lnSpcReduction="20000"/>
          </a:bodyPr>
          <a:lstStyle/>
          <a:p>
            <a:r>
              <a:rPr lang="en-GB" dirty="0"/>
              <a:t>In the </a:t>
            </a:r>
            <a:r>
              <a:rPr lang="en-GB" dirty="0" smtClean="0"/>
              <a:t>FSS category, candidate subsets are </a:t>
            </a:r>
            <a:r>
              <a:rPr lang="en-GB" dirty="0"/>
              <a:t>generated based on a certain search </a:t>
            </a:r>
            <a:r>
              <a:rPr lang="en-GB" dirty="0" smtClean="0"/>
              <a:t>strategy: </a:t>
            </a:r>
          </a:p>
          <a:p>
            <a:pPr marL="285750" indent="-285750">
              <a:buFont typeface="Arial" pitchFamily="34" charset="0"/>
              <a:buChar char="•"/>
            </a:pPr>
            <a:r>
              <a:rPr lang="en-GB" b="1" dirty="0"/>
              <a:t>Exhaustive</a:t>
            </a:r>
            <a:r>
              <a:rPr lang="en-GB" dirty="0"/>
              <a:t>, </a:t>
            </a:r>
            <a:r>
              <a:rPr lang="en-GB" b="1" dirty="0"/>
              <a:t>heuristic</a:t>
            </a:r>
            <a:r>
              <a:rPr lang="en-GB" dirty="0"/>
              <a:t> and </a:t>
            </a:r>
            <a:r>
              <a:rPr lang="en-GB" b="1" dirty="0"/>
              <a:t>random</a:t>
            </a:r>
            <a:r>
              <a:rPr lang="en-GB" dirty="0"/>
              <a:t> search</a:t>
            </a:r>
          </a:p>
          <a:p>
            <a:r>
              <a:rPr lang="en-GB" dirty="0" smtClean="0"/>
              <a:t>Each candidate subset </a:t>
            </a:r>
            <a:r>
              <a:rPr lang="en-GB" dirty="0"/>
              <a:t>is evaluated by a certain </a:t>
            </a:r>
            <a:r>
              <a:rPr lang="en-GB" b="1" dirty="0"/>
              <a:t>evaluation </a:t>
            </a:r>
            <a:r>
              <a:rPr lang="en-GB" b="1" dirty="0" smtClean="0"/>
              <a:t>measure</a:t>
            </a:r>
            <a:r>
              <a:rPr lang="en-GB" dirty="0" smtClean="0"/>
              <a:t>. </a:t>
            </a:r>
            <a:r>
              <a:rPr lang="en-GB" dirty="0"/>
              <a:t>If a </a:t>
            </a:r>
            <a:r>
              <a:rPr lang="en-GB" dirty="0" smtClean="0"/>
              <a:t>new subset </a:t>
            </a:r>
            <a:r>
              <a:rPr lang="en-GB" dirty="0"/>
              <a:t>turns out to be better, it replaces the previous best </a:t>
            </a:r>
            <a:r>
              <a:rPr lang="en-GB" dirty="0" smtClean="0"/>
              <a:t>subset. The </a:t>
            </a:r>
            <a:r>
              <a:rPr lang="en-GB" dirty="0"/>
              <a:t>process of subset generation and evaluation is repeated until </a:t>
            </a:r>
            <a:r>
              <a:rPr lang="en-GB" dirty="0" smtClean="0"/>
              <a:t>a given </a:t>
            </a:r>
            <a:r>
              <a:rPr lang="en-GB" dirty="0"/>
              <a:t>stopping criterion is satisfied. </a:t>
            </a:r>
            <a:r>
              <a:rPr lang="en-GB" dirty="0" smtClean="0"/>
              <a:t>Existing </a:t>
            </a:r>
            <a:r>
              <a:rPr lang="en-GB" dirty="0"/>
              <a:t>evaluation </a:t>
            </a:r>
            <a:r>
              <a:rPr lang="en-GB" dirty="0" smtClean="0"/>
              <a:t>measures include:</a:t>
            </a:r>
            <a:endParaRPr lang="en-GB" dirty="0"/>
          </a:p>
          <a:p>
            <a:pPr lvl="1"/>
            <a:r>
              <a:rPr lang="en-GB" dirty="0" smtClean="0"/>
              <a:t>Consistency measure </a:t>
            </a:r>
            <a:r>
              <a:rPr lang="en-GB" dirty="0"/>
              <a:t>attempts to find a minimum number of features that separate classes as consistently as the full set of features can. An inconsistency is defined as to instances having the same feature values but different class labels.</a:t>
            </a:r>
          </a:p>
          <a:p>
            <a:pPr lvl="1"/>
            <a:r>
              <a:rPr lang="en-GB" dirty="0" smtClean="0"/>
              <a:t>Correlation measure </a:t>
            </a:r>
            <a:r>
              <a:rPr lang="en-GB" dirty="0"/>
              <a:t>evaluates the goodness of feature subsets based on the hypothesis that good feature subsets contain features highly correlated to the class, yet uncorrelated to each other.</a:t>
            </a:r>
          </a:p>
          <a:p>
            <a:pPr lvl="1"/>
            <a:r>
              <a:rPr lang="en-GB" dirty="0" smtClean="0"/>
              <a:t>Accuracy </a:t>
            </a:r>
            <a:r>
              <a:rPr lang="en-GB" dirty="0"/>
              <a:t>of a learning </a:t>
            </a:r>
            <a:r>
              <a:rPr lang="en-GB" dirty="0" smtClean="0"/>
              <a:t>algorithm (Wrapper-based </a:t>
            </a:r>
            <a:r>
              <a:rPr lang="en-GB" dirty="0"/>
              <a:t>attribute </a:t>
            </a:r>
            <a:r>
              <a:rPr lang="en-GB" dirty="0" smtClean="0"/>
              <a:t>selection) </a:t>
            </a:r>
            <a:r>
              <a:rPr lang="en-GB" dirty="0"/>
              <a:t>uses the target learning algorithm to estimate the worth of attribute subsets. The feature subset selection algorithm conducts a search for a good subset using the induction algorithm itself as part of the evaluation function.</a:t>
            </a:r>
          </a:p>
          <a:p>
            <a:r>
              <a:rPr lang="en-GB" dirty="0" smtClean="0"/>
              <a:t>The time complexity in </a:t>
            </a:r>
            <a:r>
              <a:rPr lang="en-GB" dirty="0"/>
              <a:t>terms of data dimensionality </a:t>
            </a:r>
            <a:r>
              <a:rPr lang="en-GB" dirty="0" smtClean="0"/>
              <a:t>is, exponential for exhaustive search, quadratic </a:t>
            </a:r>
            <a:r>
              <a:rPr lang="en-GB" dirty="0"/>
              <a:t>for heuristic </a:t>
            </a:r>
            <a:r>
              <a:rPr lang="en-GB" dirty="0" smtClean="0"/>
              <a:t>search and linear </a:t>
            </a:r>
            <a:r>
              <a:rPr lang="en-GB" dirty="0"/>
              <a:t>to the number of iterations in a </a:t>
            </a:r>
            <a:r>
              <a:rPr lang="en-GB" dirty="0" smtClean="0"/>
              <a:t>random search</a:t>
            </a:r>
          </a:p>
        </p:txBody>
      </p:sp>
      <p:sp>
        <p:nvSpPr>
          <p:cNvPr id="3" name="Title 2"/>
          <p:cNvSpPr>
            <a:spLocks noGrp="1"/>
          </p:cNvSpPr>
          <p:nvPr>
            <p:ph type="title"/>
          </p:nvPr>
        </p:nvSpPr>
        <p:spPr/>
        <p:txBody>
          <a:bodyPr/>
          <a:lstStyle/>
          <a:p>
            <a:r>
              <a:rPr lang="en-GB" dirty="0" smtClean="0"/>
              <a:t>Feature Subset Selection (FSS)</a:t>
            </a:r>
            <a:endParaRPr lang="en-GB" dirty="0"/>
          </a:p>
        </p:txBody>
      </p:sp>
    </p:spTree>
    <p:extLst>
      <p:ext uri="{BB962C8B-B14F-4D97-AF65-F5344CB8AC3E}">
        <p14:creationId xmlns:p14="http://schemas.microsoft.com/office/powerpoint/2010/main" xmlns="" val="39215329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r>
              <a:rPr lang="en-GB" dirty="0" smtClean="0"/>
              <a:t>Correlation </a:t>
            </a:r>
            <a:r>
              <a:rPr lang="en-GB" dirty="0"/>
              <a:t>measure </a:t>
            </a:r>
            <a:r>
              <a:rPr lang="en-GB" dirty="0" smtClean="0"/>
              <a:t>is applied </a:t>
            </a:r>
            <a:r>
              <a:rPr lang="en-GB" dirty="0"/>
              <a:t>in an algorithm called CFS that exploit heuristic </a:t>
            </a:r>
            <a:r>
              <a:rPr lang="en-GB" dirty="0" smtClean="0"/>
              <a:t>search (</a:t>
            </a:r>
            <a:r>
              <a:rPr lang="en-GB" dirty="0"/>
              <a:t>best first) to search for candidate feature subsets.</a:t>
            </a:r>
          </a:p>
          <a:p>
            <a:pPr marL="285750" indent="-285750">
              <a:buFont typeface="Arial" pitchFamily="34" charset="0"/>
              <a:buChar char="•"/>
            </a:pPr>
            <a:r>
              <a:rPr lang="en-GB" dirty="0" smtClean="0"/>
              <a:t>One </a:t>
            </a:r>
            <a:r>
              <a:rPr lang="en-GB" dirty="0"/>
              <a:t>of the most frequently used search techniques is </a:t>
            </a:r>
            <a:r>
              <a:rPr lang="en-GB" dirty="0" smtClean="0"/>
              <a:t>hill-climbing (</a:t>
            </a:r>
            <a:r>
              <a:rPr lang="en-GB" dirty="0"/>
              <a:t>greedy). It starts with an empty set and evaluates each </a:t>
            </a:r>
            <a:r>
              <a:rPr lang="en-GB" dirty="0" smtClean="0"/>
              <a:t>attribute individually </a:t>
            </a:r>
            <a:r>
              <a:rPr lang="en-GB" dirty="0"/>
              <a:t>to find the best single attribute. </a:t>
            </a:r>
            <a:endParaRPr lang="en-GB" dirty="0" smtClean="0"/>
          </a:p>
          <a:p>
            <a:r>
              <a:rPr lang="en-GB" dirty="0" smtClean="0"/>
              <a:t>It </a:t>
            </a:r>
            <a:r>
              <a:rPr lang="en-GB" dirty="0"/>
              <a:t>then tries </a:t>
            </a:r>
            <a:r>
              <a:rPr lang="en-GB" dirty="0" smtClean="0"/>
              <a:t>each of </a:t>
            </a:r>
            <a:r>
              <a:rPr lang="en-GB" dirty="0"/>
              <a:t>the remaining attributes in conjunction with the best to find </a:t>
            </a:r>
            <a:r>
              <a:rPr lang="en-GB" dirty="0" smtClean="0"/>
              <a:t>the most </a:t>
            </a:r>
            <a:r>
              <a:rPr lang="en-GB" dirty="0"/>
              <a:t>suited pair of attributes. In the next iteration, each of </a:t>
            </a:r>
            <a:r>
              <a:rPr lang="en-GB" dirty="0" smtClean="0"/>
              <a:t>the remaining </a:t>
            </a:r>
            <a:r>
              <a:rPr lang="en-GB" dirty="0"/>
              <a:t>attributes are tried in conjunction with the best pair </a:t>
            </a:r>
            <a:r>
              <a:rPr lang="en-GB" dirty="0" smtClean="0"/>
              <a:t>to find </a:t>
            </a:r>
            <a:r>
              <a:rPr lang="en-GB" dirty="0"/>
              <a:t>the most suited group of three </a:t>
            </a:r>
            <a:r>
              <a:rPr lang="en-GB" dirty="0" smtClean="0"/>
              <a:t>attributes.</a:t>
            </a:r>
          </a:p>
          <a:p>
            <a:r>
              <a:rPr lang="en-GB" dirty="0" smtClean="0"/>
              <a:t>This process continues </a:t>
            </a:r>
            <a:r>
              <a:rPr lang="en-GB" dirty="0"/>
              <a:t>until no single attribute addition improves the </a:t>
            </a:r>
            <a:r>
              <a:rPr lang="en-GB" dirty="0" smtClean="0"/>
              <a:t>evaluation of </a:t>
            </a:r>
            <a:r>
              <a:rPr lang="en-GB" dirty="0"/>
              <a:t>the subset; i.e., subset evaluator is run </a:t>
            </a:r>
            <a:r>
              <a:rPr lang="en-GB" dirty="0" smtClean="0"/>
              <a:t>M </a:t>
            </a:r>
            <a:r>
              <a:rPr lang="en-GB" dirty="0"/>
              <a:t>times </a:t>
            </a:r>
            <a:r>
              <a:rPr lang="en-GB" dirty="0" smtClean="0"/>
              <a:t>to choose </a:t>
            </a:r>
            <a:r>
              <a:rPr lang="en-GB" dirty="0"/>
              <a:t>the best single attribute, </a:t>
            </a:r>
            <a:r>
              <a:rPr lang="en-GB" i="1" dirty="0" smtClean="0"/>
              <a:t>M-1</a:t>
            </a:r>
            <a:r>
              <a:rPr lang="en-GB" dirty="0" smtClean="0"/>
              <a:t> </a:t>
            </a:r>
            <a:r>
              <a:rPr lang="en-GB" dirty="0"/>
              <a:t>times to find the </a:t>
            </a:r>
            <a:r>
              <a:rPr lang="en-GB" dirty="0" smtClean="0"/>
              <a:t>best pair </a:t>
            </a:r>
            <a:r>
              <a:rPr lang="en-GB" dirty="0"/>
              <a:t>of attributes, </a:t>
            </a:r>
            <a:r>
              <a:rPr lang="en-GB" i="1" dirty="0" smtClean="0"/>
              <a:t>M-2</a:t>
            </a:r>
            <a:r>
              <a:rPr lang="en-GB" dirty="0" smtClean="0"/>
              <a:t> </a:t>
            </a:r>
            <a:r>
              <a:rPr lang="en-GB" dirty="0"/>
              <a:t>times the best group of three, and </a:t>
            </a:r>
            <a:r>
              <a:rPr lang="en-GB" dirty="0" smtClean="0"/>
              <a:t>so on</a:t>
            </a:r>
            <a:r>
              <a:rPr lang="en-GB" dirty="0"/>
              <a:t>. </a:t>
            </a:r>
            <a:endParaRPr lang="en-GB" dirty="0" smtClean="0"/>
          </a:p>
          <a:p>
            <a:pPr marL="285750" indent="-285750">
              <a:buFont typeface="Arial" pitchFamily="34" charset="0"/>
              <a:buChar char="•"/>
            </a:pPr>
            <a:r>
              <a:rPr lang="en-GB" dirty="0" smtClean="0"/>
              <a:t>E.g., if </a:t>
            </a:r>
            <a:r>
              <a:rPr lang="en-GB" dirty="0"/>
              <a:t>we have chosen </a:t>
            </a:r>
            <a:r>
              <a:rPr lang="en-GB" dirty="0" smtClean="0"/>
              <a:t>5 attributes </a:t>
            </a:r>
            <a:r>
              <a:rPr lang="en-GB" dirty="0"/>
              <a:t>through </a:t>
            </a:r>
            <a:r>
              <a:rPr lang="en-GB" dirty="0" smtClean="0"/>
              <a:t>this method</a:t>
            </a:r>
            <a:r>
              <a:rPr lang="en-GB" dirty="0"/>
              <a:t>, </a:t>
            </a:r>
            <a:br>
              <a:rPr lang="en-GB" dirty="0"/>
            </a:br>
            <a:r>
              <a:rPr lang="en-GB" dirty="0" smtClean="0"/>
              <a:t>the </a:t>
            </a:r>
            <a:r>
              <a:rPr lang="en-GB" dirty="0"/>
              <a:t>subset evaluator has been </a:t>
            </a:r>
            <a:r>
              <a:rPr lang="en-GB" dirty="0" smtClean="0"/>
              <a:t>run </a:t>
            </a:r>
            <a:br>
              <a:rPr lang="en-GB" dirty="0" smtClean="0"/>
            </a:br>
            <a:r>
              <a:rPr lang="en-GB" i="1" dirty="0" smtClean="0"/>
              <a:t>M</a:t>
            </a:r>
            <a:r>
              <a:rPr lang="en-GB" i="1" dirty="0"/>
              <a:t>+(M-1)+(M-2)+(M-3)+(M-4</a:t>
            </a:r>
            <a:r>
              <a:rPr lang="en-GB" i="1" dirty="0" smtClean="0"/>
              <a:t>)</a:t>
            </a:r>
            <a:r>
              <a:rPr lang="en-GB" dirty="0" smtClean="0"/>
              <a:t> </a:t>
            </a:r>
            <a:r>
              <a:rPr lang="en-GB" dirty="0"/>
              <a:t>times.</a:t>
            </a:r>
          </a:p>
          <a:p>
            <a:endParaRPr lang="en-GB" dirty="0"/>
          </a:p>
        </p:txBody>
      </p:sp>
      <p:sp>
        <p:nvSpPr>
          <p:cNvPr id="3" name="Title 2"/>
          <p:cNvSpPr>
            <a:spLocks noGrp="1"/>
          </p:cNvSpPr>
          <p:nvPr>
            <p:ph type="title"/>
          </p:nvPr>
        </p:nvSpPr>
        <p:spPr/>
        <p:txBody>
          <a:bodyPr/>
          <a:lstStyle/>
          <a:p>
            <a:r>
              <a:rPr lang="en-GB" dirty="0" smtClean="0"/>
              <a:t>FSS – CFS (Correlation Based FS)</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705600" y="5156199"/>
            <a:ext cx="2133600" cy="13425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158856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s-ES" dirty="0" smtClean="0"/>
              <a:t> </a:t>
            </a:r>
            <a:endParaRPr lang="en-GB" dirty="0"/>
          </a:p>
        </p:txBody>
      </p:sp>
      <p:sp>
        <p:nvSpPr>
          <p:cNvPr id="3" name="Title 2"/>
          <p:cNvSpPr>
            <a:spLocks noGrp="1"/>
          </p:cNvSpPr>
          <p:nvPr>
            <p:ph type="title"/>
          </p:nvPr>
        </p:nvSpPr>
        <p:spPr/>
        <p:txBody>
          <a:bodyPr/>
          <a:lstStyle/>
          <a:p>
            <a:r>
              <a:rPr lang="es-ES" dirty="0" smtClean="0"/>
              <a:t>CFS </a:t>
            </a:r>
            <a:r>
              <a:rPr lang="es-ES" dirty="0" err="1" smtClean="0"/>
              <a:t>Example</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29363" y="1371599"/>
            <a:ext cx="6414437" cy="50292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Rounded Rectangle 3"/>
          <p:cNvSpPr/>
          <p:nvPr/>
        </p:nvSpPr>
        <p:spPr>
          <a:xfrm>
            <a:off x="1219200" y="1828800"/>
            <a:ext cx="1676400" cy="457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1219200" y="2286000"/>
            <a:ext cx="1676400" cy="457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xmlns="" val="2791600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s-ES" dirty="0" smtClean="0"/>
              <a:t> </a:t>
            </a:r>
            <a:endParaRPr lang="en-GB" dirty="0"/>
          </a:p>
        </p:txBody>
      </p:sp>
      <p:sp>
        <p:nvSpPr>
          <p:cNvPr id="3" name="Title 2"/>
          <p:cNvSpPr>
            <a:spLocks noGrp="1"/>
          </p:cNvSpPr>
          <p:nvPr>
            <p:ph type="title"/>
          </p:nvPr>
        </p:nvSpPr>
        <p:spPr/>
        <p:txBody>
          <a:bodyPr/>
          <a:lstStyle/>
          <a:p>
            <a:r>
              <a:rPr lang="es-ES" dirty="0" smtClean="0"/>
              <a:t>CFS – 10 CV</a:t>
            </a:r>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43000" y="1295400"/>
            <a:ext cx="6125111" cy="5076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8327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We can also reduce the number of instances to deal with smaller datasets</a:t>
            </a:r>
            <a:endParaRPr lang="en-GB" dirty="0"/>
          </a:p>
        </p:txBody>
      </p:sp>
      <p:sp>
        <p:nvSpPr>
          <p:cNvPr id="3" name="Title 2"/>
          <p:cNvSpPr>
            <a:spLocks noGrp="1"/>
          </p:cNvSpPr>
          <p:nvPr>
            <p:ph type="title"/>
          </p:nvPr>
        </p:nvSpPr>
        <p:spPr/>
        <p:txBody>
          <a:bodyPr/>
          <a:lstStyle/>
          <a:p>
            <a:r>
              <a:rPr lang="en-GB" dirty="0" smtClean="0"/>
              <a:t>Instance Selection</a:t>
            </a:r>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819400" y="2286000"/>
            <a:ext cx="3067050" cy="981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60610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GB" dirty="0" smtClean="0"/>
              <a:t>The problem of </a:t>
            </a:r>
            <a:r>
              <a:rPr lang="en-GB" b="1" dirty="0" smtClean="0"/>
              <a:t>overlapping</a:t>
            </a:r>
            <a:r>
              <a:rPr lang="en-GB" dirty="0" smtClean="0"/>
              <a:t> </a:t>
            </a:r>
            <a:r>
              <a:rPr lang="en-GB" dirty="0" smtClean="0"/>
              <a:t>occurs when regions </a:t>
            </a:r>
            <a:r>
              <a:rPr lang="en-GB" dirty="0" smtClean="0"/>
              <a:t>of the </a:t>
            </a:r>
            <a:r>
              <a:rPr lang="en-GB" dirty="0" smtClean="0"/>
              <a:t>data space </a:t>
            </a:r>
            <a:r>
              <a:rPr lang="en-GB" dirty="0" smtClean="0"/>
              <a:t>contains </a:t>
            </a:r>
            <a:r>
              <a:rPr lang="en-GB" dirty="0" smtClean="0"/>
              <a:t>different values of the class</a:t>
            </a:r>
            <a:r>
              <a:rPr lang="en-GB" dirty="0" smtClean="0"/>
              <a:t>. </a:t>
            </a:r>
            <a:endParaRPr lang="en-GB" dirty="0" smtClean="0"/>
          </a:p>
          <a:p>
            <a:endParaRPr lang="en-GB" dirty="0" smtClean="0"/>
          </a:p>
          <a:p>
            <a:r>
              <a:rPr lang="en-GB" b="1" dirty="0" err="1" smtClean="0"/>
              <a:t>Separability</a:t>
            </a:r>
            <a:r>
              <a:rPr lang="en-GB" dirty="0" smtClean="0"/>
              <a:t> – a class is linearly separable if there a linear function (straight line, plane or hyper-plane) that is capable of differentiate between the values of a class. </a:t>
            </a:r>
          </a:p>
          <a:p>
            <a:pPr lvl="2"/>
            <a:r>
              <a:rPr lang="en-GB" dirty="0" smtClean="0"/>
              <a:t>Linearly separable problems </a:t>
            </a:r>
            <a:r>
              <a:rPr lang="en-GB" dirty="0" smtClean="0"/>
              <a:t>can </a:t>
            </a:r>
            <a:r>
              <a:rPr lang="en-GB" dirty="0" smtClean="0"/>
              <a:t>easy be </a:t>
            </a:r>
            <a:r>
              <a:rPr lang="en-GB" dirty="0" smtClean="0"/>
              <a:t>solved by </a:t>
            </a:r>
            <a:r>
              <a:rPr lang="en-GB" dirty="0" smtClean="0"/>
              <a:t>any kind of classifier even if data is imbalanced (class distribution)</a:t>
            </a:r>
          </a:p>
          <a:p>
            <a:endParaRPr lang="en-GB" dirty="0" smtClean="0"/>
          </a:p>
          <a:p>
            <a:r>
              <a:rPr lang="en-GB" dirty="0" smtClean="0"/>
              <a:t>Geometric </a:t>
            </a:r>
            <a:r>
              <a:rPr lang="en-GB" dirty="0" err="1" smtClean="0"/>
              <a:t>separability</a:t>
            </a:r>
            <a:r>
              <a:rPr lang="en-GB" dirty="0" smtClean="0"/>
              <a:t> [</a:t>
            </a:r>
            <a:r>
              <a:rPr lang="en-GB" dirty="0" err="1" smtClean="0"/>
              <a:t>thornton</a:t>
            </a:r>
            <a:r>
              <a:rPr lang="en-GB" dirty="0" smtClean="0"/>
              <a:t>, 97]</a:t>
            </a:r>
          </a:p>
          <a:p>
            <a:r>
              <a:rPr lang="en-GB" dirty="0" smtClean="0"/>
              <a:t>Radial </a:t>
            </a:r>
            <a:r>
              <a:rPr lang="en-GB" dirty="0" err="1" smtClean="0"/>
              <a:t>separability</a:t>
            </a:r>
            <a:endParaRPr lang="en-GB" dirty="0" smtClean="0"/>
          </a:p>
          <a:p>
            <a:endParaRPr lang="en-GB" dirty="0" smtClean="0"/>
          </a:p>
          <a:p>
            <a:endParaRPr lang="en-GB" dirty="0" smtClean="0"/>
          </a:p>
          <a:p>
            <a:endParaRPr lang="en-US" dirty="0"/>
          </a:p>
        </p:txBody>
      </p:sp>
      <p:sp>
        <p:nvSpPr>
          <p:cNvPr id="3" name="Title 2"/>
          <p:cNvSpPr>
            <a:spLocks noGrp="1"/>
          </p:cNvSpPr>
          <p:nvPr>
            <p:ph type="title"/>
          </p:nvPr>
        </p:nvSpPr>
        <p:spPr/>
        <p:txBody>
          <a:bodyPr/>
          <a:lstStyle/>
          <a:p>
            <a:r>
              <a:rPr lang="en-GB" dirty="0" smtClean="0"/>
              <a:t>Class Overlapping and </a:t>
            </a:r>
            <a:r>
              <a:rPr lang="en-GB" dirty="0" err="1" smtClean="0"/>
              <a:t>separability</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lar">
  <a:themeElements>
    <a:clrScheme name="Mylar">
      <a:dk1>
        <a:srgbClr val="000000"/>
      </a:dk1>
      <a:lt1>
        <a:srgbClr val="FFFFFF"/>
      </a:lt1>
      <a:dk2>
        <a:srgbClr val="656162"/>
      </a:dk2>
      <a:lt2>
        <a:srgbClr val="E0DACC"/>
      </a:lt2>
      <a:accent1>
        <a:srgbClr val="4A5A7A"/>
      </a:accent1>
      <a:accent2>
        <a:srgbClr val="F7BD40"/>
      </a:accent2>
      <a:accent3>
        <a:srgbClr val="975C00"/>
      </a:accent3>
      <a:accent4>
        <a:srgbClr val="754D41"/>
      </a:accent4>
      <a:accent5>
        <a:srgbClr val="838995"/>
      </a:accent5>
      <a:accent6>
        <a:srgbClr val="687B66"/>
      </a:accent6>
      <a:hlink>
        <a:srgbClr val="B5740B"/>
      </a:hlink>
      <a:folHlink>
        <a:srgbClr val="7483A0"/>
      </a:folHlink>
    </a:clrScheme>
    <a:fontScheme name="Mylar">
      <a:maj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ylar">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innerShdw blurRad="50800" dist="25400" dir="13500000">
              <a:srgbClr val="000000">
                <a:alpha val="75000"/>
              </a:srgbClr>
            </a:innerShdw>
            <a:outerShdw blurRad="50800" dist="25400" dir="5400000" rotWithShape="0">
              <a:srgbClr val="000000">
                <a:alpha val="50000"/>
              </a:srgbClr>
            </a:outerShdw>
          </a:effectLst>
          <a:scene3d>
            <a:camera prst="orthographicFront">
              <a:rot lat="0" lon="0" rev="0"/>
            </a:camera>
            <a:lightRig rig="threePt" dir="tl"/>
          </a:scene3d>
          <a:sp3d prstMaterial="dkEdge">
            <a:bevelT w="25400" h="508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tint val="100000"/>
                <a:shade val="30000"/>
                <a:alpha val="100000"/>
                <a:satMod val="255000"/>
                <a:lumMod val="100000"/>
              </a:schemeClr>
            </a:gs>
          </a:gsLst>
          <a:path path="circle">
            <a:fillToRect l="50000" t="-80000" r="50000" b="180000"/>
          </a:path>
        </a:gradFill>
        <a:blipFill rotWithShape="1">
          <a:blip xmlns:r="http://schemas.openxmlformats.org/officeDocument/2006/relationships" r:embed="rId1">
            <a:duotone>
              <a:schemeClr val="phClr">
                <a:lumMod val="80000"/>
              </a:schemeClr>
              <a:schemeClr val="phClr">
                <a:tint val="50000"/>
                <a:lumMod val="1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TC101790491[[fn=Mylar]]</Template>
  <TotalTime>4900</TotalTime>
  <Words>1043</Words>
  <Application>Microsoft Office PowerPoint</Application>
  <PresentationFormat>On-screen Show (4:3)</PresentationFormat>
  <Paragraphs>90</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Mylar</vt:lpstr>
      <vt:lpstr>Data Carving</vt:lpstr>
      <vt:lpstr>Outline</vt:lpstr>
      <vt:lpstr>Data transformation</vt:lpstr>
      <vt:lpstr>Sampling techniques</vt:lpstr>
      <vt:lpstr>SMOTE</vt:lpstr>
      <vt:lpstr>Slide 6</vt:lpstr>
      <vt:lpstr>Discretisation</vt:lpstr>
      <vt:lpstr>Supervised Discretisation</vt:lpstr>
      <vt:lpstr>Attribute Selection</vt:lpstr>
      <vt:lpstr>Feature Ranking</vt:lpstr>
      <vt:lpstr>Feature Subset Selection (FSS)</vt:lpstr>
      <vt:lpstr>FSS – CFS (Correlation Based FS)</vt:lpstr>
      <vt:lpstr>CFS Example</vt:lpstr>
      <vt:lpstr>CFS – 10 CV</vt:lpstr>
      <vt:lpstr>Instance Selection</vt:lpstr>
      <vt:lpstr>Class Overlapping and separability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Subgroup Discovery in Defect Prediction</dc:title>
  <dc:creator>drg</dc:creator>
  <cp:lastModifiedBy>drg</cp:lastModifiedBy>
  <cp:revision>190</cp:revision>
  <dcterms:created xsi:type="dcterms:W3CDTF">2006-08-16T00:00:00Z</dcterms:created>
  <dcterms:modified xsi:type="dcterms:W3CDTF">2012-04-27T11:05:16Z</dcterms:modified>
</cp:coreProperties>
</file>