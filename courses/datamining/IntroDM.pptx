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0"/>
  </p:notesMasterIdLst>
  <p:sldIdLst>
    <p:sldId id="256" r:id="rId2"/>
    <p:sldId id="257" r:id="rId3"/>
    <p:sldId id="284" r:id="rId4"/>
    <p:sldId id="285" r:id="rId5"/>
    <p:sldId id="286" r:id="rId6"/>
    <p:sldId id="313" r:id="rId7"/>
    <p:sldId id="329" r:id="rId8"/>
    <p:sldId id="330" r:id="rId9"/>
    <p:sldId id="331" r:id="rId10"/>
    <p:sldId id="332" r:id="rId11"/>
    <p:sldId id="333" r:id="rId12"/>
    <p:sldId id="336" r:id="rId13"/>
    <p:sldId id="337" r:id="rId14"/>
    <p:sldId id="338" r:id="rId15"/>
    <p:sldId id="288" r:id="rId16"/>
    <p:sldId id="289" r:id="rId17"/>
    <p:sldId id="290" r:id="rId18"/>
    <p:sldId id="291" r:id="rId19"/>
    <p:sldId id="292" r:id="rId20"/>
    <p:sldId id="293" r:id="rId21"/>
    <p:sldId id="323" r:id="rId22"/>
    <p:sldId id="317" r:id="rId23"/>
    <p:sldId id="325" r:id="rId24"/>
    <p:sldId id="327" r:id="rId25"/>
    <p:sldId id="328" r:id="rId26"/>
    <p:sldId id="340" r:id="rId27"/>
    <p:sldId id="341" r:id="rId28"/>
    <p:sldId id="342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82" autoAdjust="0"/>
    <p:restoredTop sz="70326" autoAdjust="0"/>
  </p:normalViewPr>
  <p:slideViewPr>
    <p:cSldViewPr>
      <p:cViewPr varScale="1">
        <p:scale>
          <a:sx n="44" d="100"/>
          <a:sy n="44" d="100"/>
        </p:scale>
        <p:origin x="-5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1860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5.wmf"/><Relationship Id="rId1" Type="http://schemas.openxmlformats.org/officeDocument/2006/relationships/image" Target="../media/image7.e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wmf"/><Relationship Id="rId1" Type="http://schemas.openxmlformats.org/officeDocument/2006/relationships/image" Target="../media/image12.emf"/><Relationship Id="rId4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1538A-2321-49BA-AE5F-A5444307E285}" type="datetimeFigureOut">
              <a:rPr lang="en-GB" smtClean="0"/>
              <a:pPr/>
              <a:t>01/02/2012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6186C-46FC-456A-B7F9-6C59E8B8113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3754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7632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85817" indent="-263776" defTabSz="87632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55103" indent="-211021" defTabSz="87632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77145" indent="-211021" defTabSz="87632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899186" indent="-211021" defTabSz="87632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21227" indent="-211021" defTabSz="8763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43269" indent="-211021" defTabSz="8763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165310" indent="-211021" defTabSz="8763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587351" indent="-211021" defTabSz="8763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71C469A-626C-465C-A26A-69F6237FF3C2}" type="slidenum">
              <a:rPr lang="en-US"/>
              <a:pPr eaLnBrk="1" hangingPunct="1"/>
              <a:t>12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4" y="4341522"/>
            <a:ext cx="5487013" cy="4116005"/>
          </a:xfrm>
          <a:noFill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7632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85817" indent="-263776" defTabSz="87632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55103" indent="-211021" defTabSz="87632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77145" indent="-211021" defTabSz="87632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899186" indent="-211021" defTabSz="87632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21227" indent="-211021" defTabSz="8763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43269" indent="-211021" defTabSz="8763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165310" indent="-211021" defTabSz="8763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587351" indent="-211021" defTabSz="8763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0B5EFD5-3844-4053-B1C6-905811CAE736}" type="slidenum">
              <a:rPr lang="en-US"/>
              <a:pPr eaLnBrk="1" hangingPunct="1"/>
              <a:t>13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4" y="4341522"/>
            <a:ext cx="5487013" cy="4116005"/>
          </a:xfrm>
          <a:noFill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9.wmf"/><Relationship Id="rId4" Type="http://schemas.openxmlformats.org/officeDocument/2006/relationships/image" Target="../media/image7.e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5.emf"/><Relationship Id="rId4" Type="http://schemas.openxmlformats.org/officeDocument/2006/relationships/image" Target="../media/image12.emf"/><Relationship Id="rId9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Introduction </a:t>
            </a:r>
            <a:br>
              <a:rPr lang="en-GB" dirty="0" smtClean="0"/>
            </a:br>
            <a:r>
              <a:rPr lang="en-GB" dirty="0" smtClean="0"/>
              <a:t>to Data Mining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581400"/>
            <a:ext cx="5591182" cy="1368798"/>
          </a:xfrm>
        </p:spPr>
        <p:txBody>
          <a:bodyPr>
            <a:normAutofit/>
          </a:bodyPr>
          <a:lstStyle/>
          <a:p>
            <a:r>
              <a:rPr lang="en-GB" dirty="0" smtClean="0"/>
              <a:t>Daniel Rodríguez, University of </a:t>
            </a:r>
            <a:r>
              <a:rPr lang="en-GB" dirty="0" err="1" smtClean="0"/>
              <a:t>Alcalá</a:t>
            </a:r>
            <a:endParaRPr lang="en-GB" dirty="0" smtClean="0"/>
          </a:p>
        </p:txBody>
      </p:sp>
      <p:pic>
        <p:nvPicPr>
          <p:cNvPr id="8" name="Picture 3" descr="F:\2011\SSBSE2011\poster\logos\brookes-logo.pn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724400"/>
            <a:ext cx="2362200" cy="939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F:\2011\SSBSE2011\poster\logos\uah2.png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27282"/>
            <a:ext cx="3253513" cy="97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2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Knowledge Discovery in Datasets</a:t>
            </a:r>
          </a:p>
          <a:p>
            <a:r>
              <a:rPr lang="es-ES" dirty="0" err="1" smtClean="0"/>
              <a:t>Model</a:t>
            </a:r>
            <a:r>
              <a:rPr lang="es-ES" dirty="0" smtClean="0"/>
              <a:t> </a:t>
            </a:r>
            <a:r>
              <a:rPr lang="es-ES" dirty="0" err="1" smtClean="0"/>
              <a:t>Representation</a:t>
            </a:r>
            <a:endParaRPr lang="es-ES" dirty="0" smtClean="0"/>
          </a:p>
          <a:p>
            <a:pPr lvl="1"/>
            <a:r>
              <a:rPr lang="es-ES" dirty="0" err="1" smtClean="0"/>
              <a:t>Types</a:t>
            </a:r>
            <a:r>
              <a:rPr lang="es-ES" dirty="0" smtClean="0"/>
              <a:t> of </a:t>
            </a:r>
            <a:r>
              <a:rPr lang="es-ES" dirty="0" err="1" smtClean="0"/>
              <a:t>models</a:t>
            </a:r>
            <a:endParaRPr lang="es-ES" dirty="0" smtClean="0"/>
          </a:p>
          <a:p>
            <a:pPr lvl="2"/>
            <a:r>
              <a:rPr lang="es-ES" dirty="0" err="1" smtClean="0"/>
              <a:t>Supervised</a:t>
            </a:r>
            <a:r>
              <a:rPr lang="es-ES" dirty="0" smtClean="0"/>
              <a:t> </a:t>
            </a:r>
          </a:p>
          <a:p>
            <a:pPr lvl="2"/>
            <a:r>
              <a:rPr lang="es-ES" dirty="0" err="1" smtClean="0"/>
              <a:t>Unsupervised</a:t>
            </a:r>
            <a:endParaRPr lang="es-ES" dirty="0" smtClean="0"/>
          </a:p>
          <a:p>
            <a:r>
              <a:rPr lang="es-ES" dirty="0" err="1" smtClean="0"/>
              <a:t>Evaluation</a:t>
            </a:r>
            <a:endParaRPr lang="es-ES" dirty="0"/>
          </a:p>
          <a:p>
            <a:endParaRPr lang="es-ES" dirty="0" smtClean="0"/>
          </a:p>
          <a:p>
            <a:r>
              <a:rPr lang="en-GB" dirty="0" smtClean="0"/>
              <a:t>(Acknowledgement: </a:t>
            </a:r>
            <a:r>
              <a:rPr lang="en-GB" dirty="0" err="1" smtClean="0"/>
              <a:t>Jesús</a:t>
            </a:r>
            <a:r>
              <a:rPr lang="en-GB" dirty="0" smtClean="0"/>
              <a:t> Aguilar-Ruiz for some slides)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600166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3800" dirty="0" err="1"/>
              <a:t>Knowledge</a:t>
            </a:r>
            <a:r>
              <a:rPr lang="es-ES" sz="3800" dirty="0"/>
              <a:t> </a:t>
            </a:r>
            <a:r>
              <a:rPr lang="es-ES" sz="3800" dirty="0" err="1"/>
              <a:t>Discovery</a:t>
            </a:r>
            <a:r>
              <a:rPr lang="es-ES" sz="3800" dirty="0"/>
              <a:t> in </a:t>
            </a:r>
            <a:r>
              <a:rPr lang="es-ES" sz="3800" dirty="0" err="1"/>
              <a:t>Datasets</a:t>
            </a:r>
            <a:endParaRPr lang="es-ES" sz="3800" dirty="0"/>
          </a:p>
        </p:txBody>
      </p:sp>
      <p:graphicFrame>
        <p:nvGraphicFramePr>
          <p:cNvPr id="60422" name="Objec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6949058"/>
              </p:ext>
            </p:extLst>
          </p:nvPr>
        </p:nvGraphicFramePr>
        <p:xfrm>
          <a:off x="6934200" y="3124200"/>
          <a:ext cx="1300163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" name="ｸﾘｯﾌﾟ" r:id="rId3" imgW="4333680" imgH="4714560" progId="MS_ClipArt_Gallery.2">
                  <p:embed/>
                </p:oleObj>
              </mc:Choice>
              <mc:Fallback>
                <p:oleObj name="ｸﾘｯﾌﾟ" r:id="rId3" imgW="4333680" imgH="471456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3124200"/>
                        <a:ext cx="1300163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4" name="Objec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5720609"/>
              </p:ext>
            </p:extLst>
          </p:nvPr>
        </p:nvGraphicFramePr>
        <p:xfrm>
          <a:off x="4240803" y="3200400"/>
          <a:ext cx="1236663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" name="ｸﾘｯﾌﾟ" r:id="rId5" imgW="4181400" imgH="3214440" progId="MS_ClipArt_Gallery.2">
                  <p:embed/>
                </p:oleObj>
              </mc:Choice>
              <mc:Fallback>
                <p:oleObj name="ｸﾘｯﾌﾟ" r:id="rId5" imgW="4181400" imgH="321444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803" y="3200400"/>
                        <a:ext cx="1236663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5" name="Text Box 9"/>
          <p:cNvSpPr txBox="1">
            <a:spLocks noChangeArrowheads="1"/>
          </p:cNvSpPr>
          <p:nvPr/>
        </p:nvSpPr>
        <p:spPr bwMode="auto">
          <a:xfrm>
            <a:off x="838200" y="4560888"/>
            <a:ext cx="183575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ja-JP" sz="2000" dirty="0">
                <a:latin typeface="+mj-lt"/>
                <a:ea typeface="ＭＳ Ｐゴシック" charset="-128"/>
              </a:rPr>
              <a:t>Large amount </a:t>
            </a:r>
            <a:endParaRPr lang="en-US" altLang="ja-JP" sz="2000" dirty="0" smtClean="0">
              <a:latin typeface="+mj-lt"/>
              <a:ea typeface="ＭＳ Ｐゴシック" charset="-128"/>
            </a:endParaRPr>
          </a:p>
          <a:p>
            <a:pPr eaLnBrk="0" hangingPunct="0"/>
            <a:r>
              <a:rPr lang="en-US" altLang="ja-JP" sz="2000" dirty="0" smtClean="0">
                <a:latin typeface="+mj-lt"/>
                <a:ea typeface="ＭＳ Ｐゴシック" charset="-128"/>
              </a:rPr>
              <a:t>of </a:t>
            </a:r>
            <a:r>
              <a:rPr lang="en-US" altLang="ja-JP" sz="2000" dirty="0">
                <a:latin typeface="+mj-lt"/>
                <a:ea typeface="ＭＳ Ｐゴシック" charset="-128"/>
              </a:rPr>
              <a:t>data</a:t>
            </a:r>
          </a:p>
        </p:txBody>
      </p:sp>
      <p:sp>
        <p:nvSpPr>
          <p:cNvPr id="60426" name="Text Box 10"/>
          <p:cNvSpPr txBox="1">
            <a:spLocks noChangeArrowheads="1"/>
          </p:cNvSpPr>
          <p:nvPr/>
        </p:nvSpPr>
        <p:spPr bwMode="auto">
          <a:xfrm>
            <a:off x="6705600" y="4560888"/>
            <a:ext cx="209063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ja-JP" sz="2000" dirty="0">
                <a:latin typeface="+mj-lt"/>
                <a:ea typeface="ＭＳ Ｐゴシック" charset="-128"/>
              </a:rPr>
              <a:t>What knowledge?</a:t>
            </a:r>
          </a:p>
          <a:p>
            <a:pPr eaLnBrk="0" hangingPunct="0"/>
            <a:r>
              <a:rPr lang="en-US" altLang="ja-JP" sz="2000" dirty="0">
                <a:latin typeface="+mj-lt"/>
                <a:ea typeface="ＭＳ Ｐゴシック" charset="-128"/>
              </a:rPr>
              <a:t>How to represent </a:t>
            </a:r>
          </a:p>
          <a:p>
            <a:pPr eaLnBrk="0" hangingPunct="0"/>
            <a:r>
              <a:rPr lang="en-US" altLang="ja-JP" sz="2000" dirty="0">
                <a:latin typeface="+mj-lt"/>
                <a:ea typeface="ＭＳ Ｐゴシック" charset="-128"/>
              </a:rPr>
              <a:t>and use it?</a:t>
            </a:r>
          </a:p>
          <a:p>
            <a:pPr eaLnBrk="0" hangingPunct="0"/>
            <a:endParaRPr lang="ja-JP" altLang="en-US" sz="2000" dirty="0">
              <a:latin typeface="+mj-lt"/>
              <a:ea typeface="ＭＳ Ｐゴシック" charset="-128"/>
            </a:endParaRPr>
          </a:p>
        </p:txBody>
      </p:sp>
      <p:graphicFrame>
        <p:nvGraphicFramePr>
          <p:cNvPr id="604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799545"/>
              </p:ext>
            </p:extLst>
          </p:nvPr>
        </p:nvGraphicFramePr>
        <p:xfrm>
          <a:off x="914400" y="2995613"/>
          <a:ext cx="192405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" name="ｸﾘｯﾌﾟ" r:id="rId7" imgW="4251240" imgH="4570200" progId="MS_ClipArt_Gallery.2">
                  <p:embed/>
                </p:oleObj>
              </mc:Choice>
              <mc:Fallback>
                <p:oleObj name="ｸﾘｯﾌﾟ" r:id="rId7" imgW="4251240" imgH="457020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995613"/>
                        <a:ext cx="1924050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8" name="Text Box 12"/>
          <p:cNvSpPr txBox="1">
            <a:spLocks noChangeArrowheads="1"/>
          </p:cNvSpPr>
          <p:nvPr/>
        </p:nvSpPr>
        <p:spPr bwMode="auto">
          <a:xfrm>
            <a:off x="3971232" y="4566109"/>
            <a:ext cx="1676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ja-JP" sz="2000" dirty="0" smtClean="0">
                <a:latin typeface="+mj-lt"/>
                <a:ea typeface="ＭＳ Ｐゴシック" charset="-128"/>
              </a:rPr>
              <a:t>Data </a:t>
            </a:r>
            <a:r>
              <a:rPr lang="en-US" altLang="ja-JP" sz="2000" dirty="0">
                <a:latin typeface="+mj-lt"/>
                <a:ea typeface="ＭＳ Ｐゴシック" charset="-128"/>
              </a:rPr>
              <a:t>mining   </a:t>
            </a:r>
          </a:p>
          <a:p>
            <a:pPr eaLnBrk="0" hangingPunct="0"/>
            <a:r>
              <a:rPr lang="en-US" altLang="ja-JP" sz="2000" dirty="0">
                <a:latin typeface="+mj-lt"/>
                <a:ea typeface="ＭＳ Ｐゴシック" charset="-128"/>
              </a:rPr>
              <a:t> </a:t>
            </a:r>
            <a:r>
              <a:rPr lang="en-US" altLang="ja-JP" sz="2000" dirty="0" smtClean="0">
                <a:latin typeface="+mj-lt"/>
                <a:ea typeface="ＭＳ Ｐゴシック" charset="-128"/>
              </a:rPr>
              <a:t>algorithms</a:t>
            </a:r>
            <a:r>
              <a:rPr lang="en-US" altLang="ja-JP" sz="2000" dirty="0">
                <a:latin typeface="+mj-lt"/>
                <a:ea typeface="ＭＳ Ｐゴシック" charset="-128"/>
              </a:rPr>
              <a:t>?</a:t>
            </a:r>
          </a:p>
          <a:p>
            <a:pPr eaLnBrk="0" hangingPunct="0"/>
            <a:r>
              <a:rPr lang="ja-JP" altLang="en-US" sz="2000" dirty="0">
                <a:latin typeface="+mj-lt"/>
                <a:ea typeface="ＭＳ Ｐゴシック" charset="-128"/>
              </a:rPr>
              <a:t>    </a:t>
            </a:r>
          </a:p>
        </p:txBody>
      </p:sp>
      <p:sp>
        <p:nvSpPr>
          <p:cNvPr id="60429" name="Rectangle 13"/>
          <p:cNvSpPr>
            <a:spLocks noChangeArrowheads="1"/>
          </p:cNvSpPr>
          <p:nvPr/>
        </p:nvSpPr>
        <p:spPr bwMode="auto">
          <a:xfrm>
            <a:off x="533400" y="1676400"/>
            <a:ext cx="8077200" cy="138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/>
            <a:r>
              <a:rPr lang="en-US" altLang="ja-JP" sz="2800" dirty="0">
                <a:latin typeface="+mj-lt"/>
                <a:ea typeface="ＭＳ Ｐゴシック" charset="-128"/>
              </a:rPr>
              <a:t>KDD is the automatic extraction of non-obvious, </a:t>
            </a:r>
          </a:p>
          <a:p>
            <a:pPr eaLnBrk="0" hangingPunct="0"/>
            <a:r>
              <a:rPr lang="en-US" altLang="ja-JP" sz="2800" dirty="0">
                <a:latin typeface="+mj-lt"/>
                <a:ea typeface="ＭＳ Ｐゴシック" charset="-128"/>
              </a:rPr>
              <a:t>hidden knowledge from large volumes of data.</a:t>
            </a:r>
          </a:p>
          <a:p>
            <a:pPr eaLnBrk="0" hangingPunct="0"/>
            <a:endParaRPr lang="ja-JP" altLang="en-US" sz="2800" dirty="0">
              <a:solidFill>
                <a:schemeClr val="accent2"/>
              </a:solidFill>
              <a:latin typeface="+mj-lt"/>
              <a:ea typeface="ＭＳ Ｐゴシック" charset="-128"/>
            </a:endParaRPr>
          </a:p>
        </p:txBody>
      </p:sp>
      <p:sp>
        <p:nvSpPr>
          <p:cNvPr id="2" name="Right Arrow 1"/>
          <p:cNvSpPr/>
          <p:nvPr/>
        </p:nvSpPr>
        <p:spPr>
          <a:xfrm>
            <a:off x="3048000" y="4083050"/>
            <a:ext cx="3522865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9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3800" dirty="0" err="1"/>
              <a:t>Knowledge</a:t>
            </a:r>
            <a:r>
              <a:rPr lang="es-ES" sz="3800" dirty="0"/>
              <a:t> </a:t>
            </a:r>
            <a:r>
              <a:rPr lang="es-ES" sz="3800" dirty="0" err="1"/>
              <a:t>Discovery</a:t>
            </a:r>
            <a:r>
              <a:rPr lang="es-ES" sz="3800" dirty="0"/>
              <a:t> in </a:t>
            </a:r>
            <a:r>
              <a:rPr lang="es-ES" sz="3800" dirty="0" err="1"/>
              <a:t>Datasets</a:t>
            </a:r>
            <a:endParaRPr lang="es-ES" sz="3800" dirty="0"/>
          </a:p>
        </p:txBody>
      </p:sp>
      <p:sp>
        <p:nvSpPr>
          <p:cNvPr id="121860" name="Text Box 4"/>
          <p:cNvSpPr txBox="1">
            <a:spLocks noChangeArrowheads="1"/>
          </p:cNvSpPr>
          <p:nvPr/>
        </p:nvSpPr>
        <p:spPr bwMode="auto">
          <a:xfrm>
            <a:off x="490220" y="1757273"/>
            <a:ext cx="82883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altLang="ja-JP" sz="2400" dirty="0">
                <a:ea typeface="ＭＳ Ｐ明朝" pitchFamily="18" charset="-128"/>
              </a:rPr>
              <a:t>The non-trivial process of identifying valid, novel, potentially useful, and ultimately understandable patterns in data - </a:t>
            </a:r>
            <a:r>
              <a:rPr lang="en-US" altLang="ja-JP" sz="2000" dirty="0">
                <a:ea typeface="ＭＳ Ｐ明朝" pitchFamily="18" charset="-128"/>
              </a:rPr>
              <a:t>Fayyad, </a:t>
            </a:r>
            <a:r>
              <a:rPr lang="en-US" altLang="ja-JP" sz="2000" dirty="0" err="1">
                <a:ea typeface="ＭＳ Ｐ明朝" pitchFamily="18" charset="-128"/>
              </a:rPr>
              <a:t>Piatetsky</a:t>
            </a:r>
            <a:r>
              <a:rPr lang="en-US" altLang="ja-JP" sz="2000" dirty="0">
                <a:ea typeface="ＭＳ Ｐ明朝" pitchFamily="18" charset="-128"/>
              </a:rPr>
              <a:t>-Shapiro, Smyth (1996)</a:t>
            </a:r>
            <a:r>
              <a:rPr lang="en-US" altLang="ja-JP" sz="2400" dirty="0">
                <a:ea typeface="ＭＳ Ｐ明朝" pitchFamily="18" charset="-128"/>
              </a:rPr>
              <a:t> </a:t>
            </a:r>
          </a:p>
        </p:txBody>
      </p:sp>
      <p:grpSp>
        <p:nvGrpSpPr>
          <p:cNvPr id="121861" name="Group 5"/>
          <p:cNvGrpSpPr>
            <a:grpSpLocks/>
          </p:cNvGrpSpPr>
          <p:nvPr/>
        </p:nvGrpSpPr>
        <p:grpSpPr bwMode="auto">
          <a:xfrm>
            <a:off x="555625" y="2641600"/>
            <a:ext cx="7861300" cy="1092200"/>
            <a:chOff x="574" y="1050"/>
            <a:chExt cx="4573" cy="688"/>
          </a:xfrm>
        </p:grpSpPr>
        <p:sp>
          <p:nvSpPr>
            <p:cNvPr id="121862" name="Text Box 6"/>
            <p:cNvSpPr txBox="1">
              <a:spLocks noChangeArrowheads="1"/>
            </p:cNvSpPr>
            <p:nvPr/>
          </p:nvSpPr>
          <p:spPr bwMode="auto">
            <a:xfrm>
              <a:off x="574" y="1411"/>
              <a:ext cx="244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lang="en-US" altLang="ja-JP" sz="2800">
                  <a:solidFill>
                    <a:srgbClr val="0070C0"/>
                  </a:solidFill>
                  <a:ea typeface="ＭＳ Ｐ明朝" pitchFamily="18" charset="-128"/>
                </a:rPr>
                <a:t>non-trivial process</a:t>
              </a:r>
              <a:endParaRPr lang="en-US" altLang="ja-JP" sz="3600" b="1">
                <a:solidFill>
                  <a:srgbClr val="0070C0"/>
                </a:solidFill>
                <a:ea typeface="ＭＳ Ｐ明朝" pitchFamily="18" charset="-128"/>
              </a:endParaRPr>
            </a:p>
          </p:txBody>
        </p:sp>
        <p:grpSp>
          <p:nvGrpSpPr>
            <p:cNvPr id="121863" name="Group 7"/>
            <p:cNvGrpSpPr>
              <a:grpSpLocks/>
            </p:cNvGrpSpPr>
            <p:nvPr/>
          </p:nvGrpSpPr>
          <p:grpSpPr bwMode="auto">
            <a:xfrm>
              <a:off x="3355" y="1050"/>
              <a:ext cx="1792" cy="398"/>
              <a:chOff x="3346" y="1218"/>
              <a:chExt cx="1792" cy="398"/>
            </a:xfrm>
          </p:grpSpPr>
          <p:sp>
            <p:nvSpPr>
              <p:cNvPr id="121864" name="AutoShape 8"/>
              <p:cNvSpPr>
                <a:spLocks noChangeArrowheads="1"/>
              </p:cNvSpPr>
              <p:nvPr/>
            </p:nvSpPr>
            <p:spPr bwMode="auto">
              <a:xfrm>
                <a:off x="3346" y="1218"/>
                <a:ext cx="1792" cy="398"/>
              </a:xfrm>
              <a:prstGeom prst="cloudCallout">
                <a:avLst>
                  <a:gd name="adj1" fmla="val -67912"/>
                  <a:gd name="adj2" fmla="val 87940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3399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lang="ja-JP" altLang="en-US" sz="2400" b="1" dirty="0">
                  <a:solidFill>
                    <a:srgbClr val="0070C0"/>
                  </a:solidFill>
                  <a:ea typeface="ＭＳ Ｐ明朝" pitchFamily="18" charset="-128"/>
                </a:endParaRPr>
              </a:p>
            </p:txBody>
          </p:sp>
          <p:sp>
            <p:nvSpPr>
              <p:cNvPr id="121865" name="Text Box 9"/>
              <p:cNvSpPr txBox="1">
                <a:spLocks noChangeArrowheads="1"/>
              </p:cNvSpPr>
              <p:nvPr/>
            </p:nvSpPr>
            <p:spPr bwMode="auto">
              <a:xfrm>
                <a:off x="3675" y="1270"/>
                <a:ext cx="11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ja-JP" sz="2000" dirty="0" smtClean="0">
                    <a:solidFill>
                      <a:srgbClr val="0070C0"/>
                    </a:solidFill>
                    <a:ea typeface="ＭＳ Ｐ明朝" pitchFamily="18" charset="-128"/>
                  </a:rPr>
                  <a:t>multiple </a:t>
                </a:r>
                <a:r>
                  <a:rPr lang="en-US" altLang="ja-JP" sz="2000" dirty="0">
                    <a:solidFill>
                      <a:srgbClr val="0070C0"/>
                    </a:solidFill>
                    <a:ea typeface="ＭＳ Ｐ明朝" pitchFamily="18" charset="-128"/>
                  </a:rPr>
                  <a:t>process</a:t>
                </a:r>
                <a:endParaRPr lang="en-US" altLang="ja-JP" sz="2400" b="1" dirty="0">
                  <a:solidFill>
                    <a:srgbClr val="0070C0"/>
                  </a:solidFill>
                  <a:ea typeface="ＭＳ Ｐ明朝" pitchFamily="18" charset="-128"/>
                </a:endParaRPr>
              </a:p>
            </p:txBody>
          </p:sp>
        </p:grpSp>
      </p:grpSp>
      <p:grpSp>
        <p:nvGrpSpPr>
          <p:cNvPr id="121866" name="Group 10"/>
          <p:cNvGrpSpPr>
            <a:grpSpLocks/>
          </p:cNvGrpSpPr>
          <p:nvPr/>
        </p:nvGrpSpPr>
        <p:grpSpPr bwMode="auto">
          <a:xfrm>
            <a:off x="555625" y="3429000"/>
            <a:ext cx="8253413" cy="1003300"/>
            <a:chOff x="574" y="1662"/>
            <a:chExt cx="4345" cy="632"/>
          </a:xfrm>
        </p:grpSpPr>
        <p:sp>
          <p:nvSpPr>
            <p:cNvPr id="121867" name="AutoShape 11"/>
            <p:cNvSpPr>
              <a:spLocks noChangeArrowheads="1"/>
            </p:cNvSpPr>
            <p:nvPr/>
          </p:nvSpPr>
          <p:spPr bwMode="auto">
            <a:xfrm>
              <a:off x="2711" y="1662"/>
              <a:ext cx="2208" cy="632"/>
            </a:xfrm>
            <a:prstGeom prst="cloudCallout">
              <a:avLst>
                <a:gd name="adj1" fmla="val -79481"/>
                <a:gd name="adj2" fmla="val 8546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FF3399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ja-JP" altLang="en-US" sz="2400" b="1">
                <a:solidFill>
                  <a:srgbClr val="0070C0"/>
                </a:solidFill>
                <a:ea typeface="ＭＳ Ｐ明朝" pitchFamily="18" charset="-128"/>
              </a:endParaRPr>
            </a:p>
          </p:txBody>
        </p:sp>
        <p:sp>
          <p:nvSpPr>
            <p:cNvPr id="121868" name="Text Box 12"/>
            <p:cNvSpPr txBox="1">
              <a:spLocks noChangeArrowheads="1"/>
            </p:cNvSpPr>
            <p:nvPr/>
          </p:nvSpPr>
          <p:spPr bwMode="auto">
            <a:xfrm>
              <a:off x="574" y="1882"/>
              <a:ext cx="244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lang="en-US" altLang="ja-JP" sz="2800">
                  <a:solidFill>
                    <a:srgbClr val="0070C0"/>
                  </a:solidFill>
                  <a:ea typeface="ＭＳ Ｐ明朝" pitchFamily="18" charset="-128"/>
                </a:rPr>
                <a:t>valid</a:t>
              </a:r>
              <a:endParaRPr lang="en-US" altLang="ja-JP" sz="3600" b="1">
                <a:solidFill>
                  <a:srgbClr val="0070C0"/>
                </a:solidFill>
                <a:ea typeface="ＭＳ Ｐ明朝" pitchFamily="18" charset="-128"/>
              </a:endParaRPr>
            </a:p>
          </p:txBody>
        </p:sp>
        <p:sp>
          <p:nvSpPr>
            <p:cNvPr id="121869" name="Text Box 13"/>
            <p:cNvSpPr txBox="1">
              <a:spLocks noChangeArrowheads="1"/>
            </p:cNvSpPr>
            <p:nvPr/>
          </p:nvSpPr>
          <p:spPr bwMode="auto">
            <a:xfrm>
              <a:off x="2926" y="1834"/>
              <a:ext cx="151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ja-JP" sz="2000">
                  <a:solidFill>
                    <a:srgbClr val="0070C0"/>
                  </a:solidFill>
                  <a:ea typeface="ＭＳ Ｐ明朝" pitchFamily="18" charset="-128"/>
                </a:rPr>
                <a:t>Justified patterns/models</a:t>
              </a:r>
              <a:endParaRPr lang="en-US" altLang="ja-JP" sz="2400" b="1">
                <a:solidFill>
                  <a:srgbClr val="0070C0"/>
                </a:solidFill>
                <a:ea typeface="ＭＳ Ｐ明朝" pitchFamily="18" charset="-128"/>
              </a:endParaRPr>
            </a:p>
          </p:txBody>
        </p:sp>
      </p:grpSp>
      <p:grpSp>
        <p:nvGrpSpPr>
          <p:cNvPr id="121870" name="Group 14"/>
          <p:cNvGrpSpPr>
            <a:grpSpLocks/>
          </p:cNvGrpSpPr>
          <p:nvPr/>
        </p:nvGrpSpPr>
        <p:grpSpPr bwMode="auto">
          <a:xfrm>
            <a:off x="555625" y="4343400"/>
            <a:ext cx="7673975" cy="636588"/>
            <a:chOff x="574" y="2323"/>
            <a:chExt cx="3765" cy="401"/>
          </a:xfrm>
        </p:grpSpPr>
        <p:sp>
          <p:nvSpPr>
            <p:cNvPr id="121871" name="Text Box 15"/>
            <p:cNvSpPr txBox="1">
              <a:spLocks noChangeArrowheads="1"/>
            </p:cNvSpPr>
            <p:nvPr/>
          </p:nvSpPr>
          <p:spPr bwMode="auto">
            <a:xfrm>
              <a:off x="574" y="2353"/>
              <a:ext cx="152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lang="en-US" altLang="ja-JP" sz="2800">
                  <a:solidFill>
                    <a:srgbClr val="0070C0"/>
                  </a:solidFill>
                  <a:ea typeface="ＭＳ Ｐ明朝" pitchFamily="18" charset="-128"/>
                </a:rPr>
                <a:t>novel</a:t>
              </a:r>
              <a:endParaRPr lang="en-US" altLang="ja-JP" sz="3200" b="1">
                <a:solidFill>
                  <a:srgbClr val="0070C0"/>
                </a:solidFill>
                <a:ea typeface="ＭＳ Ｐ明朝" pitchFamily="18" charset="-128"/>
              </a:endParaRPr>
            </a:p>
          </p:txBody>
        </p:sp>
        <p:sp>
          <p:nvSpPr>
            <p:cNvPr id="121872" name="AutoShape 16"/>
            <p:cNvSpPr>
              <a:spLocks noChangeArrowheads="1"/>
            </p:cNvSpPr>
            <p:nvPr/>
          </p:nvSpPr>
          <p:spPr bwMode="auto">
            <a:xfrm flipH="1" flipV="1">
              <a:off x="2882" y="2323"/>
              <a:ext cx="1457" cy="401"/>
            </a:xfrm>
            <a:prstGeom prst="cloudCallout">
              <a:avLst>
                <a:gd name="adj1" fmla="val 98866"/>
                <a:gd name="adj2" fmla="val 14833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FF3399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 eaLnBrk="0" hangingPunct="0"/>
              <a:endParaRPr lang="ja-JP" altLang="en-US" sz="2400" b="1">
                <a:solidFill>
                  <a:srgbClr val="0070C0"/>
                </a:solidFill>
                <a:ea typeface="ＭＳ Ｐ明朝" pitchFamily="18" charset="-128"/>
              </a:endParaRPr>
            </a:p>
          </p:txBody>
        </p:sp>
        <p:sp>
          <p:nvSpPr>
            <p:cNvPr id="121873" name="Text Box 17"/>
            <p:cNvSpPr txBox="1">
              <a:spLocks noChangeArrowheads="1"/>
            </p:cNvSpPr>
            <p:nvPr/>
          </p:nvSpPr>
          <p:spPr bwMode="auto">
            <a:xfrm>
              <a:off x="3074" y="2423"/>
              <a:ext cx="113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ja-JP" sz="2000">
                  <a:solidFill>
                    <a:srgbClr val="0070C0"/>
                  </a:solidFill>
                  <a:ea typeface="ＭＳ Ｐ明朝" pitchFamily="18" charset="-128"/>
                </a:rPr>
                <a:t>Previously unknown</a:t>
              </a:r>
              <a:endParaRPr lang="en-US" altLang="ja-JP" sz="2400" b="1">
                <a:solidFill>
                  <a:srgbClr val="0070C0"/>
                </a:solidFill>
                <a:ea typeface="ＭＳ Ｐ明朝" pitchFamily="18" charset="-128"/>
              </a:endParaRPr>
            </a:p>
          </p:txBody>
        </p:sp>
      </p:grpSp>
      <p:grpSp>
        <p:nvGrpSpPr>
          <p:cNvPr id="121874" name="Group 18"/>
          <p:cNvGrpSpPr>
            <a:grpSpLocks/>
          </p:cNvGrpSpPr>
          <p:nvPr/>
        </p:nvGrpSpPr>
        <p:grpSpPr bwMode="auto">
          <a:xfrm>
            <a:off x="555625" y="4953000"/>
            <a:ext cx="6826250" cy="698500"/>
            <a:chOff x="574" y="2824"/>
            <a:chExt cx="3971" cy="440"/>
          </a:xfrm>
        </p:grpSpPr>
        <p:sp>
          <p:nvSpPr>
            <p:cNvPr id="121875" name="Text Box 19"/>
            <p:cNvSpPr txBox="1">
              <a:spLocks noChangeArrowheads="1"/>
            </p:cNvSpPr>
            <p:nvPr/>
          </p:nvSpPr>
          <p:spPr bwMode="auto">
            <a:xfrm>
              <a:off x="574" y="2824"/>
              <a:ext cx="244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lang="en-US" altLang="ja-JP" sz="2800">
                  <a:solidFill>
                    <a:srgbClr val="0070C0"/>
                  </a:solidFill>
                  <a:ea typeface="ＭＳ Ｐ明朝" pitchFamily="18" charset="-128"/>
                </a:rPr>
                <a:t>useful</a:t>
              </a:r>
              <a:endParaRPr lang="en-US" altLang="ja-JP" sz="3600" b="1">
                <a:solidFill>
                  <a:srgbClr val="0070C0"/>
                </a:solidFill>
                <a:ea typeface="ＭＳ Ｐ明朝" pitchFamily="18" charset="-128"/>
              </a:endParaRPr>
            </a:p>
          </p:txBody>
        </p:sp>
        <p:sp>
          <p:nvSpPr>
            <p:cNvPr id="121876" name="AutoShape 20"/>
            <p:cNvSpPr>
              <a:spLocks noChangeArrowheads="1"/>
            </p:cNvSpPr>
            <p:nvPr/>
          </p:nvSpPr>
          <p:spPr bwMode="auto">
            <a:xfrm flipV="1">
              <a:off x="2662" y="2834"/>
              <a:ext cx="1883" cy="430"/>
            </a:xfrm>
            <a:prstGeom prst="cloudCallout">
              <a:avLst>
                <a:gd name="adj1" fmla="val -81546"/>
                <a:gd name="adj2" fmla="val 16741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FF3399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 eaLnBrk="0" hangingPunct="0"/>
              <a:endParaRPr lang="ja-JP" altLang="en-US" sz="2400" b="1">
                <a:solidFill>
                  <a:srgbClr val="0070C0"/>
                </a:solidFill>
                <a:ea typeface="ＭＳ Ｐ明朝" pitchFamily="18" charset="-128"/>
              </a:endParaRPr>
            </a:p>
          </p:txBody>
        </p:sp>
        <p:sp>
          <p:nvSpPr>
            <p:cNvPr id="121877" name="Text Box 21"/>
            <p:cNvSpPr txBox="1">
              <a:spLocks noChangeArrowheads="1"/>
            </p:cNvSpPr>
            <p:nvPr/>
          </p:nvSpPr>
          <p:spPr bwMode="auto">
            <a:xfrm>
              <a:off x="2826" y="2920"/>
              <a:ext cx="89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ja-JP" sz="2000">
                  <a:solidFill>
                    <a:srgbClr val="0070C0"/>
                  </a:solidFill>
                  <a:ea typeface="ＭＳ Ｐ明朝" pitchFamily="18" charset="-128"/>
                </a:rPr>
                <a:t>Can be used</a:t>
              </a:r>
              <a:r>
                <a:rPr lang="en-US" altLang="ja-JP" sz="2400" b="1">
                  <a:solidFill>
                    <a:srgbClr val="0070C0"/>
                  </a:solidFill>
                  <a:ea typeface="ＭＳ Ｐ明朝" pitchFamily="18" charset="-128"/>
                </a:rPr>
                <a:t> </a:t>
              </a:r>
            </a:p>
          </p:txBody>
        </p:sp>
      </p:grpSp>
      <p:grpSp>
        <p:nvGrpSpPr>
          <p:cNvPr id="121878" name="Group 22"/>
          <p:cNvGrpSpPr>
            <a:grpSpLocks/>
          </p:cNvGrpSpPr>
          <p:nvPr/>
        </p:nvGrpSpPr>
        <p:grpSpPr bwMode="auto">
          <a:xfrm>
            <a:off x="555625" y="5608638"/>
            <a:ext cx="8435975" cy="846137"/>
            <a:chOff x="574" y="3295"/>
            <a:chExt cx="4907" cy="533"/>
          </a:xfrm>
        </p:grpSpPr>
        <p:sp>
          <p:nvSpPr>
            <p:cNvPr id="121879" name="Text Box 23"/>
            <p:cNvSpPr txBox="1">
              <a:spLocks noChangeArrowheads="1"/>
            </p:cNvSpPr>
            <p:nvPr/>
          </p:nvSpPr>
          <p:spPr bwMode="auto">
            <a:xfrm>
              <a:off x="574" y="3295"/>
              <a:ext cx="244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lang="en-US" altLang="ja-JP" sz="2800">
                  <a:solidFill>
                    <a:srgbClr val="0070C0"/>
                  </a:solidFill>
                  <a:ea typeface="ＭＳ Ｐ明朝" pitchFamily="18" charset="-128"/>
                </a:rPr>
                <a:t>understandable</a:t>
              </a:r>
              <a:endParaRPr lang="en-US" altLang="ja-JP" sz="4000" b="1">
                <a:solidFill>
                  <a:srgbClr val="0070C0"/>
                </a:solidFill>
                <a:ea typeface="ＭＳ Ｐ明朝" pitchFamily="18" charset="-128"/>
              </a:endParaRPr>
            </a:p>
          </p:txBody>
        </p:sp>
        <p:sp>
          <p:nvSpPr>
            <p:cNvPr id="121880" name="AutoShape 24"/>
            <p:cNvSpPr>
              <a:spLocks noChangeArrowheads="1"/>
            </p:cNvSpPr>
            <p:nvPr/>
          </p:nvSpPr>
          <p:spPr bwMode="auto">
            <a:xfrm flipV="1">
              <a:off x="3053" y="3334"/>
              <a:ext cx="2428" cy="494"/>
            </a:xfrm>
            <a:prstGeom prst="cloudCallout">
              <a:avLst>
                <a:gd name="adj1" fmla="val -66519"/>
                <a:gd name="adj2" fmla="val 17407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FF3399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 eaLnBrk="0" hangingPunct="0"/>
              <a:endParaRPr lang="ja-JP" altLang="en-US" sz="2800" b="1">
                <a:solidFill>
                  <a:srgbClr val="0070C0"/>
                </a:solidFill>
                <a:ea typeface="ＭＳ Ｐ明朝" pitchFamily="18" charset="-128"/>
              </a:endParaRPr>
            </a:p>
          </p:txBody>
        </p:sp>
        <p:sp>
          <p:nvSpPr>
            <p:cNvPr id="121881" name="Text Box 25"/>
            <p:cNvSpPr txBox="1">
              <a:spLocks noChangeArrowheads="1"/>
            </p:cNvSpPr>
            <p:nvPr/>
          </p:nvSpPr>
          <p:spPr bwMode="auto">
            <a:xfrm>
              <a:off x="3266" y="3462"/>
              <a:ext cx="154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ja-JP" sz="2000" dirty="0">
                  <a:solidFill>
                    <a:srgbClr val="0070C0"/>
                  </a:solidFill>
                  <a:ea typeface="ＭＳ Ｐ明朝" pitchFamily="18" charset="-128"/>
                </a:rPr>
                <a:t>by human and machine</a:t>
              </a:r>
              <a:endParaRPr lang="en-US" altLang="ja-JP" sz="2800" b="1" dirty="0">
                <a:solidFill>
                  <a:srgbClr val="0070C0"/>
                </a:solidFill>
                <a:ea typeface="ＭＳ Ｐ明朝" pitchFamily="18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1415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75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1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1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3800" dirty="0" err="1"/>
              <a:t>Knowledge</a:t>
            </a:r>
            <a:r>
              <a:rPr lang="es-ES" sz="3800" dirty="0"/>
              <a:t> </a:t>
            </a:r>
            <a:r>
              <a:rPr lang="es-ES" sz="3800" dirty="0" err="1"/>
              <a:t>Discovery</a:t>
            </a:r>
            <a:r>
              <a:rPr lang="es-ES" sz="3800" dirty="0"/>
              <a:t> in </a:t>
            </a:r>
            <a:r>
              <a:rPr lang="es-ES" sz="3800" dirty="0" err="1"/>
              <a:t>Datasets</a:t>
            </a:r>
            <a:endParaRPr lang="es-ES" sz="3800" dirty="0"/>
          </a:p>
        </p:txBody>
      </p:sp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3581400" y="1981200"/>
            <a:ext cx="1905000" cy="533400"/>
          </a:xfrm>
          <a:prstGeom prst="rect">
            <a:avLst/>
          </a:prstGeom>
          <a:noFill/>
          <a:ln w="9525">
            <a:solidFill>
              <a:srgbClr val="23168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s-ES" b="1" dirty="0">
                <a:solidFill>
                  <a:srgbClr val="006600"/>
                </a:solidFill>
              </a:rPr>
              <a:t>INFORMATION</a:t>
            </a:r>
          </a:p>
        </p:txBody>
      </p:sp>
      <p:sp>
        <p:nvSpPr>
          <p:cNvPr id="122885" name="Rectangle 5"/>
          <p:cNvSpPr>
            <a:spLocks noChangeArrowheads="1"/>
          </p:cNvSpPr>
          <p:nvPr/>
        </p:nvSpPr>
        <p:spPr bwMode="auto">
          <a:xfrm>
            <a:off x="3740150" y="2819400"/>
            <a:ext cx="1587500" cy="533400"/>
          </a:xfrm>
          <a:prstGeom prst="rect">
            <a:avLst/>
          </a:prstGeom>
          <a:noFill/>
          <a:ln w="9525">
            <a:solidFill>
              <a:srgbClr val="23168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s-ES" b="1" dirty="0">
                <a:solidFill>
                  <a:srgbClr val="006600"/>
                </a:solidFill>
              </a:rPr>
              <a:t>PROCESS</a:t>
            </a:r>
          </a:p>
        </p:txBody>
      </p:sp>
      <p:sp>
        <p:nvSpPr>
          <p:cNvPr id="122886" name="Rectangle 6"/>
          <p:cNvSpPr>
            <a:spLocks noChangeArrowheads="1"/>
          </p:cNvSpPr>
          <p:nvPr/>
        </p:nvSpPr>
        <p:spPr bwMode="auto">
          <a:xfrm>
            <a:off x="3581400" y="3733800"/>
            <a:ext cx="1905000" cy="533400"/>
          </a:xfrm>
          <a:prstGeom prst="rect">
            <a:avLst/>
          </a:prstGeom>
          <a:noFill/>
          <a:ln w="9525">
            <a:solidFill>
              <a:srgbClr val="23168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s-ES" b="1" dirty="0">
                <a:solidFill>
                  <a:srgbClr val="006600"/>
                </a:solidFill>
              </a:rPr>
              <a:t>KNOWLEDGE</a:t>
            </a:r>
          </a:p>
        </p:txBody>
      </p:sp>
      <p:sp>
        <p:nvSpPr>
          <p:cNvPr id="122887" name="Line 7"/>
          <p:cNvSpPr>
            <a:spLocks noChangeShapeType="1"/>
          </p:cNvSpPr>
          <p:nvPr/>
        </p:nvSpPr>
        <p:spPr bwMode="auto">
          <a:xfrm>
            <a:off x="4533900" y="3352800"/>
            <a:ext cx="0" cy="381000"/>
          </a:xfrm>
          <a:prstGeom prst="line">
            <a:avLst/>
          </a:prstGeom>
          <a:noFill/>
          <a:ln w="9525">
            <a:solidFill>
              <a:srgbClr val="23168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888" name="Line 8"/>
          <p:cNvSpPr>
            <a:spLocks noChangeShapeType="1"/>
          </p:cNvSpPr>
          <p:nvPr/>
        </p:nvSpPr>
        <p:spPr bwMode="auto">
          <a:xfrm>
            <a:off x="4533900" y="2514600"/>
            <a:ext cx="0" cy="304800"/>
          </a:xfrm>
          <a:prstGeom prst="line">
            <a:avLst/>
          </a:prstGeom>
          <a:noFill/>
          <a:ln w="9525">
            <a:solidFill>
              <a:srgbClr val="23168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122889" name="Objec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7361768"/>
              </p:ext>
            </p:extLst>
          </p:nvPr>
        </p:nvGraphicFramePr>
        <p:xfrm>
          <a:off x="762000" y="2514600"/>
          <a:ext cx="19050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" name="Clip" r:id="rId3" imgW="3662280" imgH="2562120" progId="MS_ClipArt_Gallery.5">
                  <p:embed/>
                </p:oleObj>
              </mc:Choice>
              <mc:Fallback>
                <p:oleObj name="Clip" r:id="rId3" imgW="3662280" imgH="2562120" progId="MS_ClipArt_Gallery.5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514600"/>
                        <a:ext cx="19050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90" name="Rectangle 10"/>
          <p:cNvSpPr>
            <a:spLocks noChangeArrowheads="1"/>
          </p:cNvSpPr>
          <p:nvPr/>
        </p:nvSpPr>
        <p:spPr bwMode="auto">
          <a:xfrm>
            <a:off x="762000" y="1905000"/>
            <a:ext cx="2597150" cy="59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None/>
            </a:pPr>
            <a:r>
              <a:rPr lang="en-US" altLang="ja-JP" dirty="0">
                <a:solidFill>
                  <a:srgbClr val="FF3300"/>
                </a:solidFill>
                <a:latin typeface="Tahoma" charset="0"/>
                <a:ea typeface="ＭＳ Ｐゴシック" charset="-128"/>
              </a:rPr>
              <a:t>Impractical</a:t>
            </a:r>
            <a:r>
              <a:rPr lang="en-US" altLang="ja-JP" dirty="0">
                <a:latin typeface="Tahoma" charset="0"/>
                <a:ea typeface="ＭＳ Ｐゴシック" charset="-128"/>
              </a:rPr>
              <a:t> manual                                               data analysis</a:t>
            </a:r>
          </a:p>
        </p:txBody>
      </p:sp>
      <p:graphicFrame>
        <p:nvGraphicFramePr>
          <p:cNvPr id="1228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223247"/>
              </p:ext>
            </p:extLst>
          </p:nvPr>
        </p:nvGraphicFramePr>
        <p:xfrm>
          <a:off x="6858000" y="5410200"/>
          <a:ext cx="9906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" name="ｸﾘｯﾌﾟ" r:id="rId5" imgW="4182480" imgH="3215880" progId="MS_ClipArt_Gallery.2">
                  <p:embed/>
                </p:oleObj>
              </mc:Choice>
              <mc:Fallback>
                <p:oleObj name="ｸﾘｯﾌﾟ" r:id="rId5" imgW="4182480" imgH="321588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5410200"/>
                        <a:ext cx="9906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9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62080"/>
              </p:ext>
            </p:extLst>
          </p:nvPr>
        </p:nvGraphicFramePr>
        <p:xfrm>
          <a:off x="6858000" y="1765300"/>
          <a:ext cx="914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" name="ｸﾘｯﾌﾟ" r:id="rId7" imgW="3717360" imgH="3352320" progId="MS_ClipArt_Gallery.2">
                  <p:embed/>
                </p:oleObj>
              </mc:Choice>
              <mc:Fallback>
                <p:oleObj name="ｸﾘｯﾌﾟ" r:id="rId7" imgW="3717360" imgH="335232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765300"/>
                        <a:ext cx="914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9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0748999"/>
              </p:ext>
            </p:extLst>
          </p:nvPr>
        </p:nvGraphicFramePr>
        <p:xfrm>
          <a:off x="1143000" y="5040313"/>
          <a:ext cx="121920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9" name="ｸﾘｯﾌﾟ" r:id="rId9" imgW="4251240" imgH="4570200" progId="MS_ClipArt_Gallery.2">
                  <p:embed/>
                </p:oleObj>
              </mc:Choice>
              <mc:Fallback>
                <p:oleObj name="ｸﾘｯﾌﾟ" r:id="rId9" imgW="4251240" imgH="457020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040313"/>
                        <a:ext cx="1219200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775607"/>
              </p:ext>
            </p:extLst>
          </p:nvPr>
        </p:nvGraphicFramePr>
        <p:xfrm>
          <a:off x="6705600" y="3429000"/>
          <a:ext cx="8382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" name="ｸﾘｯﾌﾟ" r:id="rId11" imgW="1761480" imgH="1584360" progId="MS_ClipArt_Gallery.2">
                  <p:embed/>
                </p:oleObj>
              </mc:Choice>
              <mc:Fallback>
                <p:oleObj name="ｸﾘｯﾌﾟ" r:id="rId11" imgW="1761480" imgH="15843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429000"/>
                        <a:ext cx="83820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9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0515"/>
              </p:ext>
            </p:extLst>
          </p:nvPr>
        </p:nvGraphicFramePr>
        <p:xfrm>
          <a:off x="3733800" y="5132388"/>
          <a:ext cx="129540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" name="ｸﾘｯﾌﾟ" r:id="rId13" imgW="4716000" imgH="3542760" progId="MS_ClipArt_Gallery.2">
                  <p:embed/>
                </p:oleObj>
              </mc:Choice>
              <mc:Fallback>
                <p:oleObj name="ｸﾘｯﾌﾟ" r:id="rId13" imgW="4716000" imgH="3542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132388"/>
                        <a:ext cx="1295400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96" name="Line 16"/>
          <p:cNvSpPr>
            <a:spLocks noChangeShapeType="1"/>
          </p:cNvSpPr>
          <p:nvPr/>
        </p:nvSpPr>
        <p:spPr bwMode="auto">
          <a:xfrm flipH="1">
            <a:off x="7315200" y="2590800"/>
            <a:ext cx="0" cy="8382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897" name="Line 17"/>
          <p:cNvSpPr>
            <a:spLocks noChangeShapeType="1"/>
          </p:cNvSpPr>
          <p:nvPr/>
        </p:nvSpPr>
        <p:spPr bwMode="auto">
          <a:xfrm>
            <a:off x="2590800" y="5715000"/>
            <a:ext cx="838200" cy="0"/>
          </a:xfrm>
          <a:prstGeom prst="line">
            <a:avLst/>
          </a:prstGeom>
          <a:noFill/>
          <a:ln w="28575">
            <a:solidFill>
              <a:srgbClr val="66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898" name="Line 18"/>
          <p:cNvSpPr>
            <a:spLocks noChangeShapeType="1"/>
          </p:cNvSpPr>
          <p:nvPr/>
        </p:nvSpPr>
        <p:spPr bwMode="auto">
          <a:xfrm>
            <a:off x="7315200" y="4343400"/>
            <a:ext cx="0" cy="8382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899" name="Line 19"/>
          <p:cNvSpPr>
            <a:spLocks noChangeShapeType="1"/>
          </p:cNvSpPr>
          <p:nvPr/>
        </p:nvSpPr>
        <p:spPr bwMode="auto">
          <a:xfrm flipV="1">
            <a:off x="5257800" y="5715000"/>
            <a:ext cx="1219200" cy="0"/>
          </a:xfrm>
          <a:prstGeom prst="line">
            <a:avLst/>
          </a:prstGeom>
          <a:noFill/>
          <a:ln w="28575">
            <a:solidFill>
              <a:srgbClr val="66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00" name="Text Box 20"/>
          <p:cNvSpPr txBox="1">
            <a:spLocks noChangeArrowheads="1"/>
          </p:cNvSpPr>
          <p:nvPr/>
        </p:nvSpPr>
        <p:spPr bwMode="auto">
          <a:xfrm>
            <a:off x="7850188" y="2133600"/>
            <a:ext cx="9128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ja-JP" dirty="0">
                <a:solidFill>
                  <a:srgbClr val="0033CC"/>
                </a:solidFill>
                <a:latin typeface="Tahoma" charset="0"/>
                <a:ea typeface="ＭＳ Ｐゴシック" charset="-128"/>
              </a:rPr>
              <a:t>Expert</a:t>
            </a:r>
          </a:p>
        </p:txBody>
      </p:sp>
      <p:sp>
        <p:nvSpPr>
          <p:cNvPr id="122901" name="Text Box 21"/>
          <p:cNvSpPr txBox="1">
            <a:spLocks noChangeArrowheads="1"/>
          </p:cNvSpPr>
          <p:nvPr/>
        </p:nvSpPr>
        <p:spPr bwMode="auto">
          <a:xfrm>
            <a:off x="7620000" y="3657600"/>
            <a:ext cx="129540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lang="en-US" altLang="ja-JP">
                <a:solidFill>
                  <a:srgbClr val="0033CC"/>
                </a:solidFill>
                <a:latin typeface="Tahoma" charset="0"/>
                <a:ea typeface="ＭＳ Ｐゴシック" charset="-128"/>
              </a:rPr>
              <a:t>Knowledge </a:t>
            </a:r>
          </a:p>
          <a:p>
            <a:pPr eaLnBrk="0" hangingPunct="0">
              <a:lnSpc>
                <a:spcPct val="80000"/>
              </a:lnSpc>
            </a:pPr>
            <a:r>
              <a:rPr lang="en-US" altLang="ja-JP">
                <a:solidFill>
                  <a:srgbClr val="0033CC"/>
                </a:solidFill>
                <a:latin typeface="Tahoma" charset="0"/>
                <a:ea typeface="ＭＳ Ｐゴシック" charset="-128"/>
              </a:rPr>
              <a:t>Engineer</a:t>
            </a:r>
          </a:p>
        </p:txBody>
      </p:sp>
      <p:sp>
        <p:nvSpPr>
          <p:cNvPr id="122902" name="Text Box 22"/>
          <p:cNvSpPr txBox="1">
            <a:spLocks noChangeArrowheads="1"/>
          </p:cNvSpPr>
          <p:nvPr/>
        </p:nvSpPr>
        <p:spPr bwMode="auto">
          <a:xfrm>
            <a:off x="7323138" y="4800600"/>
            <a:ext cx="1439862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n-US" altLang="ja-JP">
                <a:latin typeface="Tahoma" charset="0"/>
                <a:ea typeface="ＭＳ Ｐゴシック" charset="-128"/>
              </a:rPr>
              <a:t>Knowledge 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altLang="ja-JP">
                <a:latin typeface="Tahoma" charset="0"/>
                <a:ea typeface="ＭＳ Ｐゴシック" charset="-128"/>
              </a:rPr>
              <a:t>Base</a:t>
            </a:r>
          </a:p>
        </p:txBody>
      </p:sp>
      <p:sp>
        <p:nvSpPr>
          <p:cNvPr id="122903" name="Text Box 23"/>
          <p:cNvSpPr txBox="1">
            <a:spLocks noChangeArrowheads="1"/>
          </p:cNvSpPr>
          <p:nvPr/>
        </p:nvSpPr>
        <p:spPr bwMode="auto">
          <a:xfrm>
            <a:off x="1447800" y="5908675"/>
            <a:ext cx="2133600" cy="31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lang="en-US" altLang="ja-JP" dirty="0">
                <a:solidFill>
                  <a:srgbClr val="008000"/>
                </a:solidFill>
                <a:latin typeface="Tahoma" charset="0"/>
                <a:ea typeface="ＭＳ Ｐゴシック" charset="-128"/>
              </a:rPr>
              <a:t>External resources</a:t>
            </a:r>
          </a:p>
        </p:txBody>
      </p:sp>
      <p:sp>
        <p:nvSpPr>
          <p:cNvPr id="122904" name="Text Box 24"/>
          <p:cNvSpPr txBox="1">
            <a:spLocks noChangeArrowheads="1"/>
          </p:cNvSpPr>
          <p:nvPr/>
        </p:nvSpPr>
        <p:spPr bwMode="auto">
          <a:xfrm>
            <a:off x="4724400" y="5867400"/>
            <a:ext cx="1676400" cy="34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0" hangingPunct="0">
              <a:lnSpc>
                <a:spcPct val="90000"/>
              </a:lnSpc>
            </a:pPr>
            <a:r>
              <a:rPr lang="en-US" altLang="ja-JP">
                <a:solidFill>
                  <a:srgbClr val="008000"/>
                </a:solidFill>
                <a:latin typeface="Tahoma" charset="0"/>
                <a:ea typeface="ＭＳ Ｐゴシック" charset="-128"/>
              </a:rPr>
              <a:t>Data Mining</a:t>
            </a:r>
          </a:p>
        </p:txBody>
      </p:sp>
    </p:spTree>
    <p:extLst>
      <p:ext uri="{BB962C8B-B14F-4D97-AF65-F5344CB8AC3E}">
        <p14:creationId xmlns:p14="http://schemas.microsoft.com/office/powerpoint/2010/main" val="1722870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KDD: Potential Applications</a:t>
            </a:r>
          </a:p>
        </p:txBody>
      </p:sp>
      <p:sp>
        <p:nvSpPr>
          <p:cNvPr id="133124" name="Rectangle 4"/>
          <p:cNvSpPr>
            <a:spLocks noChangeArrowheads="1"/>
          </p:cNvSpPr>
          <p:nvPr/>
        </p:nvSpPr>
        <p:spPr bwMode="auto">
          <a:xfrm>
            <a:off x="517525" y="2133600"/>
            <a:ext cx="3140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defTabSz="762000" eaLnBrk="0" hangingPunct="0">
              <a:spcBef>
                <a:spcPct val="50000"/>
              </a:spcBef>
            </a:pPr>
            <a:r>
              <a:rPr lang="en-US" altLang="ja-JP" sz="2400" dirty="0">
                <a:latin typeface="Tahoma" charset="0"/>
                <a:ea typeface="ＭＳ Ｐゴシック" charset="-128"/>
              </a:rPr>
              <a:t>Business information</a:t>
            </a:r>
          </a:p>
        </p:txBody>
      </p:sp>
      <p:graphicFrame>
        <p:nvGraphicFramePr>
          <p:cNvPr id="133125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1546280"/>
              </p:ext>
            </p:extLst>
          </p:nvPr>
        </p:nvGraphicFramePr>
        <p:xfrm>
          <a:off x="661670" y="2693035"/>
          <a:ext cx="1370330" cy="1193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" name="Clip" r:id="rId3" imgW="3657600" imgH="3089160" progId="MS_ClipArt_Gallery.2">
                  <p:embed/>
                </p:oleObj>
              </mc:Choice>
              <mc:Fallback>
                <p:oleObj name="Clip" r:id="rId3" imgW="3657600" imgH="308916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670" y="2693035"/>
                        <a:ext cx="1370330" cy="11931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6" name="Rectangle 6"/>
          <p:cNvSpPr>
            <a:spLocks noChangeArrowheads="1"/>
          </p:cNvSpPr>
          <p:nvPr/>
        </p:nvSpPr>
        <p:spPr bwMode="auto">
          <a:xfrm>
            <a:off x="2090420" y="2498725"/>
            <a:ext cx="27305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ja-JP" altLang="en-US" sz="2000" dirty="0">
                <a:latin typeface="Tahoma" charset="0"/>
                <a:ea typeface="ＭＳ Ｐゴシック" charset="-128"/>
              </a:rPr>
              <a:t>- </a:t>
            </a:r>
            <a:r>
              <a:rPr lang="en-US" altLang="ja-JP" sz="2000" dirty="0">
                <a:latin typeface="Tahoma" charset="0"/>
                <a:ea typeface="ＭＳ Ｐゴシック" charset="-128"/>
              </a:rPr>
              <a:t>Marketing and sales</a:t>
            </a:r>
          </a:p>
          <a:p>
            <a:pPr eaLnBrk="0" hangingPunct="0"/>
            <a:r>
              <a:rPr lang="en-US" altLang="ja-JP" sz="2000" dirty="0">
                <a:latin typeface="Tahoma" charset="0"/>
                <a:ea typeface="ＭＳ Ｐゴシック" charset="-128"/>
              </a:rPr>
              <a:t>           data analysis</a:t>
            </a:r>
          </a:p>
          <a:p>
            <a:pPr eaLnBrk="0" hangingPunct="0"/>
            <a:r>
              <a:rPr lang="en-US" altLang="ja-JP" sz="2000" dirty="0">
                <a:latin typeface="Tahoma" charset="0"/>
                <a:ea typeface="ＭＳ Ｐゴシック" charset="-128"/>
              </a:rPr>
              <a:t>- Investment analysis</a:t>
            </a:r>
          </a:p>
          <a:p>
            <a:pPr eaLnBrk="0" hangingPunct="0"/>
            <a:r>
              <a:rPr lang="en-US" altLang="ja-JP" sz="2000" dirty="0">
                <a:latin typeface="Tahoma" charset="0"/>
                <a:ea typeface="ＭＳ Ｐゴシック" charset="-128"/>
              </a:rPr>
              <a:t>- Loan approval</a:t>
            </a:r>
          </a:p>
          <a:p>
            <a:pPr eaLnBrk="0" hangingPunct="0"/>
            <a:r>
              <a:rPr lang="en-US" altLang="ja-JP" sz="2000" dirty="0">
                <a:latin typeface="Tahoma" charset="0"/>
                <a:ea typeface="ＭＳ Ｐゴシック" charset="-128"/>
              </a:rPr>
              <a:t>- Fraud detection</a:t>
            </a:r>
          </a:p>
          <a:p>
            <a:pPr eaLnBrk="0" hangingPunct="0"/>
            <a:r>
              <a:rPr lang="en-US" altLang="ja-JP" sz="2000" dirty="0">
                <a:latin typeface="Tahoma" charset="0"/>
                <a:ea typeface="ＭＳ Ｐゴシック" charset="-128"/>
              </a:rPr>
              <a:t>- etc.</a:t>
            </a:r>
          </a:p>
        </p:txBody>
      </p:sp>
      <p:sp>
        <p:nvSpPr>
          <p:cNvPr id="133127" name="Rectangle 7"/>
          <p:cNvSpPr>
            <a:spLocks noChangeArrowheads="1"/>
          </p:cNvSpPr>
          <p:nvPr/>
        </p:nvSpPr>
        <p:spPr bwMode="auto">
          <a:xfrm>
            <a:off x="4800600" y="1936127"/>
            <a:ext cx="3902075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defTabSz="762000" eaLnBrk="0" hangingPunct="0">
              <a:spcBef>
                <a:spcPct val="50000"/>
              </a:spcBef>
            </a:pPr>
            <a:r>
              <a:rPr lang="ja-JP" altLang="en-US" sz="2400" dirty="0">
                <a:latin typeface="Tahoma" charset="0"/>
                <a:ea typeface="ＭＳ Ｐゴシック" charset="-128"/>
              </a:rPr>
              <a:t> </a:t>
            </a:r>
            <a:r>
              <a:rPr lang="en-US" altLang="ja-JP" sz="2400" dirty="0">
                <a:latin typeface="Tahoma" charset="0"/>
                <a:ea typeface="ＭＳ Ｐゴシック" charset="-128"/>
              </a:rPr>
              <a:t>Manufacturing information</a:t>
            </a:r>
          </a:p>
        </p:txBody>
      </p:sp>
      <p:graphicFrame>
        <p:nvGraphicFramePr>
          <p:cNvPr id="133128" name="Objec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2615402"/>
              </p:ext>
            </p:extLst>
          </p:nvPr>
        </p:nvGraphicFramePr>
        <p:xfrm>
          <a:off x="5943600" y="2362200"/>
          <a:ext cx="1752600" cy="119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" name="Clip" r:id="rId5" imgW="3659040" imgH="2487600" progId="MS_ClipArt_Gallery.2">
                  <p:embed/>
                </p:oleObj>
              </mc:Choice>
              <mc:Fallback>
                <p:oleObj name="Clip" r:id="rId5" imgW="3659040" imgH="248760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362200"/>
                        <a:ext cx="1752600" cy="1198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9" name="Rectangle 9"/>
          <p:cNvSpPr>
            <a:spLocks noChangeArrowheads="1"/>
          </p:cNvSpPr>
          <p:nvPr/>
        </p:nvSpPr>
        <p:spPr bwMode="auto">
          <a:xfrm>
            <a:off x="5105400" y="3489325"/>
            <a:ext cx="3960813" cy="132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/>
            <a:r>
              <a:rPr lang="ja-JP" altLang="en-US" sz="2000" dirty="0">
                <a:latin typeface="Tahoma" charset="0"/>
                <a:ea typeface="ＭＳ Ｐゴシック" charset="-128"/>
              </a:rPr>
              <a:t>- </a:t>
            </a:r>
            <a:r>
              <a:rPr lang="en-US" altLang="ja-JP" sz="2000" dirty="0">
                <a:latin typeface="Tahoma" charset="0"/>
                <a:ea typeface="ＭＳ Ｐゴシック" charset="-128"/>
              </a:rPr>
              <a:t>Controlling and scheduling</a:t>
            </a:r>
          </a:p>
          <a:p>
            <a:pPr eaLnBrk="0" hangingPunct="0"/>
            <a:r>
              <a:rPr lang="en-US" altLang="ja-JP" sz="2000" dirty="0">
                <a:latin typeface="Tahoma" charset="0"/>
                <a:ea typeface="ＭＳ Ｐゴシック" charset="-128"/>
              </a:rPr>
              <a:t>- Network management</a:t>
            </a:r>
          </a:p>
          <a:p>
            <a:pPr eaLnBrk="0" hangingPunct="0"/>
            <a:r>
              <a:rPr lang="en-US" altLang="ja-JP" sz="2000" dirty="0">
                <a:latin typeface="Tahoma" charset="0"/>
                <a:ea typeface="ＭＳ Ｐゴシック" charset="-128"/>
              </a:rPr>
              <a:t>- Experiment result analysis</a:t>
            </a:r>
          </a:p>
          <a:p>
            <a:pPr eaLnBrk="0" hangingPunct="0"/>
            <a:r>
              <a:rPr lang="en-US" altLang="ja-JP" sz="2000" dirty="0">
                <a:latin typeface="Tahoma" charset="0"/>
                <a:ea typeface="ＭＳ Ｐゴシック" charset="-128"/>
              </a:rPr>
              <a:t>- etc.</a:t>
            </a:r>
          </a:p>
        </p:txBody>
      </p:sp>
      <p:sp>
        <p:nvSpPr>
          <p:cNvPr id="133130" name="Rectangle 10"/>
          <p:cNvSpPr>
            <a:spLocks noChangeArrowheads="1"/>
          </p:cNvSpPr>
          <p:nvPr/>
        </p:nvSpPr>
        <p:spPr bwMode="auto">
          <a:xfrm>
            <a:off x="530225" y="4610100"/>
            <a:ext cx="3003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defTabSz="762000" eaLnBrk="0" hangingPunct="0"/>
            <a:r>
              <a:rPr lang="en-US" altLang="ja-JP" sz="2400" dirty="0">
                <a:latin typeface="Tahoma" charset="0"/>
                <a:ea typeface="ＭＳ Ｐゴシック" charset="-128"/>
              </a:rPr>
              <a:t>Scientific information</a:t>
            </a:r>
          </a:p>
        </p:txBody>
      </p:sp>
      <p:graphicFrame>
        <p:nvGraphicFramePr>
          <p:cNvPr id="133131" name="Objec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0869175"/>
              </p:ext>
            </p:extLst>
          </p:nvPr>
        </p:nvGraphicFramePr>
        <p:xfrm>
          <a:off x="620713" y="5013325"/>
          <a:ext cx="18669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" name="Clip" r:id="rId7" imgW="4518000" imgH="3313080" progId="MS_ClipArt_Gallery.2">
                  <p:embed/>
                </p:oleObj>
              </mc:Choice>
              <mc:Fallback>
                <p:oleObj name="Clip" r:id="rId7" imgW="4518000" imgH="331308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3" y="5013325"/>
                        <a:ext cx="18669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2" name="Rectangle 12"/>
          <p:cNvSpPr>
            <a:spLocks noChangeArrowheads="1"/>
          </p:cNvSpPr>
          <p:nvPr/>
        </p:nvSpPr>
        <p:spPr bwMode="auto">
          <a:xfrm>
            <a:off x="2525713" y="5089525"/>
            <a:ext cx="3532187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ja-JP" altLang="en-US" sz="2000">
                <a:latin typeface="Tahoma" charset="0"/>
                <a:ea typeface="ＭＳ Ｐゴシック" charset="-128"/>
              </a:rPr>
              <a:t>- </a:t>
            </a:r>
            <a:r>
              <a:rPr lang="en-US" altLang="ja-JP" sz="2000">
                <a:latin typeface="Tahoma" charset="0"/>
                <a:ea typeface="ＭＳ Ｐゴシック" charset="-128"/>
              </a:rPr>
              <a:t>Sky survey cataloging</a:t>
            </a:r>
          </a:p>
          <a:p>
            <a:pPr eaLnBrk="0" hangingPunct="0"/>
            <a:r>
              <a:rPr lang="en-US" altLang="ja-JP" sz="2000">
                <a:latin typeface="Tahoma" charset="0"/>
                <a:ea typeface="ＭＳ Ｐゴシック" charset="-128"/>
              </a:rPr>
              <a:t>- Biosequence Databases</a:t>
            </a:r>
          </a:p>
          <a:p>
            <a:pPr eaLnBrk="0" hangingPunct="0"/>
            <a:r>
              <a:rPr lang="en-US" altLang="ja-JP" sz="2000">
                <a:latin typeface="Tahoma" charset="0"/>
                <a:ea typeface="ＭＳ Ｐゴシック" charset="-128"/>
              </a:rPr>
              <a:t>- Geosciences: Quakefinder</a:t>
            </a:r>
          </a:p>
          <a:p>
            <a:pPr eaLnBrk="0" hangingPunct="0"/>
            <a:r>
              <a:rPr lang="en-US" altLang="ja-JP" sz="2000">
                <a:latin typeface="Tahoma" charset="0"/>
                <a:ea typeface="ＭＳ Ｐゴシック" charset="-128"/>
              </a:rPr>
              <a:t>- etc.</a:t>
            </a:r>
          </a:p>
        </p:txBody>
      </p:sp>
      <p:sp>
        <p:nvSpPr>
          <p:cNvPr id="133133" name="Rectangle 13"/>
          <p:cNvSpPr>
            <a:spLocks noChangeArrowheads="1"/>
          </p:cNvSpPr>
          <p:nvPr/>
        </p:nvSpPr>
        <p:spPr bwMode="auto">
          <a:xfrm>
            <a:off x="5551488" y="4808538"/>
            <a:ext cx="3271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defTabSz="762000" eaLnBrk="0" hangingPunct="0"/>
            <a:r>
              <a:rPr lang="en-US" altLang="ja-JP" sz="2400">
                <a:latin typeface="Tahoma" charset="0"/>
                <a:ea typeface="ＭＳ Ｐゴシック" charset="-128"/>
              </a:rPr>
              <a:t>Personal information</a:t>
            </a:r>
          </a:p>
        </p:txBody>
      </p:sp>
      <p:graphicFrame>
        <p:nvGraphicFramePr>
          <p:cNvPr id="133134" name="Object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812496"/>
              </p:ext>
            </p:extLst>
          </p:nvPr>
        </p:nvGraphicFramePr>
        <p:xfrm>
          <a:off x="6461125" y="5210175"/>
          <a:ext cx="1703388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" name="Clip" r:id="rId9" imgW="3636720" imgH="3659040" progId="MS_ClipArt_Gallery.2">
                  <p:embed/>
                </p:oleObj>
              </mc:Choice>
              <mc:Fallback>
                <p:oleObj name="Clip" r:id="rId9" imgW="3636720" imgH="365904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25" y="5210175"/>
                        <a:ext cx="1703388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538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KDD </a:t>
            </a:r>
            <a:r>
              <a:rPr lang="es-ES" dirty="0" err="1" smtClean="0"/>
              <a:t>Process</a:t>
            </a:r>
            <a:endParaRPr lang="es-ES" dirty="0"/>
          </a:p>
        </p:txBody>
      </p:sp>
      <p:graphicFrame>
        <p:nvGraphicFramePr>
          <p:cNvPr id="105476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5305035"/>
              </p:ext>
            </p:extLst>
          </p:nvPr>
        </p:nvGraphicFramePr>
        <p:xfrm>
          <a:off x="609600" y="1981200"/>
          <a:ext cx="7852254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Photo Editor Photo" r:id="rId3" imgW="5619048" imgH="2781688" progId="MSPhotoEd.3">
                  <p:embed/>
                </p:oleObj>
              </mc:Choice>
              <mc:Fallback>
                <p:oleObj name="Photo Editor Photo" r:id="rId3" imgW="5619048" imgH="2781688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981200"/>
                        <a:ext cx="7852254" cy="388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449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KDD </a:t>
            </a:r>
            <a:r>
              <a:rPr lang="es-ES" dirty="0" err="1" smtClean="0"/>
              <a:t>Process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ES" dirty="0" smtClean="0"/>
              <a:t>Data </a:t>
            </a:r>
            <a:r>
              <a:rPr lang="es-ES" dirty="0" err="1" smtClean="0"/>
              <a:t>integration</a:t>
            </a:r>
            <a:r>
              <a:rPr lang="es-ES" dirty="0" smtClean="0"/>
              <a:t> and </a:t>
            </a:r>
            <a:r>
              <a:rPr lang="es-ES" dirty="0" err="1" smtClean="0"/>
              <a:t>recopilation</a:t>
            </a:r>
            <a:endParaRPr lang="es-ES" dirty="0"/>
          </a:p>
          <a:p>
            <a:pPr marL="457200" indent="-457200">
              <a:buFont typeface="+mj-lt"/>
              <a:buAutoNum type="arabicPeriod"/>
            </a:pPr>
            <a:r>
              <a:rPr lang="es-ES" dirty="0" err="1" smtClean="0"/>
              <a:t>Selection</a:t>
            </a:r>
            <a:r>
              <a:rPr lang="es-ES" dirty="0" smtClean="0"/>
              <a:t>, </a:t>
            </a:r>
            <a:r>
              <a:rPr lang="es-ES" dirty="0" err="1" smtClean="0"/>
              <a:t>cleaning</a:t>
            </a:r>
            <a:r>
              <a:rPr lang="es-ES" dirty="0" smtClean="0"/>
              <a:t> and </a:t>
            </a:r>
            <a:r>
              <a:rPr lang="es-ES" dirty="0" err="1" smtClean="0"/>
              <a:t>transformation</a:t>
            </a:r>
            <a:endParaRPr lang="es-ES" dirty="0" smtClean="0"/>
          </a:p>
          <a:p>
            <a:pPr lvl="1"/>
            <a:r>
              <a:rPr lang="es-ES" dirty="0" smtClean="0"/>
              <a:t>Data</a:t>
            </a:r>
            <a:endParaRPr lang="es-ES" dirty="0"/>
          </a:p>
          <a:p>
            <a:pPr marL="457200" indent="-457200">
              <a:buFont typeface="+mj-lt"/>
              <a:buAutoNum type="arabicPeriod"/>
            </a:pPr>
            <a:r>
              <a:rPr lang="es-ES" dirty="0" smtClean="0"/>
              <a:t>Machine </a:t>
            </a:r>
            <a:r>
              <a:rPr lang="es-ES" dirty="0" err="1" smtClean="0"/>
              <a:t>Learning</a:t>
            </a:r>
            <a:r>
              <a:rPr lang="es-ES" dirty="0" smtClean="0"/>
              <a:t> (data </a:t>
            </a:r>
            <a:r>
              <a:rPr lang="es-ES" dirty="0" err="1" smtClean="0"/>
              <a:t>mining</a:t>
            </a:r>
            <a:r>
              <a:rPr lang="es-ES" dirty="0" smtClean="0"/>
              <a:t>)</a:t>
            </a:r>
          </a:p>
          <a:p>
            <a:pPr lvl="1"/>
            <a:r>
              <a:rPr lang="es-ES" dirty="0" err="1" smtClean="0"/>
              <a:t>Patterns</a:t>
            </a:r>
            <a:r>
              <a:rPr lang="es-ES" dirty="0" smtClean="0"/>
              <a:t> (</a:t>
            </a:r>
            <a:r>
              <a:rPr lang="es-ES" dirty="0" err="1" smtClean="0"/>
              <a:t>e.g</a:t>
            </a:r>
            <a:r>
              <a:rPr lang="es-ES" dirty="0" smtClean="0"/>
              <a:t>., </a:t>
            </a:r>
            <a:r>
              <a:rPr lang="es-ES" dirty="0" err="1" smtClean="0"/>
              <a:t>classifiers</a:t>
            </a:r>
            <a:r>
              <a:rPr lang="es-ES" dirty="0" smtClean="0"/>
              <a:t>, rules, etc.)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 err="1" smtClean="0"/>
              <a:t>Evaluation</a:t>
            </a:r>
            <a:r>
              <a:rPr lang="es-ES" dirty="0" smtClean="0"/>
              <a:t> and </a:t>
            </a:r>
            <a:r>
              <a:rPr lang="es-ES" dirty="0" err="1" smtClean="0"/>
              <a:t>interpretation</a:t>
            </a:r>
            <a:r>
              <a:rPr lang="es-ES" dirty="0" smtClean="0"/>
              <a:t> </a:t>
            </a:r>
          </a:p>
          <a:p>
            <a:pPr lvl="1"/>
            <a:r>
              <a:rPr lang="es-ES" dirty="0" err="1" smtClean="0"/>
              <a:t>Knowledge</a:t>
            </a:r>
            <a:endParaRPr lang="es-ES" dirty="0" smtClean="0"/>
          </a:p>
          <a:p>
            <a:pPr marL="457200" indent="-457200">
              <a:buFont typeface="+mj-lt"/>
              <a:buAutoNum type="arabicPeriod"/>
            </a:pPr>
            <a:r>
              <a:rPr lang="es-ES" dirty="0" err="1" smtClean="0"/>
              <a:t>Decision</a:t>
            </a:r>
            <a:r>
              <a:rPr lang="es-ES" dirty="0" smtClean="0"/>
              <a:t> </a:t>
            </a:r>
            <a:r>
              <a:rPr lang="es-ES" dirty="0" err="1" smtClean="0"/>
              <a:t>making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3287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KDD </a:t>
            </a:r>
            <a:r>
              <a:rPr lang="es-ES" dirty="0" err="1" smtClean="0"/>
              <a:t>Process</a:t>
            </a:r>
            <a:r>
              <a:rPr lang="es-ES" dirty="0"/>
              <a:t>:</a:t>
            </a:r>
            <a:r>
              <a:rPr lang="es-ES" dirty="0" smtClean="0"/>
              <a:t> </a:t>
            </a:r>
            <a:r>
              <a:rPr lang="es-ES" dirty="0" err="1" smtClean="0"/>
              <a:t>Integration</a:t>
            </a:r>
            <a:r>
              <a:rPr lang="es-ES" dirty="0" smtClean="0"/>
              <a:t> &amp; </a:t>
            </a:r>
            <a:r>
              <a:rPr lang="es-ES" dirty="0" err="1" smtClean="0"/>
              <a:t>Recopilation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Data warehousing, databases, data repositories from different and heterogeneous sources.</a:t>
            </a:r>
          </a:p>
          <a:p>
            <a:r>
              <a:rPr lang="es-ES" dirty="0" err="1" smtClean="0"/>
              <a:t>We</a:t>
            </a:r>
            <a:r>
              <a:rPr lang="es-ES" dirty="0" smtClean="0"/>
              <a:t> </a:t>
            </a:r>
            <a:r>
              <a:rPr lang="es-ES" dirty="0" err="1" smtClean="0"/>
              <a:t>usually</a:t>
            </a:r>
            <a:r>
              <a:rPr lang="es-ES" dirty="0" smtClean="0"/>
              <a:t> </a:t>
            </a:r>
            <a:r>
              <a:rPr lang="es-ES" dirty="0" err="1" smtClean="0"/>
              <a:t>deal</a:t>
            </a:r>
            <a:r>
              <a:rPr lang="es-ES" dirty="0" smtClean="0"/>
              <a:t> </a:t>
            </a:r>
            <a:r>
              <a:rPr lang="es-ES" dirty="0" err="1" smtClean="0"/>
              <a:t>with</a:t>
            </a:r>
            <a:r>
              <a:rPr lang="es-ES" dirty="0" smtClean="0"/>
              <a:t> a </a:t>
            </a:r>
            <a:r>
              <a:rPr lang="es-ES" dirty="0" err="1" smtClean="0"/>
              <a:t>plain</a:t>
            </a:r>
            <a:r>
              <a:rPr lang="es-ES" dirty="0" smtClean="0"/>
              <a:t> and flat </a:t>
            </a:r>
            <a:r>
              <a:rPr lang="es-ES" dirty="0" err="1" smtClean="0"/>
              <a:t>matrix</a:t>
            </a:r>
            <a:r>
              <a:rPr lang="es-ES" dirty="0"/>
              <a:t> </a:t>
            </a:r>
            <a:r>
              <a:rPr lang="es-ES" dirty="0" smtClean="0"/>
              <a:t>of data</a:t>
            </a:r>
            <a:endParaRPr lang="en-GB" dirty="0" smtClean="0"/>
          </a:p>
          <a:p>
            <a:endParaRPr lang="en-GB" dirty="0"/>
          </a:p>
        </p:txBody>
      </p:sp>
      <p:grpSp>
        <p:nvGrpSpPr>
          <p:cNvPr id="4" name="Group 3"/>
          <p:cNvGrpSpPr/>
          <p:nvPr/>
        </p:nvGrpSpPr>
        <p:grpSpPr>
          <a:xfrm>
            <a:off x="800100" y="3048000"/>
            <a:ext cx="7810500" cy="3492500"/>
            <a:chOff x="800100" y="2772905"/>
            <a:chExt cx="7810500" cy="3551695"/>
          </a:xfrm>
        </p:grpSpPr>
        <p:sp>
          <p:nvSpPr>
            <p:cNvPr id="6" name="AutoShape 5"/>
            <p:cNvSpPr>
              <a:spLocks noChangeArrowheads="1"/>
            </p:cNvSpPr>
            <p:nvPr/>
          </p:nvSpPr>
          <p:spPr bwMode="auto">
            <a:xfrm>
              <a:off x="800100" y="2772905"/>
              <a:ext cx="1143000" cy="762000"/>
            </a:xfrm>
            <a:prstGeom prst="can">
              <a:avLst>
                <a:gd name="adj" fmla="val 25000"/>
              </a:avLst>
            </a:prstGeom>
            <a:solidFill>
              <a:srgbClr val="00339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ja-JP" sz="140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Data source</a:t>
              </a:r>
            </a:p>
            <a:p>
              <a:pPr algn="ctr"/>
              <a:r>
                <a:rPr kumimoji="1" lang="en-US" altLang="ja-JP" sz="140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in London</a:t>
              </a:r>
            </a:p>
          </p:txBody>
        </p:sp>
        <p:sp>
          <p:nvSpPr>
            <p:cNvPr id="7" name="AutoShape 6"/>
            <p:cNvSpPr>
              <a:spLocks noChangeArrowheads="1"/>
            </p:cNvSpPr>
            <p:nvPr/>
          </p:nvSpPr>
          <p:spPr bwMode="auto">
            <a:xfrm>
              <a:off x="800100" y="4464803"/>
              <a:ext cx="1143000" cy="762000"/>
            </a:xfrm>
            <a:prstGeom prst="can">
              <a:avLst>
                <a:gd name="adj" fmla="val 25000"/>
              </a:avLst>
            </a:prstGeom>
            <a:solidFill>
              <a:srgbClr val="00339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ja-JP" sz="14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Data source</a:t>
              </a:r>
            </a:p>
            <a:p>
              <a:pPr algn="ctr"/>
              <a:r>
                <a:rPr kumimoji="1" lang="en-US" altLang="ja-JP" sz="14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in Seville</a:t>
              </a:r>
            </a:p>
          </p:txBody>
        </p:sp>
        <p:sp>
          <p:nvSpPr>
            <p:cNvPr id="8" name="AutoShape 7"/>
            <p:cNvSpPr>
              <a:spLocks noChangeArrowheads="1"/>
            </p:cNvSpPr>
            <p:nvPr/>
          </p:nvSpPr>
          <p:spPr bwMode="auto">
            <a:xfrm>
              <a:off x="800100" y="3625312"/>
              <a:ext cx="1143000" cy="762000"/>
            </a:xfrm>
            <a:prstGeom prst="can">
              <a:avLst>
                <a:gd name="adj" fmla="val 25000"/>
              </a:avLst>
            </a:prstGeom>
            <a:solidFill>
              <a:srgbClr val="00339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ja-JP" sz="14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Data source</a:t>
              </a:r>
            </a:p>
            <a:p>
              <a:pPr algn="ctr"/>
              <a:r>
                <a:rPr kumimoji="1" lang="en-US" altLang="ja-JP" sz="14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in Toronto</a:t>
              </a:r>
            </a:p>
          </p:txBody>
        </p:sp>
        <p:sp>
          <p:nvSpPr>
            <p:cNvPr id="9" name="AutoShape 8"/>
            <p:cNvSpPr>
              <a:spLocks noChangeArrowheads="1"/>
            </p:cNvSpPr>
            <p:nvPr/>
          </p:nvSpPr>
          <p:spPr bwMode="auto">
            <a:xfrm>
              <a:off x="2209800" y="3162300"/>
              <a:ext cx="990600" cy="1981200"/>
            </a:xfrm>
            <a:prstGeom prst="rightArrow">
              <a:avLst>
                <a:gd name="adj1" fmla="val 66870"/>
                <a:gd name="adj2" fmla="val 60417"/>
              </a:avLst>
            </a:prstGeom>
            <a:solidFill>
              <a:srgbClr val="00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ja-JP" sz="1400">
                <a:solidFill>
                  <a:schemeClr val="bg1"/>
                </a:solidFill>
                <a:latin typeface="Tahoma" charset="0"/>
                <a:ea typeface="ＭＳ Ｐゴシック" charset="-128"/>
              </a:endParaRPr>
            </a:p>
          </p:txBody>
        </p:sp>
        <p:sp>
          <p:nvSpPr>
            <p:cNvPr id="10" name="AutoShape 9"/>
            <p:cNvSpPr>
              <a:spLocks noChangeArrowheads="1"/>
            </p:cNvSpPr>
            <p:nvPr/>
          </p:nvSpPr>
          <p:spPr bwMode="auto">
            <a:xfrm>
              <a:off x="3451274" y="3162300"/>
              <a:ext cx="1143000" cy="1600200"/>
            </a:xfrm>
            <a:prstGeom prst="can">
              <a:avLst>
                <a:gd name="adj" fmla="val 35000"/>
              </a:avLst>
            </a:prstGeom>
            <a:solidFill>
              <a:srgbClr val="00339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ja-JP" sz="14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Data </a:t>
              </a:r>
            </a:p>
            <a:p>
              <a:pPr algn="ctr"/>
              <a:r>
                <a:rPr kumimoji="1" lang="en-US" altLang="ja-JP" sz="14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warehouse</a:t>
              </a:r>
            </a:p>
          </p:txBody>
        </p:sp>
        <p:sp>
          <p:nvSpPr>
            <p:cNvPr id="11" name="AutoShape 10"/>
            <p:cNvSpPr>
              <a:spLocks noChangeArrowheads="1"/>
            </p:cNvSpPr>
            <p:nvPr/>
          </p:nvSpPr>
          <p:spPr bwMode="auto">
            <a:xfrm>
              <a:off x="5486400" y="3679059"/>
              <a:ext cx="1600200" cy="609600"/>
            </a:xfrm>
            <a:prstGeom prst="roundRect">
              <a:avLst>
                <a:gd name="adj" fmla="val 16667"/>
              </a:avLst>
            </a:prstGeom>
            <a:solidFill>
              <a:srgbClr val="00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ja-JP" sz="14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Query tool</a:t>
              </a: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V="1">
              <a:off x="4648200" y="4006610"/>
              <a:ext cx="762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1371600" y="5562600"/>
              <a:ext cx="7239000" cy="685800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ja-JP" altLang="en-US" sz="2800">
                <a:latin typeface="Tahoma" charset="0"/>
                <a:ea typeface="ＭＳ Ｐゴシック" charset="-128"/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1371600" y="5791200"/>
              <a:ext cx="72390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1371600" y="5600700"/>
              <a:ext cx="7010400" cy="723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ja-JP" sz="1000" dirty="0" err="1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Cust</a:t>
              </a:r>
              <a:r>
                <a:rPr kumimoji="1" lang="en-US" altLang="ja-JP" sz="10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-ID              name                   address                                    age                 income             credit-info            .</a:t>
              </a:r>
            </a:p>
            <a:p>
              <a:pPr>
                <a:spcBef>
                  <a:spcPct val="15000"/>
                </a:spcBef>
              </a:pPr>
              <a:r>
                <a:rPr kumimoji="1" lang="en-US" altLang="ja-JP" sz="10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     C1            Smith, Sandy         5463 E Hasting, Burnaby               21                   $27000                 1                  </a:t>
              </a:r>
              <a:r>
                <a:rPr kumimoji="1" lang="en-US" altLang="ja-JP" sz="1000" dirty="0">
                  <a:solidFill>
                    <a:schemeClr val="bg1"/>
                  </a:solidFill>
                  <a:latin typeface="Times New Roman"/>
                  <a:ea typeface="ＭＳ Ｐゴシック" charset="-128"/>
                </a:rPr>
                <a:t>…</a:t>
              </a:r>
              <a:endParaRPr kumimoji="1" lang="en-US" altLang="ja-JP" sz="1000" dirty="0">
                <a:solidFill>
                  <a:schemeClr val="bg1"/>
                </a:solidFill>
                <a:latin typeface="Tahoma" charset="0"/>
                <a:ea typeface="ＭＳ Ｐゴシック" charset="-128"/>
              </a:endParaRPr>
            </a:p>
            <a:p>
              <a:r>
                <a:rPr kumimoji="1" lang="en-US" altLang="ja-JP" sz="10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                                                 BC V5A 459, Canada        </a:t>
              </a:r>
            </a:p>
            <a:p>
              <a:r>
                <a:rPr kumimoji="1" lang="en-US" altLang="ja-JP" sz="10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    </a:t>
              </a:r>
              <a:r>
                <a:rPr kumimoji="1" lang="en-US" altLang="ja-JP" sz="1000" dirty="0">
                  <a:solidFill>
                    <a:schemeClr val="bg1"/>
                  </a:solidFill>
                  <a:latin typeface="Times New Roman"/>
                  <a:ea typeface="ＭＳ Ｐゴシック" charset="-128"/>
                </a:rPr>
                <a:t>…</a:t>
              </a:r>
              <a:r>
                <a:rPr kumimoji="1" lang="en-US" altLang="ja-JP" sz="10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                   </a:t>
              </a:r>
              <a:r>
                <a:rPr kumimoji="1" lang="en-US" altLang="ja-JP" sz="1000" dirty="0">
                  <a:solidFill>
                    <a:schemeClr val="bg1"/>
                  </a:solidFill>
                  <a:latin typeface="Times New Roman"/>
                  <a:ea typeface="ＭＳ Ｐゴシック" charset="-128"/>
                </a:rPr>
                <a:t>…</a:t>
              </a:r>
              <a:r>
                <a:rPr kumimoji="1" lang="en-US" altLang="ja-JP" sz="10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                        </a:t>
              </a:r>
              <a:r>
                <a:rPr kumimoji="1" lang="en-US" altLang="ja-JP" sz="1000" dirty="0">
                  <a:solidFill>
                    <a:schemeClr val="bg1"/>
                  </a:solidFill>
                  <a:latin typeface="Times New Roman"/>
                  <a:ea typeface="ＭＳ Ｐゴシック" charset="-128"/>
                </a:rPr>
                <a:t>…</a:t>
              </a:r>
              <a:r>
                <a:rPr kumimoji="1" lang="en-US" altLang="ja-JP" sz="10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                                          </a:t>
              </a:r>
              <a:r>
                <a:rPr kumimoji="1" lang="en-US" altLang="ja-JP" sz="1000" dirty="0">
                  <a:solidFill>
                    <a:schemeClr val="bg1"/>
                  </a:solidFill>
                  <a:latin typeface="Times New Roman"/>
                  <a:ea typeface="ＭＳ Ｐゴシック" charset="-128"/>
                </a:rPr>
                <a:t>…</a:t>
              </a:r>
              <a:r>
                <a:rPr kumimoji="1" lang="en-US" altLang="ja-JP" sz="10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                     </a:t>
              </a:r>
              <a:r>
                <a:rPr kumimoji="1" lang="en-US" altLang="ja-JP" sz="1000" dirty="0">
                  <a:solidFill>
                    <a:schemeClr val="bg1"/>
                  </a:solidFill>
                  <a:latin typeface="Times New Roman"/>
                  <a:ea typeface="ＭＳ Ｐゴシック" charset="-128"/>
                </a:rPr>
                <a:t>…</a:t>
              </a:r>
              <a:r>
                <a:rPr kumimoji="1" lang="en-US" altLang="ja-JP" sz="10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                    </a:t>
              </a:r>
              <a:r>
                <a:rPr kumimoji="1" lang="en-US" altLang="ja-JP" sz="1000" dirty="0">
                  <a:solidFill>
                    <a:schemeClr val="bg1"/>
                  </a:solidFill>
                  <a:latin typeface="Times New Roman"/>
                  <a:ea typeface="ＭＳ Ｐゴシック" charset="-128"/>
                </a:rPr>
                <a:t>…</a:t>
              </a:r>
              <a:r>
                <a:rPr kumimoji="1" lang="en-US" altLang="ja-JP" sz="10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                   </a:t>
              </a:r>
              <a:r>
                <a:rPr kumimoji="1" lang="en-US" altLang="ja-JP" sz="1000" dirty="0">
                  <a:solidFill>
                    <a:schemeClr val="bg1"/>
                  </a:solidFill>
                  <a:latin typeface="Times New Roman"/>
                  <a:ea typeface="ＭＳ Ｐゴシック" charset="-128"/>
                </a:rPr>
                <a:t>…</a:t>
              </a:r>
              <a:r>
                <a:rPr kumimoji="1" lang="en-US" altLang="ja-JP" sz="1000" dirty="0">
                  <a:solidFill>
                    <a:schemeClr val="bg1"/>
                  </a:solidFill>
                  <a:latin typeface="Tahoma" charset="0"/>
                  <a:ea typeface="ＭＳ Ｐゴシック" charset="-128"/>
                </a:rPr>
                <a:t>     </a:t>
              </a: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2133600" y="5562600"/>
              <a:ext cx="0" cy="7620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200400" y="5562600"/>
              <a:ext cx="0" cy="7620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5105400" y="5562600"/>
              <a:ext cx="0" cy="7620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5943600" y="5562600"/>
              <a:ext cx="0" cy="7620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6934200" y="5562600"/>
              <a:ext cx="0" cy="7620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8001000" y="5562600"/>
              <a:ext cx="0" cy="7620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1295400" y="5334000"/>
              <a:ext cx="90011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ja-JP" sz="1200" b="1">
                  <a:solidFill>
                    <a:srgbClr val="003399"/>
                  </a:solidFill>
                  <a:latin typeface="Tahoma" charset="0"/>
                  <a:ea typeface="ＭＳ Ｐゴシック" charset="-128"/>
                </a:rPr>
                <a:t>customer</a:t>
              </a:r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5334000" y="2993351"/>
              <a:ext cx="1905000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s-ES" dirty="0"/>
                <a:t>INFORMATION</a:t>
              </a:r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6431498" y="4463534"/>
              <a:ext cx="100540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s-ES" dirty="0"/>
                <a:t>Flat File</a:t>
              </a:r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>
              <a:off x="6261100" y="4463534"/>
              <a:ext cx="0" cy="87046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2093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533400"/>
            <a:ext cx="8610600" cy="990600"/>
          </a:xfrm>
        </p:spPr>
        <p:txBody>
          <a:bodyPr>
            <a:noAutofit/>
          </a:bodyPr>
          <a:lstStyle/>
          <a:p>
            <a:r>
              <a:rPr lang="en-GB" sz="3000" dirty="0" smtClean="0"/>
              <a:t>KDD Process: Selection, cleaning and transformation</a:t>
            </a:r>
            <a:endParaRPr lang="en-GB" sz="30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Removing Outliers</a:t>
            </a:r>
          </a:p>
          <a:p>
            <a:r>
              <a:rPr lang="en-GB" dirty="0" smtClean="0"/>
              <a:t>Data Sampling (if there are too much data)</a:t>
            </a:r>
          </a:p>
          <a:p>
            <a:r>
              <a:rPr lang="en-GB" dirty="0" smtClean="0"/>
              <a:t>Missing Values</a:t>
            </a:r>
          </a:p>
          <a:p>
            <a:r>
              <a:rPr lang="en-GB" dirty="0" smtClean="0"/>
              <a:t>Removing redundant and irrelevant attributes (feature selection)</a:t>
            </a:r>
          </a:p>
          <a:p>
            <a:r>
              <a:rPr lang="es-ES" dirty="0" smtClean="0"/>
              <a:t>Derive new </a:t>
            </a:r>
            <a:r>
              <a:rPr lang="es-ES" dirty="0" err="1" smtClean="0"/>
              <a:t>attributes</a:t>
            </a:r>
            <a:r>
              <a:rPr lang="es-ES" dirty="0" smtClean="0"/>
              <a:t> </a:t>
            </a:r>
            <a:r>
              <a:rPr lang="es-ES" dirty="0" err="1" smtClean="0"/>
              <a:t>from</a:t>
            </a:r>
            <a:r>
              <a:rPr lang="es-ES" dirty="0" smtClean="0"/>
              <a:t> </a:t>
            </a:r>
            <a:r>
              <a:rPr lang="es-ES" dirty="0" err="1" smtClean="0"/>
              <a:t>existing</a:t>
            </a:r>
            <a:r>
              <a:rPr lang="es-ES" dirty="0" smtClean="0"/>
              <a:t> </a:t>
            </a:r>
            <a:r>
              <a:rPr lang="es-ES" dirty="0" err="1" smtClean="0"/>
              <a:t>ones</a:t>
            </a:r>
            <a:endParaRPr lang="es-ES" dirty="0" smtClean="0"/>
          </a:p>
          <a:p>
            <a:pPr lvl="1"/>
            <a:r>
              <a:rPr lang="es-ES" dirty="0" err="1" smtClean="0"/>
              <a:t>E.g</a:t>
            </a:r>
            <a:r>
              <a:rPr lang="es-ES" dirty="0" smtClean="0"/>
              <a:t>., </a:t>
            </a:r>
            <a:r>
              <a:rPr lang="es-ES" dirty="0" err="1" smtClean="0"/>
              <a:t>Population</a:t>
            </a:r>
            <a:r>
              <a:rPr lang="es-ES" dirty="0" smtClean="0"/>
              <a:t> </a:t>
            </a:r>
            <a:r>
              <a:rPr lang="es-ES" dirty="0" err="1" smtClean="0"/>
              <a:t>density</a:t>
            </a:r>
            <a:r>
              <a:rPr lang="es-ES" dirty="0" smtClean="0"/>
              <a:t> </a:t>
            </a:r>
            <a:r>
              <a:rPr lang="es-ES" dirty="0" err="1" smtClean="0"/>
              <a:t>from</a:t>
            </a:r>
            <a:r>
              <a:rPr lang="es-ES" dirty="0" smtClean="0"/>
              <a:t> </a:t>
            </a:r>
            <a:r>
              <a:rPr lang="es-ES" dirty="0" err="1" smtClean="0"/>
              <a:t>population</a:t>
            </a:r>
            <a:r>
              <a:rPr lang="es-ES" dirty="0" smtClean="0"/>
              <a:t> and </a:t>
            </a:r>
            <a:r>
              <a:rPr lang="es-ES" dirty="0" err="1" smtClean="0"/>
              <a:t>area</a:t>
            </a:r>
            <a:endParaRPr lang="en-GB" dirty="0" smtClean="0"/>
          </a:p>
          <a:p>
            <a:r>
              <a:rPr lang="es-ES" dirty="0" err="1" smtClean="0"/>
              <a:t>Discretisation</a:t>
            </a:r>
            <a:r>
              <a:rPr lang="es-ES" dirty="0" smtClean="0"/>
              <a:t>, </a:t>
            </a:r>
            <a:r>
              <a:rPr lang="es-ES" dirty="0" err="1" smtClean="0"/>
              <a:t>normalisation</a:t>
            </a:r>
            <a:r>
              <a:rPr lang="es-ES" dirty="0" smtClean="0"/>
              <a:t>, etc.</a:t>
            </a:r>
          </a:p>
          <a:p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119919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KDD </a:t>
            </a:r>
            <a:r>
              <a:rPr lang="es-ES" dirty="0" err="1" smtClean="0"/>
              <a:t>Model</a:t>
            </a:r>
            <a:r>
              <a:rPr lang="es-ES" dirty="0" smtClean="0"/>
              <a:t> </a:t>
            </a:r>
            <a:r>
              <a:rPr lang="es-ES" dirty="0" err="1" smtClean="0"/>
              <a:t>Classification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DM algorithms are traditionally divided </a:t>
            </a:r>
            <a:r>
              <a:rPr lang="en-GB" dirty="0"/>
              <a:t>into </a:t>
            </a:r>
            <a:endParaRPr lang="en-GB" dirty="0" smtClean="0"/>
          </a:p>
          <a:p>
            <a:pPr lvl="1"/>
            <a:r>
              <a:rPr lang="en-GB" dirty="0" smtClean="0">
                <a:solidFill>
                  <a:srgbClr val="FF0000"/>
                </a:solidFill>
              </a:rPr>
              <a:t>Supervised </a:t>
            </a:r>
            <a:r>
              <a:rPr lang="en-GB" dirty="0">
                <a:solidFill>
                  <a:srgbClr val="FF0000"/>
                </a:solidFill>
              </a:rPr>
              <a:t>learning</a:t>
            </a:r>
            <a:r>
              <a:rPr lang="en-GB" dirty="0"/>
              <a:t> which aims to discover knowledge </a:t>
            </a:r>
            <a:r>
              <a:rPr lang="en-GB" dirty="0" smtClean="0"/>
              <a:t>for classification </a:t>
            </a:r>
            <a:r>
              <a:rPr lang="en-GB" dirty="0"/>
              <a:t>or prediction </a:t>
            </a:r>
            <a:r>
              <a:rPr lang="en-GB" dirty="0" smtClean="0"/>
              <a:t>(predictive)</a:t>
            </a:r>
          </a:p>
          <a:p>
            <a:pPr lvl="1"/>
            <a:r>
              <a:rPr lang="en-GB" dirty="0" smtClean="0">
                <a:solidFill>
                  <a:srgbClr val="FF0000"/>
                </a:solidFill>
              </a:rPr>
              <a:t>Unsupervised </a:t>
            </a:r>
            <a:r>
              <a:rPr lang="en-GB" dirty="0">
                <a:solidFill>
                  <a:srgbClr val="FF0000"/>
                </a:solidFill>
              </a:rPr>
              <a:t>learning</a:t>
            </a:r>
            <a:r>
              <a:rPr lang="en-GB" dirty="0"/>
              <a:t> which refers </a:t>
            </a:r>
            <a:r>
              <a:rPr lang="en-GB" dirty="0" smtClean="0"/>
              <a:t>to the induction </a:t>
            </a:r>
            <a:r>
              <a:rPr lang="en-GB" dirty="0"/>
              <a:t>to extract interesting knowledge from </a:t>
            </a:r>
            <a:r>
              <a:rPr lang="en-GB" dirty="0" smtClean="0"/>
              <a:t>data</a:t>
            </a:r>
            <a:r>
              <a:rPr lang="en-GB" dirty="0"/>
              <a:t> </a:t>
            </a:r>
            <a:r>
              <a:rPr lang="en-GB" dirty="0" smtClean="0"/>
              <a:t>(descriptive)</a:t>
            </a:r>
          </a:p>
          <a:p>
            <a:pPr lvl="1"/>
            <a:endParaRPr lang="es-ES" dirty="0" smtClean="0"/>
          </a:p>
          <a:p>
            <a:r>
              <a:rPr lang="es-ES" dirty="0" smtClean="0"/>
              <a:t>New </a:t>
            </a:r>
            <a:r>
              <a:rPr lang="es-ES" dirty="0" err="1" smtClean="0"/>
              <a:t>approaches</a:t>
            </a:r>
            <a:r>
              <a:rPr lang="es-ES" dirty="0" smtClean="0"/>
              <a:t> </a:t>
            </a:r>
            <a:r>
              <a:rPr lang="es-ES" dirty="0" err="1" smtClean="0"/>
              <a:t>also</a:t>
            </a:r>
            <a:r>
              <a:rPr lang="es-ES" dirty="0" smtClean="0"/>
              <a:t> </a:t>
            </a:r>
            <a:r>
              <a:rPr lang="es-ES" dirty="0" err="1" smtClean="0"/>
              <a:t>consider</a:t>
            </a:r>
            <a:r>
              <a:rPr lang="es-ES" dirty="0" smtClean="0"/>
              <a:t> </a:t>
            </a:r>
            <a:r>
              <a:rPr lang="es-ES" dirty="0" err="1" smtClean="0">
                <a:solidFill>
                  <a:srgbClr val="FF0000"/>
                </a:solidFill>
              </a:rPr>
              <a:t>semisupervised</a:t>
            </a:r>
            <a:r>
              <a:rPr lang="es-ES" dirty="0" smtClean="0">
                <a:solidFill>
                  <a:srgbClr val="FF0000"/>
                </a:solidFill>
              </a:rPr>
              <a:t> </a:t>
            </a:r>
            <a:r>
              <a:rPr lang="es-ES" dirty="0" err="1" smtClean="0">
                <a:solidFill>
                  <a:srgbClr val="FF0000"/>
                </a:solidFill>
              </a:rPr>
              <a:t>learning</a:t>
            </a:r>
            <a:r>
              <a:rPr lang="es-ES" dirty="0" smtClean="0"/>
              <a:t>: </a:t>
            </a:r>
            <a:r>
              <a:rPr lang="en-GB" dirty="0" smtClean="0"/>
              <a:t>goal </a:t>
            </a:r>
            <a:r>
              <a:rPr lang="en-GB" dirty="0"/>
              <a:t>is classification but the input </a:t>
            </a:r>
            <a:r>
              <a:rPr lang="en-GB" dirty="0" smtClean="0"/>
              <a:t>contains both </a:t>
            </a:r>
            <a:r>
              <a:rPr lang="en-GB" dirty="0" err="1"/>
              <a:t>unlabeled</a:t>
            </a:r>
            <a:r>
              <a:rPr lang="en-GB" dirty="0"/>
              <a:t> and </a:t>
            </a:r>
            <a:r>
              <a:rPr lang="en-GB" dirty="0" err="1"/>
              <a:t>labeled</a:t>
            </a:r>
            <a:r>
              <a:rPr lang="en-GB" dirty="0"/>
              <a:t> data</a:t>
            </a:r>
            <a:r>
              <a:rPr lang="en-GB" dirty="0" smtClean="0"/>
              <a:t>.</a:t>
            </a:r>
          </a:p>
          <a:p>
            <a:pPr lvl="1"/>
            <a:r>
              <a:rPr lang="es-ES" dirty="0" err="1" smtClean="0">
                <a:solidFill>
                  <a:srgbClr val="FF0000"/>
                </a:solidFill>
              </a:rPr>
              <a:t>Subgroup</a:t>
            </a:r>
            <a:r>
              <a:rPr lang="es-ES" dirty="0" smtClean="0">
                <a:solidFill>
                  <a:srgbClr val="FF0000"/>
                </a:solidFill>
              </a:rPr>
              <a:t> </a:t>
            </a:r>
            <a:r>
              <a:rPr lang="es-ES" dirty="0" err="1" smtClean="0">
                <a:solidFill>
                  <a:srgbClr val="FF0000"/>
                </a:solidFill>
              </a:rPr>
              <a:t>Discovery</a:t>
            </a:r>
            <a:r>
              <a:rPr lang="es-ES" dirty="0" smtClean="0">
                <a:solidFill>
                  <a:srgbClr val="FF0000"/>
                </a:solidFill>
              </a:rPr>
              <a:t> </a:t>
            </a:r>
            <a:r>
              <a:rPr lang="es-ES" dirty="0" err="1" smtClean="0"/>
              <a:t>approaches</a:t>
            </a:r>
            <a:r>
              <a:rPr lang="es-ES" dirty="0" smtClean="0"/>
              <a:t> </a:t>
            </a:r>
            <a:r>
              <a:rPr lang="es-ES" dirty="0" err="1" smtClean="0"/>
              <a:t>generate</a:t>
            </a:r>
            <a:r>
              <a:rPr lang="es-ES" dirty="0" smtClean="0"/>
              <a:t> </a:t>
            </a:r>
            <a:r>
              <a:rPr lang="es-ES" dirty="0" err="1" smtClean="0"/>
              <a:t>descriptive</a:t>
            </a:r>
            <a:r>
              <a:rPr lang="es-ES" dirty="0" smtClean="0"/>
              <a:t> rules are </a:t>
            </a:r>
            <a:r>
              <a:rPr lang="es-ES" dirty="0" err="1" smtClean="0"/>
              <a:t>also</a:t>
            </a:r>
            <a:r>
              <a:rPr lang="es-ES" dirty="0" smtClean="0"/>
              <a:t> </a:t>
            </a:r>
            <a:r>
              <a:rPr lang="es-ES" dirty="0" err="1" smtClean="0"/>
              <a:t>half</a:t>
            </a:r>
            <a:r>
              <a:rPr lang="es-ES" dirty="0" smtClean="0"/>
              <a:t> </a:t>
            </a:r>
            <a:r>
              <a:rPr lang="es-ES" dirty="0" err="1" smtClean="0"/>
              <a:t>way</a:t>
            </a:r>
            <a:r>
              <a:rPr lang="es-ES" dirty="0" smtClean="0"/>
              <a:t> </a:t>
            </a:r>
            <a:r>
              <a:rPr lang="es-ES" dirty="0" err="1" smtClean="0"/>
              <a:t>between</a:t>
            </a:r>
            <a:r>
              <a:rPr lang="es-ES" dirty="0" smtClean="0"/>
              <a:t> </a:t>
            </a:r>
            <a:r>
              <a:rPr lang="es-ES" dirty="0" err="1" smtClean="0"/>
              <a:t>descriptive</a:t>
            </a:r>
            <a:r>
              <a:rPr lang="es-ES" dirty="0" smtClean="0"/>
              <a:t> and </a:t>
            </a:r>
            <a:r>
              <a:rPr lang="es-ES" dirty="0" err="1" smtClean="0"/>
              <a:t>predictive</a:t>
            </a:r>
            <a:r>
              <a:rPr lang="es-ES" dirty="0" smtClean="0"/>
              <a:t> </a:t>
            </a:r>
            <a:r>
              <a:rPr lang="es-ES" dirty="0" err="1" smtClean="0"/>
              <a:t>techniques</a:t>
            </a:r>
            <a:r>
              <a:rPr lang="es-ES" dirty="0" smtClean="0"/>
              <a:t>.</a:t>
            </a:r>
            <a:endParaRPr lang="es-E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1876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 smtClean="0"/>
              <a:t>Supervised learning - classifiers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1988" y="1576388"/>
            <a:ext cx="8272462" cy="464026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A classifier resembles a function in the sense that it attaches a value (or a range or a description) to a set of attribute values.</a:t>
            </a:r>
            <a:r>
              <a:rPr lang="en-GB" dirty="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GB" sz="2400" dirty="0" smtClean="0"/>
              <a:t>Induce a classification model, given a database with 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i="1" dirty="0" smtClean="0"/>
              <a:t>m</a:t>
            </a:r>
            <a:r>
              <a:rPr lang="en-GB" sz="2000" dirty="0" smtClean="0"/>
              <a:t> instances (samples) characterized by </a:t>
            </a:r>
          </a:p>
          <a:p>
            <a:pPr lvl="1">
              <a:lnSpc>
                <a:spcPct val="80000"/>
              </a:lnSpc>
            </a:pPr>
            <a:r>
              <a:rPr lang="en-GB" sz="2000" i="1" dirty="0" smtClean="0"/>
              <a:t>n</a:t>
            </a:r>
            <a:r>
              <a:rPr lang="en-GB" sz="2000" dirty="0" smtClean="0"/>
              <a:t> predicted attributes, </a:t>
            </a:r>
            <a:r>
              <a:rPr lang="en-GB" sz="2000" i="1" dirty="0" smtClean="0"/>
              <a:t>A</a:t>
            </a:r>
            <a:r>
              <a:rPr lang="en-GB" sz="2000" i="1" baseline="-25000" dirty="0" smtClean="0"/>
              <a:t>1</a:t>
            </a:r>
            <a:r>
              <a:rPr lang="en-GB" sz="2000" i="1" dirty="0" smtClean="0"/>
              <a:t>, …, A</a:t>
            </a:r>
            <a:r>
              <a:rPr lang="en-GB" sz="2000" i="1" baseline="-25000" dirty="0" smtClean="0"/>
              <a:t>n</a:t>
            </a:r>
            <a:r>
              <a:rPr lang="en-GB" sz="2000" dirty="0" smtClean="0"/>
              <a:t>, </a:t>
            </a:r>
          </a:p>
          <a:p>
            <a:pPr lvl="1">
              <a:lnSpc>
                <a:spcPct val="80000"/>
              </a:lnSpc>
            </a:pPr>
            <a:r>
              <a:rPr lang="en-GB" sz="2000" dirty="0" smtClean="0"/>
              <a:t>and the class variable, </a:t>
            </a:r>
            <a:r>
              <a:rPr lang="en-GB" sz="2000" i="1" dirty="0" smtClean="0"/>
              <a:t>C</a:t>
            </a:r>
            <a:r>
              <a:rPr lang="en-GB" sz="2000" dirty="0" smtClean="0"/>
              <a:t> (it is possible to have more than one class).</a:t>
            </a:r>
          </a:p>
          <a:p>
            <a:pPr marL="0" lvl="2">
              <a:lnSpc>
                <a:spcPct val="115000"/>
              </a:lnSpc>
            </a:pPr>
            <a:endParaRPr lang="es-ES_tradnl" sz="1400" dirty="0">
              <a:solidFill>
                <a:schemeClr val="dk1"/>
              </a:solidFill>
            </a:endParaRPr>
          </a:p>
          <a:p>
            <a:pPr marL="0" lvl="2">
              <a:lnSpc>
                <a:spcPct val="115000"/>
              </a:lnSpc>
            </a:pPr>
            <a:endParaRPr lang="es-ES_tradnl" sz="1400" dirty="0">
              <a:solidFill>
                <a:schemeClr val="dk1"/>
              </a:solidFill>
            </a:endParaRPr>
          </a:p>
          <a:p>
            <a:pPr marL="0" lvl="2">
              <a:lnSpc>
                <a:spcPct val="115000"/>
              </a:lnSpc>
            </a:pPr>
            <a:endParaRPr lang="es-ES_tradnl" sz="1400" dirty="0">
              <a:solidFill>
                <a:schemeClr val="dk1"/>
              </a:solidFill>
            </a:endParaRPr>
          </a:p>
          <a:p>
            <a:pPr marL="0" lvl="2">
              <a:lnSpc>
                <a:spcPct val="115000"/>
              </a:lnSpc>
            </a:pPr>
            <a:endParaRPr lang="es-ES_tradnl" sz="1400" dirty="0">
              <a:solidFill>
                <a:schemeClr val="dk1"/>
              </a:solidFill>
            </a:endParaRPr>
          </a:p>
          <a:p>
            <a:pPr marL="0">
              <a:lnSpc>
                <a:spcPct val="115000"/>
              </a:lnSpc>
            </a:pPr>
            <a:endParaRPr lang="en-US" sz="1400" dirty="0">
              <a:solidFill>
                <a:schemeClr val="dk1"/>
              </a:solidFill>
            </a:endParaRPr>
          </a:p>
          <a:p>
            <a:pPr marL="0">
              <a:lnSpc>
                <a:spcPct val="115000"/>
              </a:lnSpc>
            </a:pPr>
            <a:endParaRPr lang="en-GB" sz="1400" dirty="0">
              <a:solidFill>
                <a:schemeClr val="dk1"/>
              </a:solidFill>
            </a:endParaRPr>
          </a:p>
        </p:txBody>
      </p:sp>
      <p:graphicFrame>
        <p:nvGraphicFramePr>
          <p:cNvPr id="144416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584750"/>
              </p:ext>
            </p:extLst>
          </p:nvPr>
        </p:nvGraphicFramePr>
        <p:xfrm>
          <a:off x="2209800" y="4191000"/>
          <a:ext cx="4824412" cy="1584816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1206500"/>
                <a:gridCol w="1206500"/>
                <a:gridCol w="1204912"/>
                <a:gridCol w="1206500"/>
              </a:tblGrid>
              <a:tr h="3962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i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GB" sz="2000" i="1" u="none" strike="noStrike" cap="none" normalizeH="0" baseline="-25000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GB" sz="20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i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…</a:t>
                      </a:r>
                      <a:endParaRPr kumimoji="0" lang="en-GB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i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GB" sz="2000" i="1" u="none" strike="noStrike" cap="none" normalizeH="0" baseline="-25000" dirty="0" smtClean="0">
                          <a:ln>
                            <a:noFill/>
                          </a:ln>
                          <a:effectLst/>
                        </a:rPr>
                        <a:t>n</a:t>
                      </a:r>
                      <a:endParaRPr kumimoji="0" lang="en-GB" sz="20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i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GB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</a:tr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i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GB" sz="2000" i="1" u="none" strike="noStrike" cap="none" normalizeH="0" baseline="-25000" smtClean="0">
                          <a:ln>
                            <a:noFill/>
                          </a:ln>
                          <a:effectLst/>
                        </a:rPr>
                        <a:t>1,1</a:t>
                      </a:r>
                      <a:endParaRPr kumimoji="0" lang="en-GB" sz="2000" b="0" i="1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i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…</a:t>
                      </a:r>
                      <a:endParaRPr kumimoji="0" lang="en-GB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i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GB" sz="2000" i="1" u="none" strike="noStrike" cap="none" normalizeH="0" baseline="-25000" dirty="0" smtClean="0">
                          <a:ln>
                            <a:noFill/>
                          </a:ln>
                          <a:effectLst/>
                        </a:rPr>
                        <a:t>1,n</a:t>
                      </a:r>
                      <a:endParaRPr kumimoji="0" lang="en-GB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i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</a:t>
                      </a:r>
                      <a:r>
                        <a:rPr kumimoji="0" lang="en-GB" sz="2000" i="1" u="none" strike="noStrike" cap="none" normalizeH="0" baseline="-25000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GB" sz="20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</a:tr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i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…</a:t>
                      </a:r>
                      <a:endParaRPr kumimoji="0" lang="en-GB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i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…</a:t>
                      </a:r>
                      <a:endParaRPr kumimoji="0" lang="en-GB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i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…</a:t>
                      </a:r>
                      <a:endParaRPr kumimoji="0" lang="en-GB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i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…</a:t>
                      </a:r>
                      <a:endParaRPr kumimoji="0" lang="en-GB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</a:tr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i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GB" sz="2000" i="1" u="none" strike="noStrike" cap="none" normalizeH="0" baseline="-25000" dirty="0" smtClean="0">
                          <a:ln>
                            <a:noFill/>
                          </a:ln>
                          <a:effectLst/>
                        </a:rPr>
                        <a:t>m,1</a:t>
                      </a:r>
                      <a:endParaRPr kumimoji="0" lang="en-GB" sz="20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GB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i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GB" sz="2000" i="1" u="none" strike="noStrike" cap="none" normalizeH="0" baseline="-25000" smtClean="0">
                          <a:ln>
                            <a:noFill/>
                          </a:ln>
                          <a:effectLst/>
                        </a:rPr>
                        <a:t>m,1</a:t>
                      </a:r>
                      <a:endParaRPr kumimoji="0" lang="en-GB" sz="2000" b="0" i="1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i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</a:t>
                      </a:r>
                      <a:r>
                        <a:rPr kumimoji="0" lang="en-GB" sz="2000" i="1" u="none" strike="noStrike" cap="none" normalizeH="0" baseline="-25000" dirty="0" smtClean="0">
                          <a:ln>
                            <a:noFill/>
                          </a:ln>
                          <a:effectLst/>
                        </a:rPr>
                        <a:t>m</a:t>
                      </a:r>
                      <a:endParaRPr kumimoji="0" lang="en-GB" sz="20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67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3800" dirty="0" smtClean="0"/>
              <a:t>Supervised</a:t>
            </a:r>
            <a:r>
              <a:rPr lang="en-GB" dirty="0" smtClean="0"/>
              <a:t> Techniques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s-ES_tradnl" sz="2000" b="1" dirty="0" err="1"/>
              <a:t>Decision</a:t>
            </a:r>
            <a:r>
              <a:rPr lang="es-ES_tradnl" sz="2000" b="1" dirty="0"/>
              <a:t> </a:t>
            </a:r>
            <a:r>
              <a:rPr lang="es-ES_tradnl" sz="2000" b="1" dirty="0" err="1"/>
              <a:t>trees</a:t>
            </a:r>
            <a:r>
              <a:rPr lang="en-GB" sz="2000" dirty="0"/>
              <a:t> are trees where each leaf indicates a class and internal nodes specifies some test to be carried out. </a:t>
            </a:r>
          </a:p>
          <a:p>
            <a:pPr lvl="1">
              <a:lnSpc>
                <a:spcPct val="80000"/>
              </a:lnSpc>
            </a:pPr>
            <a:r>
              <a:rPr lang="en-GB" sz="1800" dirty="0"/>
              <a:t>There are many tree-building algorithms such as C4.5 (</a:t>
            </a:r>
            <a:r>
              <a:rPr lang="en-GB" sz="1800" dirty="0" err="1"/>
              <a:t>Quilan</a:t>
            </a:r>
            <a:r>
              <a:rPr lang="en-GB" sz="1800" dirty="0"/>
              <a:t>) or ID3.</a:t>
            </a:r>
          </a:p>
          <a:p>
            <a:pPr>
              <a:lnSpc>
                <a:spcPct val="80000"/>
              </a:lnSpc>
            </a:pPr>
            <a:r>
              <a:rPr lang="es-ES" sz="2000" b="1" dirty="0"/>
              <a:t>Rule </a:t>
            </a:r>
            <a:r>
              <a:rPr lang="es-ES" sz="2000" b="1" dirty="0" err="1" smtClean="0"/>
              <a:t>induction</a:t>
            </a:r>
            <a:endParaRPr lang="es-ES" sz="2000" b="1" dirty="0" smtClean="0"/>
          </a:p>
          <a:p>
            <a:pPr lvl="1">
              <a:lnSpc>
                <a:spcPct val="80000"/>
              </a:lnSpc>
            </a:pPr>
            <a:r>
              <a:rPr lang="es-ES" sz="1600" b="1" dirty="0" err="1" smtClean="0"/>
              <a:t>If</a:t>
            </a:r>
            <a:r>
              <a:rPr lang="es-ES" sz="1600" b="1" dirty="0" smtClean="0"/>
              <a:t> </a:t>
            </a:r>
            <a:r>
              <a:rPr lang="es-ES" sz="1600" dirty="0" err="1" smtClean="0"/>
              <a:t>condition</a:t>
            </a:r>
            <a:r>
              <a:rPr lang="es-ES" sz="1600" b="1" dirty="0" smtClean="0"/>
              <a:t> </a:t>
            </a:r>
            <a:r>
              <a:rPr lang="es-ES" sz="1600" b="1" dirty="0" err="1" smtClean="0"/>
              <a:t>then</a:t>
            </a:r>
            <a:r>
              <a:rPr lang="es-ES" sz="1600" b="1" dirty="0" smtClean="0"/>
              <a:t> </a:t>
            </a:r>
            <a:r>
              <a:rPr lang="es-ES" sz="1600" dirty="0" err="1" smtClean="0"/>
              <a:t>class</a:t>
            </a:r>
            <a:r>
              <a:rPr lang="es-ES" sz="1600" baseline="-25000" dirty="0" err="1" smtClean="0"/>
              <a:t>label</a:t>
            </a:r>
            <a:r>
              <a:rPr lang="es-ES" sz="1600" b="1" dirty="0" smtClean="0"/>
              <a:t> </a:t>
            </a:r>
          </a:p>
          <a:p>
            <a:pPr lvl="1">
              <a:lnSpc>
                <a:spcPct val="80000"/>
              </a:lnSpc>
            </a:pPr>
            <a:r>
              <a:rPr lang="es-ES" sz="1600" b="1" dirty="0" err="1" smtClean="0"/>
              <a:t>If</a:t>
            </a:r>
            <a:r>
              <a:rPr lang="es-ES" sz="1600" b="1" dirty="0" smtClean="0"/>
              <a:t> </a:t>
            </a:r>
            <a:r>
              <a:rPr lang="es-ES" sz="1600" dirty="0" smtClean="0"/>
              <a:t>… </a:t>
            </a:r>
            <a:r>
              <a:rPr lang="es-ES" sz="1600" b="1" dirty="0" err="1" smtClean="0"/>
              <a:t>then</a:t>
            </a:r>
            <a:r>
              <a:rPr lang="es-ES" sz="1600" b="1" dirty="0" smtClean="0"/>
              <a:t> </a:t>
            </a:r>
            <a:r>
              <a:rPr lang="es-ES" sz="1600" dirty="0" smtClean="0"/>
              <a:t>… </a:t>
            </a:r>
            <a:r>
              <a:rPr lang="es-ES" sz="1600" b="1" dirty="0" err="1" smtClean="0"/>
              <a:t>else</a:t>
            </a:r>
            <a:r>
              <a:rPr lang="es-ES" sz="1600" b="1" dirty="0" smtClean="0"/>
              <a:t> </a:t>
            </a:r>
            <a:r>
              <a:rPr lang="es-ES" sz="1600" b="1" dirty="0" err="1" smtClean="0"/>
              <a:t>if</a:t>
            </a:r>
            <a:r>
              <a:rPr lang="es-ES" sz="1600" b="1" dirty="0" smtClean="0"/>
              <a:t> </a:t>
            </a:r>
            <a:r>
              <a:rPr lang="es-ES" sz="1600" dirty="0" smtClean="0"/>
              <a:t>… (</a:t>
            </a:r>
            <a:r>
              <a:rPr lang="es-ES" sz="1600" dirty="0" err="1" smtClean="0"/>
              <a:t>hierarchical</a:t>
            </a:r>
            <a:r>
              <a:rPr lang="es-ES" sz="1600" dirty="0" smtClean="0"/>
              <a:t>)</a:t>
            </a:r>
            <a:endParaRPr lang="en-GB" sz="1600" dirty="0" smtClean="0"/>
          </a:p>
          <a:p>
            <a:pPr>
              <a:lnSpc>
                <a:spcPct val="80000"/>
              </a:lnSpc>
            </a:pPr>
            <a:r>
              <a:rPr lang="en-GB" sz="2000" b="1" dirty="0" smtClean="0"/>
              <a:t>Lazy techniques </a:t>
            </a:r>
            <a:r>
              <a:rPr lang="en-GB" sz="2000" dirty="0"/>
              <a:t>store </a:t>
            </a:r>
            <a:r>
              <a:rPr lang="en-GB" sz="2000" dirty="0" smtClean="0"/>
              <a:t>previous instances </a:t>
            </a:r>
            <a:r>
              <a:rPr lang="en-GB" sz="2000" dirty="0"/>
              <a:t>and search similar ones when performing </a:t>
            </a:r>
            <a:r>
              <a:rPr lang="en-GB" sz="2000" dirty="0" smtClean="0"/>
              <a:t>classification with new instances</a:t>
            </a:r>
            <a:endParaRPr lang="en-GB" sz="2000" dirty="0"/>
          </a:p>
          <a:p>
            <a:pPr lvl="1">
              <a:lnSpc>
                <a:spcPct val="80000"/>
              </a:lnSpc>
            </a:pPr>
            <a:r>
              <a:rPr lang="en-GB" sz="1600" b="1" dirty="0"/>
              <a:t>k-nearest </a:t>
            </a:r>
            <a:r>
              <a:rPr lang="en-GB" sz="1600" b="1" dirty="0" smtClean="0"/>
              <a:t>neighbour</a:t>
            </a:r>
            <a:r>
              <a:rPr lang="en-GB" sz="1600" dirty="0" smtClean="0"/>
              <a:t> </a:t>
            </a:r>
            <a:r>
              <a:rPr lang="en-GB" sz="1600" dirty="0"/>
              <a:t>(k-NN) is a method for classifying objects based on closest training examples in the feature space.</a:t>
            </a:r>
          </a:p>
          <a:p>
            <a:pPr>
              <a:lnSpc>
                <a:spcPct val="80000"/>
              </a:lnSpc>
            </a:pPr>
            <a:r>
              <a:rPr lang="es-ES" sz="2000" b="1" dirty="0" err="1" smtClean="0"/>
              <a:t>Numeric</a:t>
            </a:r>
            <a:r>
              <a:rPr lang="es-ES" sz="2000" b="1" dirty="0" smtClean="0"/>
              <a:t> </a:t>
            </a:r>
            <a:r>
              <a:rPr lang="es-ES" sz="2000" b="1" dirty="0" err="1" smtClean="0"/>
              <a:t>prediction</a:t>
            </a:r>
            <a:endParaRPr lang="es-ES" sz="2000" b="1" dirty="0" smtClean="0"/>
          </a:p>
          <a:p>
            <a:pPr lvl="1">
              <a:lnSpc>
                <a:spcPct val="80000"/>
              </a:lnSpc>
            </a:pPr>
            <a:r>
              <a:rPr lang="es-ES" sz="1600" dirty="0" err="1" smtClean="0"/>
              <a:t>Regression</a:t>
            </a:r>
            <a:r>
              <a:rPr lang="es-ES" sz="1600" dirty="0" smtClean="0"/>
              <a:t> </a:t>
            </a:r>
            <a:r>
              <a:rPr lang="es-ES" sz="1600" dirty="0" err="1"/>
              <a:t>Techniques</a:t>
            </a:r>
            <a:endParaRPr lang="es-ES" sz="1600" dirty="0"/>
          </a:p>
          <a:p>
            <a:pPr>
              <a:lnSpc>
                <a:spcPct val="80000"/>
              </a:lnSpc>
            </a:pPr>
            <a:r>
              <a:rPr lang="es-ES_tradnl" sz="2000" b="1" dirty="0" smtClean="0"/>
              <a:t>Neural Networks</a:t>
            </a:r>
            <a:r>
              <a:rPr lang="es-ES_tradnl" sz="2000" dirty="0" smtClean="0"/>
              <a:t> </a:t>
            </a:r>
            <a:r>
              <a:rPr lang="en-GB" sz="2000" dirty="0" smtClean="0"/>
              <a:t>are composed by a set of nodes (units, neurons, processing elements) where each node has input and output and performs a simple computation by its node function.</a:t>
            </a:r>
          </a:p>
          <a:p>
            <a:pPr eaLnBrk="1" hangingPunct="1">
              <a:lnSpc>
                <a:spcPct val="80000"/>
              </a:lnSpc>
            </a:pPr>
            <a:r>
              <a:rPr lang="es-ES" sz="2000" b="1" dirty="0" err="1" smtClean="0"/>
              <a:t>Statistical</a:t>
            </a:r>
            <a:r>
              <a:rPr lang="es-ES" sz="2000" b="1" dirty="0" smtClean="0"/>
              <a:t> </a:t>
            </a:r>
            <a:r>
              <a:rPr lang="es-ES" sz="2000" b="1" dirty="0" err="1" smtClean="0"/>
              <a:t>Techniques</a:t>
            </a:r>
            <a:endParaRPr lang="es-ES" sz="2000" b="1" dirty="0" smtClean="0"/>
          </a:p>
          <a:p>
            <a:pPr lvl="1">
              <a:lnSpc>
                <a:spcPct val="80000"/>
              </a:lnSpc>
            </a:pPr>
            <a:r>
              <a:rPr lang="en-GB" sz="1600" b="1" dirty="0" smtClean="0"/>
              <a:t>Bayesian networks classifiers</a:t>
            </a:r>
            <a:r>
              <a:rPr lang="en-GB" sz="1600" dirty="0" smtClean="0"/>
              <a:t> assign a set of attributes </a:t>
            </a:r>
            <a:r>
              <a:rPr lang="en-GB" sz="1600" i="1" dirty="0" smtClean="0"/>
              <a:t>A</a:t>
            </a:r>
            <a:r>
              <a:rPr lang="en-GB" sz="1600" i="1" baseline="-25000" dirty="0" smtClean="0"/>
              <a:t>1</a:t>
            </a:r>
            <a:r>
              <a:rPr lang="en-GB" sz="1600" i="1" dirty="0" smtClean="0"/>
              <a:t>, A</a:t>
            </a:r>
            <a:r>
              <a:rPr lang="en-GB" sz="1600" i="1" baseline="-25000" dirty="0" smtClean="0"/>
              <a:t>2</a:t>
            </a:r>
            <a:r>
              <a:rPr lang="en-GB" sz="1600" i="1" dirty="0" smtClean="0"/>
              <a:t>,..., A</a:t>
            </a:r>
            <a:r>
              <a:rPr lang="en-GB" sz="1600" i="1" baseline="-25000" dirty="0" smtClean="0"/>
              <a:t>n</a:t>
            </a:r>
            <a:r>
              <a:rPr lang="en-GB" sz="1600" dirty="0" smtClean="0"/>
              <a:t> to a class </a:t>
            </a:r>
            <a:r>
              <a:rPr lang="en-GB" sz="1600" i="1" dirty="0" err="1" smtClean="0"/>
              <a:t>C</a:t>
            </a:r>
            <a:r>
              <a:rPr lang="en-GB" sz="1600" i="1" baseline="-25000" dirty="0" err="1" smtClean="0"/>
              <a:t>j</a:t>
            </a:r>
            <a:r>
              <a:rPr lang="en-GB" sz="1600" dirty="0" smtClean="0"/>
              <a:t> such that </a:t>
            </a:r>
            <a:r>
              <a:rPr lang="en-GB" sz="1600" i="1" dirty="0" smtClean="0"/>
              <a:t>P(</a:t>
            </a:r>
            <a:r>
              <a:rPr lang="en-GB" sz="1600" i="1" dirty="0" err="1" smtClean="0"/>
              <a:t>C</a:t>
            </a:r>
            <a:r>
              <a:rPr lang="en-GB" sz="1600" i="1" baseline="-25000" dirty="0" err="1" smtClean="0"/>
              <a:t>j</a:t>
            </a:r>
            <a:r>
              <a:rPr lang="en-GB" sz="1600" i="1" dirty="0" smtClean="0"/>
              <a:t> | A</a:t>
            </a:r>
            <a:r>
              <a:rPr lang="en-GB" sz="1600" i="1" baseline="-25000" dirty="0" smtClean="0"/>
              <a:t>1</a:t>
            </a:r>
            <a:r>
              <a:rPr lang="en-GB" sz="1600" i="1" dirty="0" smtClean="0"/>
              <a:t>, A</a:t>
            </a:r>
            <a:r>
              <a:rPr lang="en-GB" sz="1600" i="1" baseline="-25000" dirty="0" smtClean="0"/>
              <a:t>2</a:t>
            </a:r>
            <a:r>
              <a:rPr lang="en-GB" sz="1600" i="1" dirty="0" smtClean="0"/>
              <a:t>,..., A</a:t>
            </a:r>
            <a:r>
              <a:rPr lang="en-GB" sz="1600" i="1" baseline="-25000" dirty="0" smtClean="0"/>
              <a:t>n</a:t>
            </a:r>
            <a:r>
              <a:rPr lang="en-GB" sz="1600" i="1" dirty="0" smtClean="0"/>
              <a:t>)</a:t>
            </a:r>
            <a:r>
              <a:rPr lang="en-GB" sz="1600" dirty="0" smtClean="0"/>
              <a:t> is maximal.</a:t>
            </a:r>
          </a:p>
          <a:p>
            <a:pPr>
              <a:lnSpc>
                <a:spcPct val="80000"/>
              </a:lnSpc>
            </a:pPr>
            <a:r>
              <a:rPr lang="es-ES" sz="2000" b="1" dirty="0" smtClean="0"/>
              <a:t>Meta-</a:t>
            </a:r>
            <a:r>
              <a:rPr lang="es-ES" sz="2000" b="1" dirty="0" err="1" smtClean="0"/>
              <a:t>techniques</a:t>
            </a:r>
            <a:endParaRPr lang="es-ES" sz="2000" b="1" dirty="0"/>
          </a:p>
          <a:p>
            <a:pPr eaLnBrk="1" hangingPunct="1">
              <a:lnSpc>
                <a:spcPct val="80000"/>
              </a:lnSpc>
            </a:pPr>
            <a:endParaRPr lang="en-GB" sz="2000" dirty="0" smtClean="0"/>
          </a:p>
        </p:txBody>
      </p:sp>
    </p:spTree>
    <p:extLst>
      <p:ext uri="{BB962C8B-B14F-4D97-AF65-F5344CB8AC3E}">
        <p14:creationId xmlns:p14="http://schemas.microsoft.com/office/powerpoint/2010/main" val="163443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3800" dirty="0" smtClean="0"/>
              <a:t>Unsupervised Techniques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dirty="0" err="1" smtClean="0"/>
              <a:t>Association</a:t>
            </a:r>
            <a:endParaRPr lang="es-ES_tradnl" dirty="0" smtClean="0"/>
          </a:p>
          <a:p>
            <a:pPr lvl="1"/>
            <a:r>
              <a:rPr lang="es-ES_tradnl" dirty="0" err="1" smtClean="0"/>
              <a:t>Association</a:t>
            </a:r>
            <a:r>
              <a:rPr lang="es-ES_tradnl" dirty="0" smtClean="0"/>
              <a:t> Rules, APRIORI</a:t>
            </a:r>
          </a:p>
          <a:p>
            <a:pPr lvl="2"/>
            <a:r>
              <a:rPr lang="es-ES_tradnl" dirty="0" err="1" smtClean="0"/>
              <a:t>E.g</a:t>
            </a:r>
            <a:r>
              <a:rPr lang="es-ES_tradnl" dirty="0" smtClean="0"/>
              <a:t>., rules </a:t>
            </a:r>
            <a:r>
              <a:rPr lang="es-ES_tradnl" dirty="0" err="1" smtClean="0"/>
              <a:t>among</a:t>
            </a:r>
            <a:r>
              <a:rPr lang="es-ES_tradnl" dirty="0" smtClean="0"/>
              <a:t> </a:t>
            </a:r>
            <a:r>
              <a:rPr lang="es-ES_tradnl" dirty="0" err="1" smtClean="0"/>
              <a:t>supermarket</a:t>
            </a:r>
            <a:r>
              <a:rPr lang="es-ES_tradnl" dirty="0" smtClean="0"/>
              <a:t> </a:t>
            </a:r>
            <a:r>
              <a:rPr lang="es-ES_tradnl" dirty="0" err="1" smtClean="0"/>
              <a:t>items</a:t>
            </a:r>
            <a:endParaRPr lang="es-ES_tradnl" dirty="0" smtClean="0"/>
          </a:p>
          <a:p>
            <a:pPr eaLnBrk="1" hangingPunct="1"/>
            <a:r>
              <a:rPr lang="es-ES_tradnl" dirty="0" err="1" smtClean="0"/>
              <a:t>Clustering</a:t>
            </a:r>
            <a:endParaRPr lang="es-ES_tradnl" dirty="0" smtClean="0"/>
          </a:p>
          <a:p>
            <a:pPr lvl="1" eaLnBrk="1" hangingPunct="1"/>
            <a:r>
              <a:rPr lang="es-ES_tradnl" dirty="0" err="1" smtClean="0"/>
              <a:t>Tree</a:t>
            </a:r>
            <a:r>
              <a:rPr lang="es-ES_tradnl" dirty="0" smtClean="0"/>
              <a:t> </a:t>
            </a:r>
            <a:r>
              <a:rPr lang="es-ES_tradnl" dirty="0" err="1" smtClean="0"/>
              <a:t>clustering</a:t>
            </a:r>
            <a:r>
              <a:rPr lang="es-ES_tradnl" dirty="0" smtClean="0"/>
              <a:t>: </a:t>
            </a:r>
            <a:r>
              <a:rPr lang="es-ES_tradnl" dirty="0" err="1" smtClean="0"/>
              <a:t>jo</a:t>
            </a:r>
            <a:r>
              <a:rPr lang="en-GB" dirty="0" smtClean="0"/>
              <a:t>in together objects (e.g., animals) into successively larger clusters, using some measure of similarity or distance. </a:t>
            </a:r>
            <a:endParaRPr lang="es-ES_tradnl" dirty="0" smtClean="0"/>
          </a:p>
          <a:p>
            <a:pPr lvl="1" eaLnBrk="1" hangingPunct="1"/>
            <a:r>
              <a:rPr lang="es-ES_tradnl" dirty="0" err="1" smtClean="0"/>
              <a:t>Algorithms</a:t>
            </a:r>
            <a:r>
              <a:rPr lang="es-ES_tradnl" dirty="0" smtClean="0"/>
              <a:t>: K-</a:t>
            </a:r>
            <a:r>
              <a:rPr lang="es-ES_tradnl" dirty="0" err="1" smtClean="0"/>
              <a:t>Means</a:t>
            </a:r>
            <a:r>
              <a:rPr lang="es-ES_tradnl" dirty="0" smtClean="0"/>
              <a:t>, EM (</a:t>
            </a:r>
            <a:r>
              <a:rPr lang="es-ES_tradnl" dirty="0" err="1" smtClean="0"/>
              <a:t>Expectation</a:t>
            </a:r>
            <a:r>
              <a:rPr lang="es-ES_tradnl" dirty="0" smtClean="0"/>
              <a:t> </a:t>
            </a:r>
            <a:r>
              <a:rPr lang="es-ES_tradnl" dirty="0" err="1" smtClean="0"/>
              <a:t>Maximization</a:t>
            </a:r>
            <a:r>
              <a:rPr lang="es-ES_tradnl" dirty="0" smtClean="0"/>
              <a:t>)</a:t>
            </a:r>
          </a:p>
          <a:p>
            <a:r>
              <a:rPr lang="es-ES_tradnl" dirty="0" err="1"/>
              <a:t>There</a:t>
            </a:r>
            <a:r>
              <a:rPr lang="es-ES_tradnl" dirty="0"/>
              <a:t> </a:t>
            </a:r>
            <a:r>
              <a:rPr lang="es-ES_tradnl" dirty="0" err="1"/>
              <a:t>is</a:t>
            </a:r>
            <a:r>
              <a:rPr lang="es-ES_tradnl" dirty="0"/>
              <a:t> no ‘</a:t>
            </a:r>
            <a:r>
              <a:rPr lang="es-ES_tradnl" dirty="0" err="1"/>
              <a:t>class</a:t>
            </a:r>
            <a:r>
              <a:rPr lang="es-ES_tradnl" dirty="0"/>
              <a:t>’ </a:t>
            </a:r>
            <a:r>
              <a:rPr lang="es-ES_tradnl" dirty="0" err="1" smtClean="0"/>
              <a:t>attribute</a:t>
            </a:r>
            <a:r>
              <a:rPr lang="es-ES_tradnl" dirty="0" smtClean="0"/>
              <a:t> </a:t>
            </a:r>
            <a:r>
              <a:rPr lang="es-ES_tradnl" dirty="0" err="1" smtClean="0"/>
              <a:t>or</a:t>
            </a:r>
            <a:r>
              <a:rPr lang="es-ES_tradnl" dirty="0"/>
              <a:t> </a:t>
            </a:r>
            <a:r>
              <a:rPr lang="es-ES_tradnl" dirty="0" err="1" smtClean="0"/>
              <a:t>class</a:t>
            </a:r>
            <a:r>
              <a:rPr lang="es-ES_tradnl" dirty="0" smtClean="0"/>
              <a:t> </a:t>
            </a:r>
            <a:r>
              <a:rPr lang="es-ES_tradnl" dirty="0" err="1" smtClean="0"/>
              <a:t>considered</a:t>
            </a:r>
            <a:r>
              <a:rPr lang="es-ES_tradnl" dirty="0" smtClean="0"/>
              <a:t> as </a:t>
            </a:r>
            <a:r>
              <a:rPr lang="es-ES_tradnl" dirty="0" err="1" smtClean="0"/>
              <a:t>another</a:t>
            </a:r>
            <a:r>
              <a:rPr lang="es-ES_tradnl" dirty="0" smtClean="0"/>
              <a:t> </a:t>
            </a:r>
            <a:r>
              <a:rPr lang="es-ES_tradnl" dirty="0" err="1" smtClean="0"/>
              <a:t>attribute</a:t>
            </a:r>
            <a:endParaRPr lang="es-ES_tradnl" dirty="0"/>
          </a:p>
          <a:p>
            <a:pPr lvl="1" eaLnBrk="1" hangingPunct="1"/>
            <a:endParaRPr lang="en-GB" dirty="0" smtClean="0"/>
          </a:p>
        </p:txBody>
      </p:sp>
      <p:graphicFrame>
        <p:nvGraphicFramePr>
          <p:cNvPr id="5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453145"/>
              </p:ext>
            </p:extLst>
          </p:nvPr>
        </p:nvGraphicFramePr>
        <p:xfrm>
          <a:off x="2438400" y="5105400"/>
          <a:ext cx="3617912" cy="1340976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1206500"/>
                <a:gridCol w="1206500"/>
                <a:gridCol w="1204912"/>
              </a:tblGrid>
              <a:tr h="300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i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GB" sz="1600" i="1" u="none" strike="noStrike" cap="none" normalizeH="0" baseline="-25000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GB" sz="16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i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…</a:t>
                      </a:r>
                      <a:endParaRPr kumimoji="0" lang="en-GB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i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GB" sz="1600" i="1" u="none" strike="noStrike" cap="none" normalizeH="0" baseline="-25000" dirty="0" smtClean="0">
                          <a:ln>
                            <a:noFill/>
                          </a:ln>
                          <a:effectLst/>
                        </a:rPr>
                        <a:t>n</a:t>
                      </a:r>
                      <a:endParaRPr kumimoji="0" lang="en-GB" sz="16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</a:tr>
              <a:tr h="300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i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GB" sz="1600" i="1" u="none" strike="noStrike" cap="none" normalizeH="0" baseline="-25000" smtClean="0">
                          <a:ln>
                            <a:noFill/>
                          </a:ln>
                          <a:effectLst/>
                        </a:rPr>
                        <a:t>1,1</a:t>
                      </a:r>
                      <a:endParaRPr kumimoji="0" lang="en-GB" sz="1600" b="0" i="1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i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…</a:t>
                      </a:r>
                      <a:endParaRPr kumimoji="0" lang="en-GB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i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GB" sz="1600" i="1" u="none" strike="noStrike" cap="none" normalizeH="0" baseline="-25000" dirty="0" smtClean="0">
                          <a:ln>
                            <a:noFill/>
                          </a:ln>
                          <a:effectLst/>
                        </a:rPr>
                        <a:t>1,n</a:t>
                      </a:r>
                      <a:endParaRPr kumimoji="0" lang="en-GB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</a:tr>
              <a:tr h="300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i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…</a:t>
                      </a:r>
                      <a:endParaRPr kumimoji="0" lang="en-GB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i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…</a:t>
                      </a:r>
                      <a:endParaRPr kumimoji="0" lang="en-GB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i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…</a:t>
                      </a:r>
                      <a:endParaRPr kumimoji="0" lang="en-GB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</a:tr>
              <a:tr h="3008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i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GB" sz="1600" i="1" u="none" strike="noStrike" cap="none" normalizeH="0" baseline="-25000" dirty="0" smtClean="0">
                          <a:ln>
                            <a:noFill/>
                          </a:ln>
                          <a:effectLst/>
                        </a:rPr>
                        <a:t>m,1</a:t>
                      </a:r>
                      <a:endParaRPr kumimoji="0" lang="en-GB" sz="16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GB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i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r>
                        <a:rPr kumimoji="0" lang="en-GB" sz="1600" i="1" u="none" strike="noStrike" cap="none" normalizeH="0" baseline="-25000" dirty="0" smtClean="0">
                          <a:ln>
                            <a:noFill/>
                          </a:ln>
                          <a:effectLst/>
                        </a:rPr>
                        <a:t>m,1</a:t>
                      </a:r>
                      <a:endParaRPr kumimoji="0" lang="en-GB" sz="16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2" marB="45702" horzOverflow="overflow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711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3800" dirty="0" smtClean="0"/>
              <a:t>KDD </a:t>
            </a:r>
            <a:r>
              <a:rPr lang="es-ES" sz="3800" dirty="0" err="1" smtClean="0"/>
              <a:t>Representation</a:t>
            </a:r>
            <a:r>
              <a:rPr lang="es-ES" sz="3800" dirty="0" smtClean="0"/>
              <a:t> (</a:t>
            </a:r>
            <a:r>
              <a:rPr lang="es-ES" sz="3800" dirty="0" err="1" smtClean="0"/>
              <a:t>Models</a:t>
            </a:r>
            <a:r>
              <a:rPr lang="es-ES" sz="3800" dirty="0" smtClean="0"/>
              <a:t>)</a:t>
            </a:r>
            <a:endParaRPr lang="es-ES" sz="3800" dirty="0"/>
          </a:p>
        </p:txBody>
      </p:sp>
      <p:sp>
        <p:nvSpPr>
          <p:cNvPr id="124932" name="Rectangle 4"/>
          <p:cNvSpPr>
            <a:spLocks noChangeArrowheads="1"/>
          </p:cNvSpPr>
          <p:nvPr/>
        </p:nvSpPr>
        <p:spPr bwMode="auto">
          <a:xfrm>
            <a:off x="3276600" y="2133600"/>
            <a:ext cx="5181600" cy="4038600"/>
          </a:xfrm>
          <a:prstGeom prst="rect">
            <a:avLst/>
          </a:prstGeom>
          <a:solidFill>
            <a:srgbClr val="000099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ja-JP" altLang="en-US">
              <a:solidFill>
                <a:schemeClr val="bg1"/>
              </a:solidFill>
              <a:latin typeface="Tahoma" charset="0"/>
              <a:ea typeface="ＭＳ Ｐゴシック" charset="-128"/>
            </a:endParaRPr>
          </a:p>
        </p:txBody>
      </p:sp>
      <p:sp>
        <p:nvSpPr>
          <p:cNvPr id="124933" name="Text Box 5"/>
          <p:cNvSpPr txBox="1">
            <a:spLocks noChangeArrowheads="1"/>
          </p:cNvSpPr>
          <p:nvPr/>
        </p:nvSpPr>
        <p:spPr bwMode="auto">
          <a:xfrm>
            <a:off x="3505200" y="2305050"/>
            <a:ext cx="5181600" cy="371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ja-JP" altLang="en-US" dirty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         </a:t>
            </a:r>
            <a:r>
              <a:rPr lang="en-US" altLang="ja-JP" dirty="0" err="1" smtClean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colour</a:t>
            </a:r>
            <a:r>
              <a:rPr lang="en-US" altLang="ja-JP" dirty="0" smtClean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     </a:t>
            </a:r>
            <a:r>
              <a:rPr lang="en-US" altLang="ja-JP" dirty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#nuclei    #tails    class</a:t>
            </a:r>
          </a:p>
          <a:p>
            <a:pPr eaLnBrk="0" hangingPunct="0"/>
            <a:endParaRPr lang="en-US" altLang="ja-JP" dirty="0">
              <a:solidFill>
                <a:schemeClr val="bg1"/>
              </a:solidFill>
              <a:latin typeface="Tahoma" charset="0"/>
              <a:ea typeface="ＭＳ Ｐゴシック" charset="-128"/>
            </a:endParaRPr>
          </a:p>
          <a:p>
            <a:pPr eaLnBrk="0" hangingPunct="0">
              <a:lnSpc>
                <a:spcPct val="140000"/>
              </a:lnSpc>
            </a:pPr>
            <a:r>
              <a:rPr lang="en-US" altLang="ja-JP" dirty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H1       light	   1	   1	healthy	</a:t>
            </a:r>
          </a:p>
          <a:p>
            <a:pPr eaLnBrk="0" hangingPunct="0">
              <a:lnSpc>
                <a:spcPct val="140000"/>
              </a:lnSpc>
            </a:pPr>
            <a:r>
              <a:rPr lang="en-US" altLang="ja-JP" dirty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H2       dark	   1	   1	healthy</a:t>
            </a:r>
          </a:p>
          <a:p>
            <a:pPr eaLnBrk="0" hangingPunct="0">
              <a:lnSpc>
                <a:spcPct val="140000"/>
              </a:lnSpc>
            </a:pPr>
            <a:r>
              <a:rPr lang="en-US" altLang="ja-JP" dirty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H3       light	   1	   2	healthy</a:t>
            </a:r>
          </a:p>
          <a:p>
            <a:pPr eaLnBrk="0" hangingPunct="0">
              <a:lnSpc>
                <a:spcPct val="140000"/>
              </a:lnSpc>
            </a:pPr>
            <a:r>
              <a:rPr lang="en-US" altLang="ja-JP" dirty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H4       light	   2	   1	healthy</a:t>
            </a:r>
          </a:p>
          <a:p>
            <a:pPr eaLnBrk="0" hangingPunct="0">
              <a:lnSpc>
                <a:spcPct val="140000"/>
              </a:lnSpc>
            </a:pPr>
            <a:r>
              <a:rPr lang="en-US" altLang="ja-JP" dirty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C1       dark	   1	   2	cancerous</a:t>
            </a:r>
          </a:p>
          <a:p>
            <a:pPr eaLnBrk="0" hangingPunct="0">
              <a:lnSpc>
                <a:spcPct val="140000"/>
              </a:lnSpc>
            </a:pPr>
            <a:r>
              <a:rPr lang="en-US" altLang="ja-JP" dirty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C2       dark	   2	   1	cancerous</a:t>
            </a:r>
          </a:p>
          <a:p>
            <a:pPr eaLnBrk="0" hangingPunct="0">
              <a:lnSpc>
                <a:spcPct val="140000"/>
              </a:lnSpc>
            </a:pPr>
            <a:r>
              <a:rPr lang="en-US" altLang="ja-JP" dirty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C3       light	   2	   2	cancerous</a:t>
            </a:r>
          </a:p>
          <a:p>
            <a:pPr eaLnBrk="0" hangingPunct="0">
              <a:lnSpc>
                <a:spcPct val="140000"/>
              </a:lnSpc>
            </a:pPr>
            <a:r>
              <a:rPr lang="en-US" altLang="ja-JP" dirty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C4       dark	   2	   2	cancerous </a:t>
            </a:r>
          </a:p>
        </p:txBody>
      </p:sp>
      <p:sp>
        <p:nvSpPr>
          <p:cNvPr id="124934" name="Line 6"/>
          <p:cNvSpPr>
            <a:spLocks noChangeShapeType="1"/>
          </p:cNvSpPr>
          <p:nvPr/>
        </p:nvSpPr>
        <p:spPr bwMode="auto">
          <a:xfrm>
            <a:off x="3962400" y="2133600"/>
            <a:ext cx="0" cy="4038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35" name="Line 7"/>
          <p:cNvSpPr>
            <a:spLocks noChangeShapeType="1"/>
          </p:cNvSpPr>
          <p:nvPr/>
        </p:nvSpPr>
        <p:spPr bwMode="auto">
          <a:xfrm>
            <a:off x="5105400" y="2133600"/>
            <a:ext cx="0" cy="4038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36" name="Line 8"/>
          <p:cNvSpPr>
            <a:spLocks noChangeShapeType="1"/>
          </p:cNvSpPr>
          <p:nvPr/>
        </p:nvSpPr>
        <p:spPr bwMode="auto">
          <a:xfrm>
            <a:off x="6096000" y="2133600"/>
            <a:ext cx="0" cy="4038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37" name="Line 9"/>
          <p:cNvSpPr>
            <a:spLocks noChangeShapeType="1"/>
          </p:cNvSpPr>
          <p:nvPr/>
        </p:nvSpPr>
        <p:spPr bwMode="auto">
          <a:xfrm>
            <a:off x="7010400" y="2133600"/>
            <a:ext cx="0" cy="4038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38" name="Line 10"/>
          <p:cNvSpPr>
            <a:spLocks noChangeShapeType="1"/>
          </p:cNvSpPr>
          <p:nvPr/>
        </p:nvSpPr>
        <p:spPr bwMode="auto">
          <a:xfrm>
            <a:off x="3200400" y="2819400"/>
            <a:ext cx="5410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39" name="Text Box 11"/>
          <p:cNvSpPr txBox="1">
            <a:spLocks noChangeArrowheads="1"/>
          </p:cNvSpPr>
          <p:nvPr/>
        </p:nvSpPr>
        <p:spPr bwMode="auto">
          <a:xfrm>
            <a:off x="457200" y="1386840"/>
            <a:ext cx="62824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ja-JP" sz="2800" dirty="0">
                <a:solidFill>
                  <a:srgbClr val="003399"/>
                </a:solidFill>
                <a:latin typeface="+mj-lt"/>
                <a:ea typeface="ＭＳ Ｐゴシック" charset="-128"/>
              </a:rPr>
              <a:t>Dataset: Cancerous and Healthy Cells</a:t>
            </a:r>
          </a:p>
        </p:txBody>
      </p:sp>
      <p:sp>
        <p:nvSpPr>
          <p:cNvPr id="124940" name="Line 12"/>
          <p:cNvSpPr>
            <a:spLocks noChangeShapeType="1"/>
          </p:cNvSpPr>
          <p:nvPr/>
        </p:nvSpPr>
        <p:spPr bwMode="auto">
          <a:xfrm>
            <a:off x="3276600" y="4419600"/>
            <a:ext cx="5181600" cy="0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41" name="Oval 13" descr="Stationery"/>
          <p:cNvSpPr>
            <a:spLocks noChangeArrowheads="1"/>
          </p:cNvSpPr>
          <p:nvPr/>
        </p:nvSpPr>
        <p:spPr bwMode="auto">
          <a:xfrm>
            <a:off x="762000" y="2174875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42" name="Oval 14"/>
          <p:cNvSpPr>
            <a:spLocks noChangeArrowheads="1"/>
          </p:cNvSpPr>
          <p:nvPr/>
        </p:nvSpPr>
        <p:spPr bwMode="auto">
          <a:xfrm>
            <a:off x="990600" y="24034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43" name="Arc 15"/>
          <p:cNvSpPr>
            <a:spLocks/>
          </p:cNvSpPr>
          <p:nvPr/>
        </p:nvSpPr>
        <p:spPr bwMode="auto">
          <a:xfrm>
            <a:off x="985838" y="27908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44" name="Rectangle 16"/>
          <p:cNvSpPr>
            <a:spLocks noChangeArrowheads="1"/>
          </p:cNvSpPr>
          <p:nvPr/>
        </p:nvSpPr>
        <p:spPr bwMode="auto">
          <a:xfrm>
            <a:off x="1295400" y="2708275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H1</a:t>
            </a:r>
          </a:p>
        </p:txBody>
      </p:sp>
      <p:sp>
        <p:nvSpPr>
          <p:cNvPr id="124945" name="Oval 17" descr="Stationery"/>
          <p:cNvSpPr>
            <a:spLocks noChangeArrowheads="1"/>
          </p:cNvSpPr>
          <p:nvPr/>
        </p:nvSpPr>
        <p:spPr bwMode="auto">
          <a:xfrm>
            <a:off x="762000" y="5375275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46" name="Oval 18"/>
          <p:cNvSpPr>
            <a:spLocks noChangeArrowheads="1"/>
          </p:cNvSpPr>
          <p:nvPr/>
        </p:nvSpPr>
        <p:spPr bwMode="auto">
          <a:xfrm>
            <a:off x="884238" y="560705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47" name="Arc 19"/>
          <p:cNvSpPr>
            <a:spLocks/>
          </p:cNvSpPr>
          <p:nvPr/>
        </p:nvSpPr>
        <p:spPr bwMode="auto">
          <a:xfrm>
            <a:off x="985838" y="59912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48" name="Arc 20"/>
          <p:cNvSpPr>
            <a:spLocks/>
          </p:cNvSpPr>
          <p:nvPr/>
        </p:nvSpPr>
        <p:spPr bwMode="auto">
          <a:xfrm>
            <a:off x="1125538" y="5964238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49" name="Oval 21"/>
          <p:cNvSpPr>
            <a:spLocks noChangeArrowheads="1"/>
          </p:cNvSpPr>
          <p:nvPr/>
        </p:nvSpPr>
        <p:spPr bwMode="auto">
          <a:xfrm>
            <a:off x="1143000" y="56038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50" name="Rectangle 22"/>
          <p:cNvSpPr>
            <a:spLocks noChangeArrowheads="1"/>
          </p:cNvSpPr>
          <p:nvPr/>
        </p:nvSpPr>
        <p:spPr bwMode="auto">
          <a:xfrm>
            <a:off x="1295400" y="5832475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C3</a:t>
            </a:r>
          </a:p>
        </p:txBody>
      </p:sp>
      <p:sp>
        <p:nvSpPr>
          <p:cNvPr id="124951" name="Oval 23" descr="Stationery"/>
          <p:cNvSpPr>
            <a:spLocks noChangeArrowheads="1"/>
          </p:cNvSpPr>
          <p:nvPr/>
        </p:nvSpPr>
        <p:spPr bwMode="auto">
          <a:xfrm>
            <a:off x="762000" y="3165475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52" name="Oval 24"/>
          <p:cNvSpPr>
            <a:spLocks noChangeArrowheads="1"/>
          </p:cNvSpPr>
          <p:nvPr/>
        </p:nvSpPr>
        <p:spPr bwMode="auto">
          <a:xfrm>
            <a:off x="990600" y="33940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53" name="Arc 25"/>
          <p:cNvSpPr>
            <a:spLocks/>
          </p:cNvSpPr>
          <p:nvPr/>
        </p:nvSpPr>
        <p:spPr bwMode="auto">
          <a:xfrm>
            <a:off x="985838" y="37814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54" name="Arc 26"/>
          <p:cNvSpPr>
            <a:spLocks/>
          </p:cNvSpPr>
          <p:nvPr/>
        </p:nvSpPr>
        <p:spPr bwMode="auto">
          <a:xfrm>
            <a:off x="1125538" y="3754438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55" name="Rectangle 27"/>
          <p:cNvSpPr>
            <a:spLocks noChangeArrowheads="1"/>
          </p:cNvSpPr>
          <p:nvPr/>
        </p:nvSpPr>
        <p:spPr bwMode="auto">
          <a:xfrm>
            <a:off x="1295400" y="3622675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H3</a:t>
            </a:r>
          </a:p>
        </p:txBody>
      </p:sp>
      <p:sp>
        <p:nvSpPr>
          <p:cNvPr id="124956" name="Oval 28" descr="Stationery"/>
          <p:cNvSpPr>
            <a:spLocks noChangeArrowheads="1"/>
          </p:cNvSpPr>
          <p:nvPr/>
        </p:nvSpPr>
        <p:spPr bwMode="auto">
          <a:xfrm>
            <a:off x="1905000" y="3165475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57" name="Oval 29"/>
          <p:cNvSpPr>
            <a:spLocks noChangeArrowheads="1"/>
          </p:cNvSpPr>
          <p:nvPr/>
        </p:nvSpPr>
        <p:spPr bwMode="auto">
          <a:xfrm>
            <a:off x="2027238" y="339725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58" name="Arc 30"/>
          <p:cNvSpPr>
            <a:spLocks/>
          </p:cNvSpPr>
          <p:nvPr/>
        </p:nvSpPr>
        <p:spPr bwMode="auto">
          <a:xfrm>
            <a:off x="2128838" y="37814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59" name="Oval 31"/>
          <p:cNvSpPr>
            <a:spLocks noChangeArrowheads="1"/>
          </p:cNvSpPr>
          <p:nvPr/>
        </p:nvSpPr>
        <p:spPr bwMode="auto">
          <a:xfrm>
            <a:off x="2286000" y="33940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60" name="Rectangle 32"/>
          <p:cNvSpPr>
            <a:spLocks noChangeArrowheads="1"/>
          </p:cNvSpPr>
          <p:nvPr/>
        </p:nvSpPr>
        <p:spPr bwMode="auto">
          <a:xfrm>
            <a:off x="2438400" y="3622675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H4</a:t>
            </a:r>
          </a:p>
        </p:txBody>
      </p:sp>
      <p:sp>
        <p:nvSpPr>
          <p:cNvPr id="124961" name="Oval 33"/>
          <p:cNvSpPr>
            <a:spLocks noChangeArrowheads="1"/>
          </p:cNvSpPr>
          <p:nvPr/>
        </p:nvSpPr>
        <p:spPr bwMode="auto">
          <a:xfrm>
            <a:off x="1905000" y="2174875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62" name="Oval 34"/>
          <p:cNvSpPr>
            <a:spLocks noChangeArrowheads="1"/>
          </p:cNvSpPr>
          <p:nvPr/>
        </p:nvSpPr>
        <p:spPr bwMode="auto">
          <a:xfrm>
            <a:off x="2133600" y="24034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63" name="Arc 35"/>
          <p:cNvSpPr>
            <a:spLocks/>
          </p:cNvSpPr>
          <p:nvPr/>
        </p:nvSpPr>
        <p:spPr bwMode="auto">
          <a:xfrm>
            <a:off x="2128838" y="27908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64" name="Rectangle 36"/>
          <p:cNvSpPr>
            <a:spLocks noChangeArrowheads="1"/>
          </p:cNvSpPr>
          <p:nvPr/>
        </p:nvSpPr>
        <p:spPr bwMode="auto">
          <a:xfrm>
            <a:off x="2438400" y="2708275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H2</a:t>
            </a:r>
          </a:p>
        </p:txBody>
      </p:sp>
      <p:sp>
        <p:nvSpPr>
          <p:cNvPr id="124965" name="Oval 37"/>
          <p:cNvSpPr>
            <a:spLocks noChangeArrowheads="1"/>
          </p:cNvSpPr>
          <p:nvPr/>
        </p:nvSpPr>
        <p:spPr bwMode="auto">
          <a:xfrm>
            <a:off x="1905000" y="4384675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66" name="Oval 38"/>
          <p:cNvSpPr>
            <a:spLocks noChangeArrowheads="1"/>
          </p:cNvSpPr>
          <p:nvPr/>
        </p:nvSpPr>
        <p:spPr bwMode="auto">
          <a:xfrm>
            <a:off x="2027238" y="461645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67" name="Arc 39"/>
          <p:cNvSpPr>
            <a:spLocks/>
          </p:cNvSpPr>
          <p:nvPr/>
        </p:nvSpPr>
        <p:spPr bwMode="auto">
          <a:xfrm>
            <a:off x="2128838" y="50006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68" name="Oval 40"/>
          <p:cNvSpPr>
            <a:spLocks noChangeArrowheads="1"/>
          </p:cNvSpPr>
          <p:nvPr/>
        </p:nvSpPr>
        <p:spPr bwMode="auto">
          <a:xfrm>
            <a:off x="2286000" y="46132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69" name="Rectangle 41"/>
          <p:cNvSpPr>
            <a:spLocks noChangeArrowheads="1"/>
          </p:cNvSpPr>
          <p:nvPr/>
        </p:nvSpPr>
        <p:spPr bwMode="auto">
          <a:xfrm>
            <a:off x="2438400" y="4841875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C2</a:t>
            </a:r>
          </a:p>
        </p:txBody>
      </p:sp>
      <p:sp>
        <p:nvSpPr>
          <p:cNvPr id="124970" name="Oval 42"/>
          <p:cNvSpPr>
            <a:spLocks noChangeArrowheads="1"/>
          </p:cNvSpPr>
          <p:nvPr/>
        </p:nvSpPr>
        <p:spPr bwMode="auto">
          <a:xfrm>
            <a:off x="762000" y="4384675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71" name="Oval 43"/>
          <p:cNvSpPr>
            <a:spLocks noChangeArrowheads="1"/>
          </p:cNvSpPr>
          <p:nvPr/>
        </p:nvSpPr>
        <p:spPr bwMode="auto">
          <a:xfrm>
            <a:off x="990600" y="46132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72" name="Arc 44"/>
          <p:cNvSpPr>
            <a:spLocks/>
          </p:cNvSpPr>
          <p:nvPr/>
        </p:nvSpPr>
        <p:spPr bwMode="auto">
          <a:xfrm>
            <a:off x="985838" y="50006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73" name="Arc 45"/>
          <p:cNvSpPr>
            <a:spLocks/>
          </p:cNvSpPr>
          <p:nvPr/>
        </p:nvSpPr>
        <p:spPr bwMode="auto">
          <a:xfrm>
            <a:off x="1125538" y="4973638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74" name="Rectangle 46"/>
          <p:cNvSpPr>
            <a:spLocks noChangeArrowheads="1"/>
          </p:cNvSpPr>
          <p:nvPr/>
        </p:nvSpPr>
        <p:spPr bwMode="auto">
          <a:xfrm>
            <a:off x="1295400" y="4841875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C1</a:t>
            </a:r>
          </a:p>
        </p:txBody>
      </p:sp>
      <p:sp>
        <p:nvSpPr>
          <p:cNvPr id="124975" name="Oval 47"/>
          <p:cNvSpPr>
            <a:spLocks noChangeArrowheads="1"/>
          </p:cNvSpPr>
          <p:nvPr/>
        </p:nvSpPr>
        <p:spPr bwMode="auto">
          <a:xfrm>
            <a:off x="1905000" y="5375275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76" name="Oval 48"/>
          <p:cNvSpPr>
            <a:spLocks noChangeArrowheads="1"/>
          </p:cNvSpPr>
          <p:nvPr/>
        </p:nvSpPr>
        <p:spPr bwMode="auto">
          <a:xfrm>
            <a:off x="2027238" y="560705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77" name="Arc 49"/>
          <p:cNvSpPr>
            <a:spLocks/>
          </p:cNvSpPr>
          <p:nvPr/>
        </p:nvSpPr>
        <p:spPr bwMode="auto">
          <a:xfrm>
            <a:off x="2128838" y="59912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78" name="Arc 50"/>
          <p:cNvSpPr>
            <a:spLocks/>
          </p:cNvSpPr>
          <p:nvPr/>
        </p:nvSpPr>
        <p:spPr bwMode="auto">
          <a:xfrm>
            <a:off x="2268538" y="5964238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79" name="Oval 51"/>
          <p:cNvSpPr>
            <a:spLocks noChangeArrowheads="1"/>
          </p:cNvSpPr>
          <p:nvPr/>
        </p:nvSpPr>
        <p:spPr bwMode="auto">
          <a:xfrm>
            <a:off x="2286000" y="56038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4980" name="Rectangle 52"/>
          <p:cNvSpPr>
            <a:spLocks noChangeArrowheads="1"/>
          </p:cNvSpPr>
          <p:nvPr/>
        </p:nvSpPr>
        <p:spPr bwMode="auto">
          <a:xfrm>
            <a:off x="2438400" y="5832475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345210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Decision</a:t>
            </a:r>
            <a:r>
              <a:rPr lang="es-ES" dirty="0"/>
              <a:t> Rules</a:t>
            </a:r>
          </a:p>
        </p:txBody>
      </p:sp>
      <p:sp>
        <p:nvSpPr>
          <p:cNvPr id="125956" name="Text Box 4"/>
          <p:cNvSpPr txBox="1">
            <a:spLocks noChangeArrowheads="1"/>
          </p:cNvSpPr>
          <p:nvPr/>
        </p:nvSpPr>
        <p:spPr bwMode="auto">
          <a:xfrm>
            <a:off x="3505200" y="38512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ja-JP" altLang="en-US" sz="2400">
              <a:latin typeface="Tahoma" charset="0"/>
              <a:ea typeface="ＭＳ Ｐゴシック" charset="-128"/>
            </a:endParaRPr>
          </a:p>
        </p:txBody>
      </p:sp>
      <p:sp>
        <p:nvSpPr>
          <p:cNvPr id="125957" name="Oval 5" descr="Stationery"/>
          <p:cNvSpPr>
            <a:spLocks noChangeArrowheads="1"/>
          </p:cNvSpPr>
          <p:nvPr/>
        </p:nvSpPr>
        <p:spPr bwMode="auto">
          <a:xfrm>
            <a:off x="685800" y="2174875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58" name="Oval 6"/>
          <p:cNvSpPr>
            <a:spLocks noChangeArrowheads="1"/>
          </p:cNvSpPr>
          <p:nvPr/>
        </p:nvSpPr>
        <p:spPr bwMode="auto">
          <a:xfrm>
            <a:off x="914400" y="24034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59" name="Arc 7"/>
          <p:cNvSpPr>
            <a:spLocks/>
          </p:cNvSpPr>
          <p:nvPr/>
        </p:nvSpPr>
        <p:spPr bwMode="auto">
          <a:xfrm>
            <a:off x="909638" y="27908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60" name="Rectangle 8"/>
          <p:cNvSpPr>
            <a:spLocks noChangeArrowheads="1"/>
          </p:cNvSpPr>
          <p:nvPr/>
        </p:nvSpPr>
        <p:spPr bwMode="auto">
          <a:xfrm>
            <a:off x="1219200" y="2708275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H1</a:t>
            </a:r>
          </a:p>
        </p:txBody>
      </p:sp>
      <p:sp>
        <p:nvSpPr>
          <p:cNvPr id="125961" name="Oval 9" descr="Stationery"/>
          <p:cNvSpPr>
            <a:spLocks noChangeArrowheads="1"/>
          </p:cNvSpPr>
          <p:nvPr/>
        </p:nvSpPr>
        <p:spPr bwMode="auto">
          <a:xfrm>
            <a:off x="685800" y="5375275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62" name="Oval 10"/>
          <p:cNvSpPr>
            <a:spLocks noChangeArrowheads="1"/>
          </p:cNvSpPr>
          <p:nvPr/>
        </p:nvSpPr>
        <p:spPr bwMode="auto">
          <a:xfrm>
            <a:off x="808038" y="560705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63" name="Arc 11"/>
          <p:cNvSpPr>
            <a:spLocks/>
          </p:cNvSpPr>
          <p:nvPr/>
        </p:nvSpPr>
        <p:spPr bwMode="auto">
          <a:xfrm>
            <a:off x="909638" y="59912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64" name="Arc 12"/>
          <p:cNvSpPr>
            <a:spLocks/>
          </p:cNvSpPr>
          <p:nvPr/>
        </p:nvSpPr>
        <p:spPr bwMode="auto">
          <a:xfrm>
            <a:off x="1049338" y="5964238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65" name="Oval 13"/>
          <p:cNvSpPr>
            <a:spLocks noChangeArrowheads="1"/>
          </p:cNvSpPr>
          <p:nvPr/>
        </p:nvSpPr>
        <p:spPr bwMode="auto">
          <a:xfrm>
            <a:off x="1066800" y="56038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66" name="Rectangle 14"/>
          <p:cNvSpPr>
            <a:spLocks noChangeArrowheads="1"/>
          </p:cNvSpPr>
          <p:nvPr/>
        </p:nvSpPr>
        <p:spPr bwMode="auto">
          <a:xfrm>
            <a:off x="1219200" y="5832475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C3</a:t>
            </a:r>
          </a:p>
        </p:txBody>
      </p:sp>
      <p:sp>
        <p:nvSpPr>
          <p:cNvPr id="125967" name="Oval 15" descr="Stationery"/>
          <p:cNvSpPr>
            <a:spLocks noChangeArrowheads="1"/>
          </p:cNvSpPr>
          <p:nvPr/>
        </p:nvSpPr>
        <p:spPr bwMode="auto">
          <a:xfrm>
            <a:off x="685800" y="3165475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68" name="Oval 16"/>
          <p:cNvSpPr>
            <a:spLocks noChangeArrowheads="1"/>
          </p:cNvSpPr>
          <p:nvPr/>
        </p:nvSpPr>
        <p:spPr bwMode="auto">
          <a:xfrm>
            <a:off x="914400" y="33940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69" name="Arc 17"/>
          <p:cNvSpPr>
            <a:spLocks/>
          </p:cNvSpPr>
          <p:nvPr/>
        </p:nvSpPr>
        <p:spPr bwMode="auto">
          <a:xfrm>
            <a:off x="909638" y="37814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70" name="Arc 18"/>
          <p:cNvSpPr>
            <a:spLocks/>
          </p:cNvSpPr>
          <p:nvPr/>
        </p:nvSpPr>
        <p:spPr bwMode="auto">
          <a:xfrm>
            <a:off x="1049338" y="3754438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71" name="Rectangle 19"/>
          <p:cNvSpPr>
            <a:spLocks noChangeArrowheads="1"/>
          </p:cNvSpPr>
          <p:nvPr/>
        </p:nvSpPr>
        <p:spPr bwMode="auto">
          <a:xfrm>
            <a:off x="1219200" y="3622675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H3</a:t>
            </a:r>
          </a:p>
        </p:txBody>
      </p:sp>
      <p:sp>
        <p:nvSpPr>
          <p:cNvPr id="125972" name="Oval 20" descr="Stationery"/>
          <p:cNvSpPr>
            <a:spLocks noChangeArrowheads="1"/>
          </p:cNvSpPr>
          <p:nvPr/>
        </p:nvSpPr>
        <p:spPr bwMode="auto">
          <a:xfrm>
            <a:off x="1752600" y="3165475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73" name="Oval 21"/>
          <p:cNvSpPr>
            <a:spLocks noChangeArrowheads="1"/>
          </p:cNvSpPr>
          <p:nvPr/>
        </p:nvSpPr>
        <p:spPr bwMode="auto">
          <a:xfrm>
            <a:off x="1874838" y="339725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74" name="Arc 22"/>
          <p:cNvSpPr>
            <a:spLocks/>
          </p:cNvSpPr>
          <p:nvPr/>
        </p:nvSpPr>
        <p:spPr bwMode="auto">
          <a:xfrm>
            <a:off x="1976438" y="37814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75" name="Oval 23"/>
          <p:cNvSpPr>
            <a:spLocks noChangeArrowheads="1"/>
          </p:cNvSpPr>
          <p:nvPr/>
        </p:nvSpPr>
        <p:spPr bwMode="auto">
          <a:xfrm>
            <a:off x="2133600" y="33940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76" name="Rectangle 24"/>
          <p:cNvSpPr>
            <a:spLocks noChangeArrowheads="1"/>
          </p:cNvSpPr>
          <p:nvPr/>
        </p:nvSpPr>
        <p:spPr bwMode="auto">
          <a:xfrm>
            <a:off x="2286000" y="3622675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H4</a:t>
            </a:r>
          </a:p>
        </p:txBody>
      </p:sp>
      <p:sp>
        <p:nvSpPr>
          <p:cNvPr id="125977" name="Oval 25"/>
          <p:cNvSpPr>
            <a:spLocks noChangeArrowheads="1"/>
          </p:cNvSpPr>
          <p:nvPr/>
        </p:nvSpPr>
        <p:spPr bwMode="auto">
          <a:xfrm>
            <a:off x="1752600" y="2174875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78" name="Oval 26"/>
          <p:cNvSpPr>
            <a:spLocks noChangeArrowheads="1"/>
          </p:cNvSpPr>
          <p:nvPr/>
        </p:nvSpPr>
        <p:spPr bwMode="auto">
          <a:xfrm>
            <a:off x="1981200" y="24034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79" name="Arc 27"/>
          <p:cNvSpPr>
            <a:spLocks/>
          </p:cNvSpPr>
          <p:nvPr/>
        </p:nvSpPr>
        <p:spPr bwMode="auto">
          <a:xfrm>
            <a:off x="1976438" y="27908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80" name="Rectangle 28"/>
          <p:cNvSpPr>
            <a:spLocks noChangeArrowheads="1"/>
          </p:cNvSpPr>
          <p:nvPr/>
        </p:nvSpPr>
        <p:spPr bwMode="auto">
          <a:xfrm>
            <a:off x="2286000" y="2708275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H2</a:t>
            </a:r>
          </a:p>
        </p:txBody>
      </p:sp>
      <p:sp>
        <p:nvSpPr>
          <p:cNvPr id="125981" name="Oval 29"/>
          <p:cNvSpPr>
            <a:spLocks noChangeArrowheads="1"/>
          </p:cNvSpPr>
          <p:nvPr/>
        </p:nvSpPr>
        <p:spPr bwMode="auto">
          <a:xfrm>
            <a:off x="1752600" y="4384675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82" name="Oval 30"/>
          <p:cNvSpPr>
            <a:spLocks noChangeArrowheads="1"/>
          </p:cNvSpPr>
          <p:nvPr/>
        </p:nvSpPr>
        <p:spPr bwMode="auto">
          <a:xfrm>
            <a:off x="1874838" y="461645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83" name="Arc 31"/>
          <p:cNvSpPr>
            <a:spLocks/>
          </p:cNvSpPr>
          <p:nvPr/>
        </p:nvSpPr>
        <p:spPr bwMode="auto">
          <a:xfrm>
            <a:off x="1976438" y="50006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84" name="Oval 32"/>
          <p:cNvSpPr>
            <a:spLocks noChangeArrowheads="1"/>
          </p:cNvSpPr>
          <p:nvPr/>
        </p:nvSpPr>
        <p:spPr bwMode="auto">
          <a:xfrm>
            <a:off x="2133600" y="46132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85" name="Rectangle 33"/>
          <p:cNvSpPr>
            <a:spLocks noChangeArrowheads="1"/>
          </p:cNvSpPr>
          <p:nvPr/>
        </p:nvSpPr>
        <p:spPr bwMode="auto">
          <a:xfrm>
            <a:off x="2286000" y="4841875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C2</a:t>
            </a:r>
          </a:p>
        </p:txBody>
      </p:sp>
      <p:sp>
        <p:nvSpPr>
          <p:cNvPr id="125986" name="Oval 34"/>
          <p:cNvSpPr>
            <a:spLocks noChangeArrowheads="1"/>
          </p:cNvSpPr>
          <p:nvPr/>
        </p:nvSpPr>
        <p:spPr bwMode="auto">
          <a:xfrm>
            <a:off x="685800" y="4384675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87" name="Oval 35"/>
          <p:cNvSpPr>
            <a:spLocks noChangeArrowheads="1"/>
          </p:cNvSpPr>
          <p:nvPr/>
        </p:nvSpPr>
        <p:spPr bwMode="auto">
          <a:xfrm>
            <a:off x="914400" y="46132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88" name="Arc 36"/>
          <p:cNvSpPr>
            <a:spLocks/>
          </p:cNvSpPr>
          <p:nvPr/>
        </p:nvSpPr>
        <p:spPr bwMode="auto">
          <a:xfrm>
            <a:off x="909638" y="50006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89" name="Arc 37"/>
          <p:cNvSpPr>
            <a:spLocks/>
          </p:cNvSpPr>
          <p:nvPr/>
        </p:nvSpPr>
        <p:spPr bwMode="auto">
          <a:xfrm>
            <a:off x="1049338" y="4973638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90" name="Rectangle 38"/>
          <p:cNvSpPr>
            <a:spLocks noChangeArrowheads="1"/>
          </p:cNvSpPr>
          <p:nvPr/>
        </p:nvSpPr>
        <p:spPr bwMode="auto">
          <a:xfrm>
            <a:off x="1219200" y="4841875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C1</a:t>
            </a:r>
          </a:p>
        </p:txBody>
      </p:sp>
      <p:sp>
        <p:nvSpPr>
          <p:cNvPr id="125991" name="Oval 39"/>
          <p:cNvSpPr>
            <a:spLocks noChangeArrowheads="1"/>
          </p:cNvSpPr>
          <p:nvPr/>
        </p:nvSpPr>
        <p:spPr bwMode="auto">
          <a:xfrm>
            <a:off x="1752600" y="5375275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92" name="Oval 40"/>
          <p:cNvSpPr>
            <a:spLocks noChangeArrowheads="1"/>
          </p:cNvSpPr>
          <p:nvPr/>
        </p:nvSpPr>
        <p:spPr bwMode="auto">
          <a:xfrm>
            <a:off x="1874838" y="560705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93" name="Arc 41"/>
          <p:cNvSpPr>
            <a:spLocks/>
          </p:cNvSpPr>
          <p:nvPr/>
        </p:nvSpPr>
        <p:spPr bwMode="auto">
          <a:xfrm>
            <a:off x="1976438" y="59912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94" name="Arc 42"/>
          <p:cNvSpPr>
            <a:spLocks/>
          </p:cNvSpPr>
          <p:nvPr/>
        </p:nvSpPr>
        <p:spPr bwMode="auto">
          <a:xfrm>
            <a:off x="2116138" y="5964238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95" name="Oval 43"/>
          <p:cNvSpPr>
            <a:spLocks noChangeArrowheads="1"/>
          </p:cNvSpPr>
          <p:nvPr/>
        </p:nvSpPr>
        <p:spPr bwMode="auto">
          <a:xfrm>
            <a:off x="2133600" y="56038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96" name="Rectangle 44"/>
          <p:cNvSpPr>
            <a:spLocks noChangeArrowheads="1"/>
          </p:cNvSpPr>
          <p:nvPr/>
        </p:nvSpPr>
        <p:spPr bwMode="auto">
          <a:xfrm>
            <a:off x="2286000" y="5832475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C4</a:t>
            </a:r>
          </a:p>
        </p:txBody>
      </p:sp>
      <p:sp>
        <p:nvSpPr>
          <p:cNvPr id="125997" name="AutoShape 45"/>
          <p:cNvSpPr>
            <a:spLocks noChangeArrowheads="1"/>
          </p:cNvSpPr>
          <p:nvPr/>
        </p:nvSpPr>
        <p:spPr bwMode="auto">
          <a:xfrm>
            <a:off x="3048000" y="3546475"/>
            <a:ext cx="762000" cy="990600"/>
          </a:xfrm>
          <a:prstGeom prst="right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CCCCFF">
                  <a:gamma/>
                  <a:shade val="46275"/>
                  <a:invGamma/>
                </a:srgbClr>
              </a:gs>
              <a:gs pos="100000">
                <a:srgbClr val="CCCCFF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5998" name="Rectangle 46"/>
          <p:cNvSpPr>
            <a:spLocks noChangeArrowheads="1"/>
          </p:cNvSpPr>
          <p:nvPr/>
        </p:nvSpPr>
        <p:spPr bwMode="auto">
          <a:xfrm>
            <a:off x="3962400" y="2274887"/>
            <a:ext cx="4648200" cy="2432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If </a:t>
            </a:r>
            <a:r>
              <a:rPr lang="en-US" altLang="ja-JP" sz="2000" b="1" dirty="0" err="1" smtClean="0">
                <a:latin typeface="Tahoma" charset="0"/>
                <a:ea typeface="ＭＳ Ｐゴシック" charset="-128"/>
              </a:rPr>
              <a:t>colour</a:t>
            </a:r>
            <a:r>
              <a:rPr lang="en-US" altLang="ja-JP" sz="2000" b="1" dirty="0" smtClean="0">
                <a:latin typeface="Tahoma" charset="0"/>
                <a:ea typeface="ＭＳ Ｐゴシック" charset="-128"/>
              </a:rPr>
              <a:t> </a:t>
            </a:r>
            <a:r>
              <a:rPr lang="en-US" altLang="ja-JP" sz="2000" b="1" dirty="0">
                <a:latin typeface="Tahoma" charset="0"/>
                <a:ea typeface="ＭＳ Ｐゴシック" charset="-128"/>
              </a:rPr>
              <a:t>= light</a:t>
            </a:r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and  </a:t>
            </a:r>
            <a:r>
              <a:rPr lang="en-US" altLang="ja-JP" sz="2000" b="1" dirty="0">
                <a:latin typeface="Tahoma" charset="0"/>
                <a:ea typeface="ＭＳ Ｐゴシック" charset="-128"/>
              </a:rPr>
              <a:t># nuclei = 1</a:t>
            </a:r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</a:t>
            </a: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Then </a:t>
            </a:r>
            <a:r>
              <a:rPr lang="en-US" altLang="ja-JP" sz="2000" b="1" dirty="0">
                <a:solidFill>
                  <a:srgbClr val="D4AC00"/>
                </a:solidFill>
                <a:latin typeface="Tahoma" charset="0"/>
                <a:ea typeface="ＭＳ Ｐゴシック" charset="-128"/>
              </a:rPr>
              <a:t>cell = healthy</a:t>
            </a:r>
            <a:r>
              <a:rPr lang="en-US" altLang="ja-JP" sz="12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 	</a:t>
            </a:r>
          </a:p>
          <a:p>
            <a:pPr defTabSz="762000" eaLnBrk="0" hangingPunct="0"/>
            <a:r>
              <a:rPr lang="en-US" altLang="ja-JP" sz="12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          </a:t>
            </a:r>
            <a:endParaRPr lang="en-US" altLang="ja-JP" sz="2000" b="1" dirty="0">
              <a:solidFill>
                <a:srgbClr val="0000CC"/>
              </a:solidFill>
              <a:latin typeface="Tahoma" charset="0"/>
              <a:ea typeface="ＭＳ Ｐゴシック" charset="-128"/>
            </a:endParaRP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If </a:t>
            </a:r>
            <a:r>
              <a:rPr lang="en-US" altLang="ja-JP" sz="2000" b="1" dirty="0">
                <a:latin typeface="Tahoma" charset="0"/>
                <a:ea typeface="ＭＳ Ｐゴシック" charset="-128"/>
              </a:rPr>
              <a:t>#nuclei = 2</a:t>
            </a:r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and  </a:t>
            </a:r>
            <a:r>
              <a:rPr lang="en-US" altLang="ja-JP" sz="2000" b="1" dirty="0" err="1" smtClean="0">
                <a:latin typeface="Tahoma" charset="0"/>
                <a:ea typeface="ＭＳ Ｐゴシック" charset="-128"/>
              </a:rPr>
              <a:t>colour</a:t>
            </a:r>
            <a:r>
              <a:rPr lang="en-US" altLang="ja-JP" sz="2000" b="1" dirty="0" smtClean="0">
                <a:latin typeface="Tahoma" charset="0"/>
                <a:ea typeface="ＭＳ Ｐゴシック" charset="-128"/>
              </a:rPr>
              <a:t> </a:t>
            </a:r>
            <a:r>
              <a:rPr lang="en-US" altLang="ja-JP" sz="2000" b="1" dirty="0">
                <a:latin typeface="Tahoma" charset="0"/>
                <a:ea typeface="ＭＳ Ｐゴシック" charset="-128"/>
              </a:rPr>
              <a:t>= dark</a:t>
            </a: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Then </a:t>
            </a:r>
            <a:r>
              <a:rPr lang="en-US" altLang="ja-JP" sz="2000" b="1" dirty="0">
                <a:solidFill>
                  <a:srgbClr val="D4AC00"/>
                </a:solidFill>
                <a:latin typeface="Tahoma" charset="0"/>
                <a:ea typeface="ＭＳ Ｐゴシック" charset="-128"/>
              </a:rPr>
              <a:t>	cell = </a:t>
            </a:r>
            <a:r>
              <a:rPr lang="en-US" altLang="ja-JP" sz="2000" b="1" dirty="0" err="1">
                <a:solidFill>
                  <a:srgbClr val="D4AC00"/>
                </a:solidFill>
                <a:latin typeface="Tahoma" charset="0"/>
                <a:ea typeface="ＭＳ Ｐゴシック" charset="-128"/>
              </a:rPr>
              <a:t>cancerours</a:t>
            </a:r>
            <a:endParaRPr lang="en-US" altLang="ja-JP" sz="2000" b="1" dirty="0">
              <a:solidFill>
                <a:srgbClr val="D4AC00"/>
              </a:solidFill>
              <a:latin typeface="Tahoma" charset="0"/>
              <a:ea typeface="ＭＳ Ｐゴシック" charset="-128"/>
            </a:endParaRPr>
          </a:p>
          <a:p>
            <a:pPr defTabSz="762000" eaLnBrk="0" hangingPunct="0"/>
            <a:endParaRPr lang="en-US" altLang="ja-JP" sz="2000" b="1" dirty="0">
              <a:solidFill>
                <a:srgbClr val="D4AC00"/>
              </a:solidFill>
              <a:latin typeface="Tahoma" charset="0"/>
              <a:ea typeface="ＭＳ Ｐゴシック" charset="-128"/>
            </a:endParaRP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(and 4 rules more)</a:t>
            </a: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       </a:t>
            </a:r>
          </a:p>
        </p:txBody>
      </p:sp>
      <p:sp>
        <p:nvSpPr>
          <p:cNvPr id="125999" name="Rectangle 47"/>
          <p:cNvSpPr>
            <a:spLocks noChangeArrowheads="1"/>
          </p:cNvSpPr>
          <p:nvPr/>
        </p:nvSpPr>
        <p:spPr bwMode="auto">
          <a:xfrm>
            <a:off x="381000" y="533400"/>
            <a:ext cx="77930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endParaRPr kumimoji="1" lang="en-US" altLang="ja-JP" sz="2400" b="1" dirty="0">
              <a:solidFill>
                <a:srgbClr val="003399"/>
              </a:solidFill>
              <a:latin typeface="Tahoma" charset="0"/>
              <a:ea typeface="ＭＳ Ｐゴシック" charset="-128"/>
            </a:endParaRPr>
          </a:p>
        </p:txBody>
      </p:sp>
      <p:sp>
        <p:nvSpPr>
          <p:cNvPr id="48" name="Text Box 11"/>
          <p:cNvSpPr txBox="1">
            <a:spLocks noChangeArrowheads="1"/>
          </p:cNvSpPr>
          <p:nvPr/>
        </p:nvSpPr>
        <p:spPr bwMode="auto">
          <a:xfrm>
            <a:off x="457200" y="1386840"/>
            <a:ext cx="44839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ja-JP" sz="2800" dirty="0" smtClean="0">
                <a:solidFill>
                  <a:srgbClr val="003399"/>
                </a:solidFill>
                <a:latin typeface="+mj-lt"/>
                <a:ea typeface="ＭＳ Ｐゴシック" charset="-128"/>
              </a:rPr>
              <a:t>Mining with Decision Rules</a:t>
            </a:r>
            <a:endParaRPr kumimoji="1" lang="en-US" altLang="ja-JP" sz="2800" dirty="0">
              <a:solidFill>
                <a:srgbClr val="003399"/>
              </a:solidFill>
              <a:latin typeface="+mj-lt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023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Decision Trees</a:t>
            </a:r>
          </a:p>
        </p:txBody>
      </p:sp>
      <p:sp>
        <p:nvSpPr>
          <p:cNvPr id="126980" name="Rectangle 4"/>
          <p:cNvSpPr>
            <a:spLocks noChangeArrowheads="1"/>
          </p:cNvSpPr>
          <p:nvPr/>
        </p:nvSpPr>
        <p:spPr bwMode="auto">
          <a:xfrm>
            <a:off x="6096000" y="2133600"/>
            <a:ext cx="1143000" cy="5334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6981" name="Text Box 5"/>
          <p:cNvSpPr txBox="1">
            <a:spLocks noChangeArrowheads="1"/>
          </p:cNvSpPr>
          <p:nvPr/>
        </p:nvSpPr>
        <p:spPr bwMode="auto">
          <a:xfrm>
            <a:off x="6324600" y="22098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ja-JP" altLang="en-US" sz="2400">
              <a:latin typeface="Tahoma" charset="0"/>
              <a:ea typeface="ＭＳ Ｐゴシック" charset="-128"/>
            </a:endParaRPr>
          </a:p>
        </p:txBody>
      </p:sp>
      <p:sp>
        <p:nvSpPr>
          <p:cNvPr id="126982" name="Text Box 6"/>
          <p:cNvSpPr txBox="1">
            <a:spLocks noChangeArrowheads="1"/>
          </p:cNvSpPr>
          <p:nvPr/>
        </p:nvSpPr>
        <p:spPr bwMode="auto">
          <a:xfrm>
            <a:off x="6096000" y="2209800"/>
            <a:ext cx="1042988" cy="366713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ja-JP" altLang="en-US">
                <a:solidFill>
                  <a:schemeClr val="bg1"/>
                </a:solidFill>
                <a:latin typeface="Tahoma" charset="0"/>
                <a:ea typeface="ＭＳ Ｐゴシック" charset="-128"/>
              </a:rPr>
              <a:t>#</a:t>
            </a:r>
            <a:r>
              <a:rPr kumimoji="1" lang="en-US" altLang="ja-JP">
                <a:solidFill>
                  <a:schemeClr val="bg1"/>
                </a:solidFill>
                <a:latin typeface="Tahoma" charset="0"/>
                <a:ea typeface="ＭＳ Ｐゴシック" charset="-128"/>
              </a:rPr>
              <a:t>nuclei?</a:t>
            </a:r>
          </a:p>
        </p:txBody>
      </p:sp>
      <p:sp>
        <p:nvSpPr>
          <p:cNvPr id="126983" name="Rectangle 7"/>
          <p:cNvSpPr>
            <a:spLocks noChangeArrowheads="1"/>
          </p:cNvSpPr>
          <p:nvPr/>
        </p:nvSpPr>
        <p:spPr bwMode="auto">
          <a:xfrm>
            <a:off x="4724400" y="3276600"/>
            <a:ext cx="1066800" cy="5334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6984" name="Rectangle 8"/>
          <p:cNvSpPr>
            <a:spLocks noChangeArrowheads="1"/>
          </p:cNvSpPr>
          <p:nvPr/>
        </p:nvSpPr>
        <p:spPr bwMode="auto">
          <a:xfrm>
            <a:off x="7391400" y="3276600"/>
            <a:ext cx="990600" cy="5334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6985" name="Line 9"/>
          <p:cNvSpPr>
            <a:spLocks noChangeShapeType="1"/>
          </p:cNvSpPr>
          <p:nvPr/>
        </p:nvSpPr>
        <p:spPr bwMode="auto">
          <a:xfrm flipH="1">
            <a:off x="5486400" y="2667000"/>
            <a:ext cx="11430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26986" name="Line 10"/>
          <p:cNvSpPr>
            <a:spLocks noChangeShapeType="1"/>
          </p:cNvSpPr>
          <p:nvPr/>
        </p:nvSpPr>
        <p:spPr bwMode="auto">
          <a:xfrm>
            <a:off x="6629400" y="2667000"/>
            <a:ext cx="11430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26987" name="Text Box 11"/>
          <p:cNvSpPr txBox="1">
            <a:spLocks noChangeArrowheads="1"/>
          </p:cNvSpPr>
          <p:nvPr/>
        </p:nvSpPr>
        <p:spPr bwMode="auto">
          <a:xfrm>
            <a:off x="5257800" y="27432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ja-JP" altLang="en-US" sz="2400">
              <a:latin typeface="Tahoma" charset="0"/>
              <a:ea typeface="ＭＳ Ｐゴシック" charset="-128"/>
            </a:endParaRPr>
          </a:p>
        </p:txBody>
      </p:sp>
      <p:sp>
        <p:nvSpPr>
          <p:cNvPr id="126988" name="Text Box 12"/>
          <p:cNvSpPr txBox="1">
            <a:spLocks noChangeArrowheads="1"/>
          </p:cNvSpPr>
          <p:nvPr/>
        </p:nvSpPr>
        <p:spPr bwMode="auto">
          <a:xfrm>
            <a:off x="5410200" y="26670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ja-JP" altLang="en-US" sz="2400">
              <a:latin typeface="Tahoma" charset="0"/>
              <a:ea typeface="ＭＳ Ｐゴシック" charset="-128"/>
            </a:endParaRPr>
          </a:p>
        </p:txBody>
      </p:sp>
      <p:sp>
        <p:nvSpPr>
          <p:cNvPr id="126989" name="Text Box 13"/>
          <p:cNvSpPr txBox="1">
            <a:spLocks noChangeArrowheads="1"/>
          </p:cNvSpPr>
          <p:nvPr/>
        </p:nvSpPr>
        <p:spPr bwMode="auto">
          <a:xfrm>
            <a:off x="5562600" y="2741613"/>
            <a:ext cx="3095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ja-JP" altLang="en-US">
                <a:latin typeface="Tahoma" charset="0"/>
                <a:ea typeface="ＭＳ Ｐゴシック" charset="-128"/>
              </a:rPr>
              <a:t>1</a:t>
            </a:r>
          </a:p>
        </p:txBody>
      </p:sp>
      <p:sp>
        <p:nvSpPr>
          <p:cNvPr id="126990" name="Text Box 14"/>
          <p:cNvSpPr txBox="1">
            <a:spLocks noChangeArrowheads="1"/>
          </p:cNvSpPr>
          <p:nvPr/>
        </p:nvSpPr>
        <p:spPr bwMode="auto">
          <a:xfrm>
            <a:off x="7315200" y="2743200"/>
            <a:ext cx="309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ja-JP" altLang="en-US">
                <a:latin typeface="Tahoma" charset="0"/>
                <a:ea typeface="ＭＳ Ｐゴシック" charset="-128"/>
              </a:rPr>
              <a:t>2</a:t>
            </a:r>
          </a:p>
        </p:txBody>
      </p:sp>
      <p:sp>
        <p:nvSpPr>
          <p:cNvPr id="126991" name="Rectangle 15"/>
          <p:cNvSpPr>
            <a:spLocks noChangeArrowheads="1"/>
          </p:cNvSpPr>
          <p:nvPr/>
        </p:nvSpPr>
        <p:spPr bwMode="auto">
          <a:xfrm>
            <a:off x="5257800" y="4419600"/>
            <a:ext cx="1114425" cy="5334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6992" name="Line 16"/>
          <p:cNvSpPr>
            <a:spLocks noChangeShapeType="1"/>
          </p:cNvSpPr>
          <p:nvPr/>
        </p:nvSpPr>
        <p:spPr bwMode="auto">
          <a:xfrm flipH="1">
            <a:off x="4800600" y="38100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26993" name="Line 17"/>
          <p:cNvSpPr>
            <a:spLocks noChangeShapeType="1"/>
          </p:cNvSpPr>
          <p:nvPr/>
        </p:nvSpPr>
        <p:spPr bwMode="auto">
          <a:xfrm>
            <a:off x="5257800" y="38100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26994" name="Text Box 18"/>
          <p:cNvSpPr txBox="1">
            <a:spLocks noChangeArrowheads="1"/>
          </p:cNvSpPr>
          <p:nvPr/>
        </p:nvSpPr>
        <p:spPr bwMode="auto">
          <a:xfrm>
            <a:off x="4495800" y="38862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ja-JP" altLang="en-US" sz="2400">
              <a:latin typeface="Tahoma" charset="0"/>
              <a:ea typeface="ＭＳ Ｐゴシック" charset="-128"/>
            </a:endParaRPr>
          </a:p>
        </p:txBody>
      </p:sp>
      <p:sp>
        <p:nvSpPr>
          <p:cNvPr id="126995" name="Text Box 19"/>
          <p:cNvSpPr txBox="1">
            <a:spLocks noChangeArrowheads="1"/>
          </p:cNvSpPr>
          <p:nvPr/>
        </p:nvSpPr>
        <p:spPr bwMode="auto">
          <a:xfrm>
            <a:off x="4648200" y="38100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ja-JP" altLang="en-US" sz="2400">
              <a:latin typeface="Tahoma" charset="0"/>
              <a:ea typeface="ＭＳ Ｐゴシック" charset="-128"/>
            </a:endParaRPr>
          </a:p>
        </p:txBody>
      </p:sp>
      <p:sp>
        <p:nvSpPr>
          <p:cNvPr id="126996" name="Text Box 20"/>
          <p:cNvSpPr txBox="1">
            <a:spLocks noChangeArrowheads="1"/>
          </p:cNvSpPr>
          <p:nvPr/>
        </p:nvSpPr>
        <p:spPr bwMode="auto">
          <a:xfrm>
            <a:off x="4419600" y="3911600"/>
            <a:ext cx="619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ja-JP">
                <a:latin typeface="Tahoma" charset="0"/>
                <a:ea typeface="ＭＳ Ｐゴシック" charset="-128"/>
              </a:rPr>
              <a:t>light</a:t>
            </a:r>
          </a:p>
        </p:txBody>
      </p:sp>
      <p:sp>
        <p:nvSpPr>
          <p:cNvPr id="126997" name="Text Box 21"/>
          <p:cNvSpPr txBox="1">
            <a:spLocks noChangeArrowheads="1"/>
          </p:cNvSpPr>
          <p:nvPr/>
        </p:nvSpPr>
        <p:spPr bwMode="auto">
          <a:xfrm>
            <a:off x="5410200" y="38862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ja-JP">
                <a:latin typeface="Tahoma" charset="0"/>
                <a:ea typeface="ＭＳ Ｐゴシック" charset="-128"/>
              </a:rPr>
              <a:t>dark</a:t>
            </a:r>
          </a:p>
        </p:txBody>
      </p:sp>
      <p:sp>
        <p:nvSpPr>
          <p:cNvPr id="126998" name="Text Box 22"/>
          <p:cNvSpPr txBox="1">
            <a:spLocks noChangeArrowheads="1"/>
          </p:cNvSpPr>
          <p:nvPr/>
        </p:nvSpPr>
        <p:spPr bwMode="auto">
          <a:xfrm>
            <a:off x="4648200" y="3352800"/>
            <a:ext cx="1143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ja-JP" altLang="ja-JP" sz="2000" dirty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 </a:t>
            </a:r>
            <a:r>
              <a:rPr kumimoji="1" lang="en-US" altLang="ja-JP" sz="2000" dirty="0" err="1" smtClean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colour</a:t>
            </a:r>
            <a:r>
              <a:rPr kumimoji="1" lang="en-US" altLang="ja-JP" sz="2000" dirty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?</a:t>
            </a:r>
          </a:p>
        </p:txBody>
      </p:sp>
      <p:sp>
        <p:nvSpPr>
          <p:cNvPr id="126999" name="Text Box 23"/>
          <p:cNvSpPr txBox="1">
            <a:spLocks noChangeArrowheads="1"/>
          </p:cNvSpPr>
          <p:nvPr/>
        </p:nvSpPr>
        <p:spPr bwMode="auto">
          <a:xfrm>
            <a:off x="3505200" y="38862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ja-JP" altLang="en-US" sz="2400">
              <a:latin typeface="Tahoma" charset="0"/>
              <a:ea typeface="ＭＳ Ｐゴシック" charset="-128"/>
            </a:endParaRPr>
          </a:p>
        </p:txBody>
      </p:sp>
      <p:sp>
        <p:nvSpPr>
          <p:cNvPr id="127000" name="Line 24"/>
          <p:cNvSpPr>
            <a:spLocks noChangeShapeType="1"/>
          </p:cNvSpPr>
          <p:nvPr/>
        </p:nvSpPr>
        <p:spPr bwMode="auto">
          <a:xfrm flipH="1">
            <a:off x="5334000" y="49530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27001" name="Line 25"/>
          <p:cNvSpPr>
            <a:spLocks noChangeShapeType="1"/>
          </p:cNvSpPr>
          <p:nvPr/>
        </p:nvSpPr>
        <p:spPr bwMode="auto">
          <a:xfrm>
            <a:off x="5638800" y="49530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27002" name="Text Box 26"/>
          <p:cNvSpPr txBox="1">
            <a:spLocks noChangeArrowheads="1"/>
          </p:cNvSpPr>
          <p:nvPr/>
        </p:nvSpPr>
        <p:spPr bwMode="auto">
          <a:xfrm>
            <a:off x="5257800" y="49530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ja-JP" altLang="en-US" sz="2400">
              <a:latin typeface="Tahoma" charset="0"/>
              <a:ea typeface="ＭＳ Ｐゴシック" charset="-128"/>
            </a:endParaRPr>
          </a:p>
        </p:txBody>
      </p:sp>
      <p:sp>
        <p:nvSpPr>
          <p:cNvPr id="127003" name="Oval 27"/>
          <p:cNvSpPr>
            <a:spLocks noChangeArrowheads="1"/>
          </p:cNvSpPr>
          <p:nvPr/>
        </p:nvSpPr>
        <p:spPr bwMode="auto">
          <a:xfrm>
            <a:off x="4953000" y="5562600"/>
            <a:ext cx="609600" cy="609600"/>
          </a:xfrm>
          <a:prstGeom prst="ellipse">
            <a:avLst/>
          </a:prstGeom>
          <a:solidFill>
            <a:srgbClr val="9966FF"/>
          </a:solidFill>
          <a:ln w="19050">
            <a:solidFill>
              <a:srgbClr val="99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04" name="Oval 28"/>
          <p:cNvSpPr>
            <a:spLocks noChangeArrowheads="1"/>
          </p:cNvSpPr>
          <p:nvPr/>
        </p:nvSpPr>
        <p:spPr bwMode="auto">
          <a:xfrm>
            <a:off x="5715000" y="5562600"/>
            <a:ext cx="609600" cy="609600"/>
          </a:xfrm>
          <a:prstGeom prst="ellipse">
            <a:avLst/>
          </a:prstGeom>
          <a:solidFill>
            <a:srgbClr val="9966FF"/>
          </a:solidFill>
          <a:ln w="19050">
            <a:solidFill>
              <a:srgbClr val="99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05" name="Rectangle 29"/>
          <p:cNvSpPr>
            <a:spLocks noChangeArrowheads="1"/>
          </p:cNvSpPr>
          <p:nvPr/>
        </p:nvSpPr>
        <p:spPr bwMode="auto">
          <a:xfrm>
            <a:off x="6781800" y="4419600"/>
            <a:ext cx="1066800" cy="5334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06" name="Line 30"/>
          <p:cNvSpPr>
            <a:spLocks noChangeShapeType="1"/>
          </p:cNvSpPr>
          <p:nvPr/>
        </p:nvSpPr>
        <p:spPr bwMode="auto">
          <a:xfrm flipH="1">
            <a:off x="7467600" y="38100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27007" name="Line 31"/>
          <p:cNvSpPr>
            <a:spLocks noChangeShapeType="1"/>
          </p:cNvSpPr>
          <p:nvPr/>
        </p:nvSpPr>
        <p:spPr bwMode="auto">
          <a:xfrm>
            <a:off x="7924800" y="38100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27008" name="Text Box 32"/>
          <p:cNvSpPr txBox="1">
            <a:spLocks noChangeArrowheads="1"/>
          </p:cNvSpPr>
          <p:nvPr/>
        </p:nvSpPr>
        <p:spPr bwMode="auto">
          <a:xfrm>
            <a:off x="7162800" y="38862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ja-JP" altLang="en-US" sz="2400">
              <a:latin typeface="Tahoma" charset="0"/>
              <a:ea typeface="ＭＳ Ｐゴシック" charset="-128"/>
            </a:endParaRPr>
          </a:p>
        </p:txBody>
      </p:sp>
      <p:sp>
        <p:nvSpPr>
          <p:cNvPr id="127009" name="Text Box 33"/>
          <p:cNvSpPr txBox="1">
            <a:spLocks noChangeArrowheads="1"/>
          </p:cNvSpPr>
          <p:nvPr/>
        </p:nvSpPr>
        <p:spPr bwMode="auto">
          <a:xfrm>
            <a:off x="7315200" y="38100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ja-JP" altLang="en-US" sz="2400">
              <a:latin typeface="Tahoma" charset="0"/>
              <a:ea typeface="ＭＳ Ｐゴシック" charset="-128"/>
            </a:endParaRPr>
          </a:p>
        </p:txBody>
      </p:sp>
      <p:sp>
        <p:nvSpPr>
          <p:cNvPr id="127010" name="Text Box 34"/>
          <p:cNvSpPr txBox="1">
            <a:spLocks noChangeArrowheads="1"/>
          </p:cNvSpPr>
          <p:nvPr/>
        </p:nvSpPr>
        <p:spPr bwMode="auto">
          <a:xfrm>
            <a:off x="7010400" y="3886200"/>
            <a:ext cx="619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ja-JP">
                <a:latin typeface="Tahoma" charset="0"/>
                <a:ea typeface="ＭＳ Ｐゴシック" charset="-128"/>
              </a:rPr>
              <a:t>light</a:t>
            </a:r>
          </a:p>
        </p:txBody>
      </p:sp>
      <p:sp>
        <p:nvSpPr>
          <p:cNvPr id="127011" name="Text Box 35"/>
          <p:cNvSpPr txBox="1">
            <a:spLocks noChangeArrowheads="1"/>
          </p:cNvSpPr>
          <p:nvPr/>
        </p:nvSpPr>
        <p:spPr bwMode="auto">
          <a:xfrm>
            <a:off x="8077200" y="38862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ja-JP">
                <a:latin typeface="Tahoma" charset="0"/>
                <a:ea typeface="ＭＳ Ｐゴシック" charset="-128"/>
              </a:rPr>
              <a:t>dark</a:t>
            </a:r>
          </a:p>
        </p:txBody>
      </p:sp>
      <p:sp>
        <p:nvSpPr>
          <p:cNvPr id="127012" name="Line 36"/>
          <p:cNvSpPr>
            <a:spLocks noChangeShapeType="1"/>
          </p:cNvSpPr>
          <p:nvPr/>
        </p:nvSpPr>
        <p:spPr bwMode="auto">
          <a:xfrm flipH="1">
            <a:off x="7086600" y="49530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27013" name="Line 37"/>
          <p:cNvSpPr>
            <a:spLocks noChangeShapeType="1"/>
          </p:cNvSpPr>
          <p:nvPr/>
        </p:nvSpPr>
        <p:spPr bwMode="auto">
          <a:xfrm>
            <a:off x="7315200" y="49530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27014" name="Text Box 38"/>
          <p:cNvSpPr txBox="1">
            <a:spLocks noChangeArrowheads="1"/>
          </p:cNvSpPr>
          <p:nvPr/>
        </p:nvSpPr>
        <p:spPr bwMode="auto">
          <a:xfrm>
            <a:off x="6858000" y="50292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ja-JP" altLang="en-US" sz="2400">
              <a:latin typeface="Tahoma" charset="0"/>
              <a:ea typeface="ＭＳ Ｐゴシック" charset="-128"/>
            </a:endParaRPr>
          </a:p>
        </p:txBody>
      </p:sp>
      <p:sp>
        <p:nvSpPr>
          <p:cNvPr id="127015" name="Text Box 39"/>
          <p:cNvSpPr txBox="1">
            <a:spLocks noChangeArrowheads="1"/>
          </p:cNvSpPr>
          <p:nvPr/>
        </p:nvSpPr>
        <p:spPr bwMode="auto">
          <a:xfrm>
            <a:off x="7010400" y="49530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ja-JP" altLang="en-US" sz="2400">
              <a:latin typeface="Tahoma" charset="0"/>
              <a:ea typeface="ＭＳ Ｐゴシック" charset="-128"/>
            </a:endParaRPr>
          </a:p>
        </p:txBody>
      </p:sp>
      <p:sp>
        <p:nvSpPr>
          <p:cNvPr id="127016" name="Oval 40"/>
          <p:cNvSpPr>
            <a:spLocks noChangeArrowheads="1"/>
          </p:cNvSpPr>
          <p:nvPr/>
        </p:nvSpPr>
        <p:spPr bwMode="auto">
          <a:xfrm>
            <a:off x="6705600" y="5562600"/>
            <a:ext cx="609600" cy="609600"/>
          </a:xfrm>
          <a:prstGeom prst="ellipse">
            <a:avLst/>
          </a:prstGeom>
          <a:solidFill>
            <a:srgbClr val="9966FF"/>
          </a:solidFill>
          <a:ln w="19050">
            <a:solidFill>
              <a:srgbClr val="99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17" name="Oval 41"/>
          <p:cNvSpPr>
            <a:spLocks noChangeArrowheads="1"/>
          </p:cNvSpPr>
          <p:nvPr/>
        </p:nvSpPr>
        <p:spPr bwMode="auto">
          <a:xfrm>
            <a:off x="7391400" y="5562600"/>
            <a:ext cx="609600" cy="609600"/>
          </a:xfrm>
          <a:prstGeom prst="ellipse">
            <a:avLst/>
          </a:prstGeom>
          <a:solidFill>
            <a:srgbClr val="9966FF"/>
          </a:solidFill>
          <a:ln w="19050">
            <a:solidFill>
              <a:srgbClr val="99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18" name="Text Box 42"/>
          <p:cNvSpPr txBox="1">
            <a:spLocks noChangeArrowheads="1"/>
          </p:cNvSpPr>
          <p:nvPr/>
        </p:nvSpPr>
        <p:spPr bwMode="auto">
          <a:xfrm>
            <a:off x="5257800" y="5029200"/>
            <a:ext cx="309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ja-JP" altLang="ja-JP">
                <a:latin typeface="Tahoma" charset="0"/>
                <a:ea typeface="ＭＳ Ｐゴシック" charset="-128"/>
              </a:rPr>
              <a:t>1</a:t>
            </a:r>
          </a:p>
        </p:txBody>
      </p:sp>
      <p:sp>
        <p:nvSpPr>
          <p:cNvPr id="127019" name="Text Box 43"/>
          <p:cNvSpPr txBox="1">
            <a:spLocks noChangeArrowheads="1"/>
          </p:cNvSpPr>
          <p:nvPr/>
        </p:nvSpPr>
        <p:spPr bwMode="auto">
          <a:xfrm>
            <a:off x="5715000" y="5029200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ja-JP" altLang="ja-JP">
                <a:latin typeface="Tahoma" charset="0"/>
                <a:ea typeface="ＭＳ Ｐゴシック" charset="-128"/>
              </a:rPr>
              <a:t>2</a:t>
            </a:r>
          </a:p>
        </p:txBody>
      </p:sp>
      <p:sp>
        <p:nvSpPr>
          <p:cNvPr id="127020" name="Text Box 44"/>
          <p:cNvSpPr txBox="1">
            <a:spLocks noChangeArrowheads="1"/>
          </p:cNvSpPr>
          <p:nvPr/>
        </p:nvSpPr>
        <p:spPr bwMode="auto">
          <a:xfrm>
            <a:off x="5292725" y="4521200"/>
            <a:ext cx="1079500" cy="396875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ja-JP" altLang="ja-JP" sz="200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 </a:t>
            </a:r>
            <a:r>
              <a:rPr kumimoji="1" lang="ja-JP" altLang="es-ES" sz="200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#</a:t>
            </a:r>
            <a:r>
              <a:rPr kumimoji="1" lang="en-US" altLang="ja-JP" sz="200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tails?</a:t>
            </a:r>
          </a:p>
        </p:txBody>
      </p:sp>
      <p:sp>
        <p:nvSpPr>
          <p:cNvPr id="127021" name="Oval 45"/>
          <p:cNvSpPr>
            <a:spLocks noChangeArrowheads="1"/>
          </p:cNvSpPr>
          <p:nvPr/>
        </p:nvSpPr>
        <p:spPr bwMode="auto">
          <a:xfrm>
            <a:off x="4419600" y="4419600"/>
            <a:ext cx="609600" cy="609600"/>
          </a:xfrm>
          <a:prstGeom prst="ellipse">
            <a:avLst/>
          </a:prstGeom>
          <a:solidFill>
            <a:srgbClr val="9966FF"/>
          </a:solidFill>
          <a:ln w="19050">
            <a:solidFill>
              <a:srgbClr val="99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22" name="Text Box 46"/>
          <p:cNvSpPr txBox="1">
            <a:spLocks noChangeArrowheads="1"/>
          </p:cNvSpPr>
          <p:nvPr/>
        </p:nvSpPr>
        <p:spPr bwMode="auto">
          <a:xfrm>
            <a:off x="4495800" y="4443413"/>
            <a:ext cx="4238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ja-JP" sz="2800">
                <a:latin typeface="Tahoma" charset="0"/>
                <a:ea typeface="ＭＳ Ｐゴシック" charset="-128"/>
              </a:rPr>
              <a:t>H</a:t>
            </a:r>
          </a:p>
        </p:txBody>
      </p:sp>
      <p:sp>
        <p:nvSpPr>
          <p:cNvPr id="127023" name="Text Box 47"/>
          <p:cNvSpPr txBox="1">
            <a:spLocks noChangeArrowheads="1"/>
          </p:cNvSpPr>
          <p:nvPr/>
        </p:nvSpPr>
        <p:spPr bwMode="auto">
          <a:xfrm>
            <a:off x="5029200" y="5562600"/>
            <a:ext cx="423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ja-JP" sz="2800">
                <a:latin typeface="Tahoma" charset="0"/>
                <a:ea typeface="ＭＳ Ｐゴシック" charset="-128"/>
              </a:rPr>
              <a:t>H</a:t>
            </a:r>
          </a:p>
        </p:txBody>
      </p:sp>
      <p:sp>
        <p:nvSpPr>
          <p:cNvPr id="127024" name="Text Box 48"/>
          <p:cNvSpPr txBox="1">
            <a:spLocks noChangeArrowheads="1"/>
          </p:cNvSpPr>
          <p:nvPr/>
        </p:nvSpPr>
        <p:spPr bwMode="auto">
          <a:xfrm>
            <a:off x="5791200" y="5562600"/>
            <a:ext cx="398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ja-JP" sz="2800">
                <a:latin typeface="Tahoma" charset="0"/>
                <a:ea typeface="ＭＳ Ｐゴシック" charset="-128"/>
              </a:rPr>
              <a:t>C</a:t>
            </a:r>
          </a:p>
        </p:txBody>
      </p:sp>
      <p:sp>
        <p:nvSpPr>
          <p:cNvPr id="127025" name="Text Box 49"/>
          <p:cNvSpPr txBox="1">
            <a:spLocks noChangeArrowheads="1"/>
          </p:cNvSpPr>
          <p:nvPr/>
        </p:nvSpPr>
        <p:spPr bwMode="auto">
          <a:xfrm>
            <a:off x="7194550" y="3352800"/>
            <a:ext cx="1187450" cy="40011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ja-JP" altLang="ja-JP" sz="2000" dirty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 </a:t>
            </a:r>
            <a:r>
              <a:rPr kumimoji="1" lang="en-US" altLang="ja-JP" sz="2000" dirty="0" err="1" smtClean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colour</a:t>
            </a:r>
            <a:r>
              <a:rPr kumimoji="1" lang="en-US" altLang="ja-JP" sz="2000" dirty="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?</a:t>
            </a:r>
          </a:p>
        </p:txBody>
      </p:sp>
      <p:sp>
        <p:nvSpPr>
          <p:cNvPr id="127026" name="Text Box 50"/>
          <p:cNvSpPr txBox="1">
            <a:spLocks noChangeArrowheads="1"/>
          </p:cNvSpPr>
          <p:nvPr/>
        </p:nvSpPr>
        <p:spPr bwMode="auto">
          <a:xfrm>
            <a:off x="6858000" y="4495800"/>
            <a:ext cx="990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ja-JP" altLang="ja-JP" sz="200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#</a:t>
            </a:r>
            <a:r>
              <a:rPr kumimoji="1" lang="en-US" altLang="ja-JP" sz="2000">
                <a:solidFill>
                  <a:schemeClr val="bg1"/>
                </a:solidFill>
                <a:latin typeface="Tahoma" charset="0"/>
                <a:ea typeface="ＭＳ Ｐゴシック" charset="-128"/>
              </a:rPr>
              <a:t>tails?</a:t>
            </a:r>
          </a:p>
        </p:txBody>
      </p:sp>
      <p:sp>
        <p:nvSpPr>
          <p:cNvPr id="127027" name="Text Box 51"/>
          <p:cNvSpPr txBox="1">
            <a:spLocks noChangeArrowheads="1"/>
          </p:cNvSpPr>
          <p:nvPr/>
        </p:nvSpPr>
        <p:spPr bwMode="auto">
          <a:xfrm>
            <a:off x="6934200" y="5029200"/>
            <a:ext cx="309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ja-JP" altLang="ja-JP">
                <a:latin typeface="Tahoma" charset="0"/>
                <a:ea typeface="ＭＳ Ｐゴシック" charset="-128"/>
              </a:rPr>
              <a:t>1</a:t>
            </a:r>
          </a:p>
        </p:txBody>
      </p:sp>
      <p:sp>
        <p:nvSpPr>
          <p:cNvPr id="127028" name="Text Box 52"/>
          <p:cNvSpPr txBox="1">
            <a:spLocks noChangeArrowheads="1"/>
          </p:cNvSpPr>
          <p:nvPr/>
        </p:nvSpPr>
        <p:spPr bwMode="auto">
          <a:xfrm>
            <a:off x="7391400" y="5029200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ja-JP" altLang="ja-JP">
                <a:latin typeface="Tahoma" charset="0"/>
                <a:ea typeface="ＭＳ Ｐゴシック" charset="-128"/>
              </a:rPr>
              <a:t>2</a:t>
            </a:r>
          </a:p>
        </p:txBody>
      </p:sp>
      <p:sp>
        <p:nvSpPr>
          <p:cNvPr id="127029" name="Text Box 53"/>
          <p:cNvSpPr txBox="1">
            <a:spLocks noChangeArrowheads="1"/>
          </p:cNvSpPr>
          <p:nvPr/>
        </p:nvSpPr>
        <p:spPr bwMode="auto">
          <a:xfrm>
            <a:off x="6781800" y="5562600"/>
            <a:ext cx="423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ja-JP" sz="2800">
                <a:latin typeface="Tahoma" charset="0"/>
                <a:ea typeface="ＭＳ Ｐゴシック" charset="-128"/>
              </a:rPr>
              <a:t>H</a:t>
            </a:r>
          </a:p>
        </p:txBody>
      </p:sp>
      <p:sp>
        <p:nvSpPr>
          <p:cNvPr id="127030" name="Text Box 54"/>
          <p:cNvSpPr txBox="1">
            <a:spLocks noChangeArrowheads="1"/>
          </p:cNvSpPr>
          <p:nvPr/>
        </p:nvSpPr>
        <p:spPr bwMode="auto">
          <a:xfrm>
            <a:off x="7467600" y="5562600"/>
            <a:ext cx="398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ja-JP" sz="2800">
                <a:latin typeface="Tahoma" charset="0"/>
                <a:ea typeface="ＭＳ Ｐゴシック" charset="-128"/>
              </a:rPr>
              <a:t>C</a:t>
            </a:r>
          </a:p>
        </p:txBody>
      </p:sp>
      <p:sp>
        <p:nvSpPr>
          <p:cNvPr id="127031" name="Oval 55"/>
          <p:cNvSpPr>
            <a:spLocks noChangeArrowheads="1"/>
          </p:cNvSpPr>
          <p:nvPr/>
        </p:nvSpPr>
        <p:spPr bwMode="auto">
          <a:xfrm>
            <a:off x="8077200" y="4419600"/>
            <a:ext cx="609600" cy="609600"/>
          </a:xfrm>
          <a:prstGeom prst="ellipse">
            <a:avLst/>
          </a:prstGeom>
          <a:solidFill>
            <a:srgbClr val="9966FF"/>
          </a:solidFill>
          <a:ln w="19050">
            <a:solidFill>
              <a:srgbClr val="99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32" name="Text Box 56"/>
          <p:cNvSpPr txBox="1">
            <a:spLocks noChangeArrowheads="1"/>
          </p:cNvSpPr>
          <p:nvPr/>
        </p:nvSpPr>
        <p:spPr bwMode="auto">
          <a:xfrm>
            <a:off x="8153400" y="4419600"/>
            <a:ext cx="398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ja-JP" sz="2800">
                <a:latin typeface="Tahoma" charset="0"/>
                <a:ea typeface="ＭＳ Ｐゴシック" charset="-128"/>
              </a:rPr>
              <a:t>C</a:t>
            </a:r>
          </a:p>
        </p:txBody>
      </p:sp>
      <p:sp>
        <p:nvSpPr>
          <p:cNvPr id="127033" name="Oval 57" descr="Stationery"/>
          <p:cNvSpPr>
            <a:spLocks noChangeArrowheads="1"/>
          </p:cNvSpPr>
          <p:nvPr/>
        </p:nvSpPr>
        <p:spPr bwMode="auto">
          <a:xfrm>
            <a:off x="685800" y="2209800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34" name="Oval 58"/>
          <p:cNvSpPr>
            <a:spLocks noChangeArrowheads="1"/>
          </p:cNvSpPr>
          <p:nvPr/>
        </p:nvSpPr>
        <p:spPr bwMode="auto">
          <a:xfrm>
            <a:off x="914400" y="24384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35" name="Arc 59"/>
          <p:cNvSpPr>
            <a:spLocks/>
          </p:cNvSpPr>
          <p:nvPr/>
        </p:nvSpPr>
        <p:spPr bwMode="auto">
          <a:xfrm>
            <a:off x="909638" y="28257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36" name="Rectangle 60"/>
          <p:cNvSpPr>
            <a:spLocks noChangeArrowheads="1"/>
          </p:cNvSpPr>
          <p:nvPr/>
        </p:nvSpPr>
        <p:spPr bwMode="auto">
          <a:xfrm>
            <a:off x="1219200" y="27432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H1</a:t>
            </a:r>
          </a:p>
        </p:txBody>
      </p:sp>
      <p:sp>
        <p:nvSpPr>
          <p:cNvPr id="127037" name="Oval 61" descr="Stationery"/>
          <p:cNvSpPr>
            <a:spLocks noChangeArrowheads="1"/>
          </p:cNvSpPr>
          <p:nvPr/>
        </p:nvSpPr>
        <p:spPr bwMode="auto">
          <a:xfrm>
            <a:off x="685800" y="5410200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38" name="Oval 62"/>
          <p:cNvSpPr>
            <a:spLocks noChangeArrowheads="1"/>
          </p:cNvSpPr>
          <p:nvPr/>
        </p:nvSpPr>
        <p:spPr bwMode="auto">
          <a:xfrm>
            <a:off x="808038" y="56419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39" name="Arc 63"/>
          <p:cNvSpPr>
            <a:spLocks/>
          </p:cNvSpPr>
          <p:nvPr/>
        </p:nvSpPr>
        <p:spPr bwMode="auto">
          <a:xfrm>
            <a:off x="909638" y="60261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40" name="Arc 64"/>
          <p:cNvSpPr>
            <a:spLocks/>
          </p:cNvSpPr>
          <p:nvPr/>
        </p:nvSpPr>
        <p:spPr bwMode="auto">
          <a:xfrm>
            <a:off x="1049338" y="5999163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41" name="Oval 65"/>
          <p:cNvSpPr>
            <a:spLocks noChangeArrowheads="1"/>
          </p:cNvSpPr>
          <p:nvPr/>
        </p:nvSpPr>
        <p:spPr bwMode="auto">
          <a:xfrm>
            <a:off x="1066800" y="56388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42" name="Rectangle 66"/>
          <p:cNvSpPr>
            <a:spLocks noChangeArrowheads="1"/>
          </p:cNvSpPr>
          <p:nvPr/>
        </p:nvSpPr>
        <p:spPr bwMode="auto">
          <a:xfrm>
            <a:off x="1219200" y="58674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C3</a:t>
            </a:r>
          </a:p>
        </p:txBody>
      </p:sp>
      <p:sp>
        <p:nvSpPr>
          <p:cNvPr id="127043" name="Oval 67" descr="Stationery"/>
          <p:cNvSpPr>
            <a:spLocks noChangeArrowheads="1"/>
          </p:cNvSpPr>
          <p:nvPr/>
        </p:nvSpPr>
        <p:spPr bwMode="auto">
          <a:xfrm>
            <a:off x="685800" y="3200400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44" name="Oval 68"/>
          <p:cNvSpPr>
            <a:spLocks noChangeArrowheads="1"/>
          </p:cNvSpPr>
          <p:nvPr/>
        </p:nvSpPr>
        <p:spPr bwMode="auto">
          <a:xfrm>
            <a:off x="914400" y="34290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45" name="Arc 69"/>
          <p:cNvSpPr>
            <a:spLocks/>
          </p:cNvSpPr>
          <p:nvPr/>
        </p:nvSpPr>
        <p:spPr bwMode="auto">
          <a:xfrm>
            <a:off x="909638" y="38163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46" name="Arc 70"/>
          <p:cNvSpPr>
            <a:spLocks/>
          </p:cNvSpPr>
          <p:nvPr/>
        </p:nvSpPr>
        <p:spPr bwMode="auto">
          <a:xfrm>
            <a:off x="1049338" y="3789363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47" name="Rectangle 71"/>
          <p:cNvSpPr>
            <a:spLocks noChangeArrowheads="1"/>
          </p:cNvSpPr>
          <p:nvPr/>
        </p:nvSpPr>
        <p:spPr bwMode="auto">
          <a:xfrm>
            <a:off x="1219200" y="36576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H3</a:t>
            </a:r>
          </a:p>
        </p:txBody>
      </p:sp>
      <p:sp>
        <p:nvSpPr>
          <p:cNvPr id="127048" name="Oval 72" descr="Stationery"/>
          <p:cNvSpPr>
            <a:spLocks noChangeArrowheads="1"/>
          </p:cNvSpPr>
          <p:nvPr/>
        </p:nvSpPr>
        <p:spPr bwMode="auto">
          <a:xfrm>
            <a:off x="1752600" y="3200400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49" name="Oval 73"/>
          <p:cNvSpPr>
            <a:spLocks noChangeArrowheads="1"/>
          </p:cNvSpPr>
          <p:nvPr/>
        </p:nvSpPr>
        <p:spPr bwMode="auto">
          <a:xfrm>
            <a:off x="1874838" y="34321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50" name="Arc 74"/>
          <p:cNvSpPr>
            <a:spLocks/>
          </p:cNvSpPr>
          <p:nvPr/>
        </p:nvSpPr>
        <p:spPr bwMode="auto">
          <a:xfrm>
            <a:off x="1976438" y="38163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51" name="Oval 75"/>
          <p:cNvSpPr>
            <a:spLocks noChangeArrowheads="1"/>
          </p:cNvSpPr>
          <p:nvPr/>
        </p:nvSpPr>
        <p:spPr bwMode="auto">
          <a:xfrm>
            <a:off x="2133600" y="34290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52" name="Rectangle 76"/>
          <p:cNvSpPr>
            <a:spLocks noChangeArrowheads="1"/>
          </p:cNvSpPr>
          <p:nvPr/>
        </p:nvSpPr>
        <p:spPr bwMode="auto">
          <a:xfrm>
            <a:off x="2286000" y="36576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H4</a:t>
            </a:r>
          </a:p>
        </p:txBody>
      </p:sp>
      <p:sp>
        <p:nvSpPr>
          <p:cNvPr id="127053" name="Oval 77"/>
          <p:cNvSpPr>
            <a:spLocks noChangeArrowheads="1"/>
          </p:cNvSpPr>
          <p:nvPr/>
        </p:nvSpPr>
        <p:spPr bwMode="auto">
          <a:xfrm>
            <a:off x="1752600" y="2209800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54" name="Oval 78"/>
          <p:cNvSpPr>
            <a:spLocks noChangeArrowheads="1"/>
          </p:cNvSpPr>
          <p:nvPr/>
        </p:nvSpPr>
        <p:spPr bwMode="auto">
          <a:xfrm>
            <a:off x="1981200" y="24384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55" name="Arc 79"/>
          <p:cNvSpPr>
            <a:spLocks/>
          </p:cNvSpPr>
          <p:nvPr/>
        </p:nvSpPr>
        <p:spPr bwMode="auto">
          <a:xfrm>
            <a:off x="1976438" y="28257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56" name="Rectangle 80"/>
          <p:cNvSpPr>
            <a:spLocks noChangeArrowheads="1"/>
          </p:cNvSpPr>
          <p:nvPr/>
        </p:nvSpPr>
        <p:spPr bwMode="auto">
          <a:xfrm>
            <a:off x="2286000" y="27432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H2</a:t>
            </a:r>
          </a:p>
        </p:txBody>
      </p:sp>
      <p:sp>
        <p:nvSpPr>
          <p:cNvPr id="127057" name="Oval 81"/>
          <p:cNvSpPr>
            <a:spLocks noChangeArrowheads="1"/>
          </p:cNvSpPr>
          <p:nvPr/>
        </p:nvSpPr>
        <p:spPr bwMode="auto">
          <a:xfrm>
            <a:off x="1752600" y="4419600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58" name="Oval 82"/>
          <p:cNvSpPr>
            <a:spLocks noChangeArrowheads="1"/>
          </p:cNvSpPr>
          <p:nvPr/>
        </p:nvSpPr>
        <p:spPr bwMode="auto">
          <a:xfrm>
            <a:off x="1874838" y="46513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59" name="Arc 83"/>
          <p:cNvSpPr>
            <a:spLocks/>
          </p:cNvSpPr>
          <p:nvPr/>
        </p:nvSpPr>
        <p:spPr bwMode="auto">
          <a:xfrm>
            <a:off x="1976438" y="50355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60" name="Oval 84"/>
          <p:cNvSpPr>
            <a:spLocks noChangeArrowheads="1"/>
          </p:cNvSpPr>
          <p:nvPr/>
        </p:nvSpPr>
        <p:spPr bwMode="auto">
          <a:xfrm>
            <a:off x="2133600" y="46482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61" name="Rectangle 85"/>
          <p:cNvSpPr>
            <a:spLocks noChangeArrowheads="1"/>
          </p:cNvSpPr>
          <p:nvPr/>
        </p:nvSpPr>
        <p:spPr bwMode="auto">
          <a:xfrm>
            <a:off x="2286000" y="48768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C2</a:t>
            </a:r>
          </a:p>
        </p:txBody>
      </p:sp>
      <p:sp>
        <p:nvSpPr>
          <p:cNvPr id="127062" name="Oval 86"/>
          <p:cNvSpPr>
            <a:spLocks noChangeArrowheads="1"/>
          </p:cNvSpPr>
          <p:nvPr/>
        </p:nvSpPr>
        <p:spPr bwMode="auto">
          <a:xfrm>
            <a:off x="685800" y="4419600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63" name="Oval 87"/>
          <p:cNvSpPr>
            <a:spLocks noChangeArrowheads="1"/>
          </p:cNvSpPr>
          <p:nvPr/>
        </p:nvSpPr>
        <p:spPr bwMode="auto">
          <a:xfrm>
            <a:off x="914400" y="46482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64" name="Arc 88"/>
          <p:cNvSpPr>
            <a:spLocks/>
          </p:cNvSpPr>
          <p:nvPr/>
        </p:nvSpPr>
        <p:spPr bwMode="auto">
          <a:xfrm>
            <a:off x="909638" y="50355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65" name="Arc 89"/>
          <p:cNvSpPr>
            <a:spLocks/>
          </p:cNvSpPr>
          <p:nvPr/>
        </p:nvSpPr>
        <p:spPr bwMode="auto">
          <a:xfrm>
            <a:off x="1049338" y="5008563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66" name="Rectangle 90"/>
          <p:cNvSpPr>
            <a:spLocks noChangeArrowheads="1"/>
          </p:cNvSpPr>
          <p:nvPr/>
        </p:nvSpPr>
        <p:spPr bwMode="auto">
          <a:xfrm>
            <a:off x="1219200" y="48768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C1</a:t>
            </a:r>
          </a:p>
        </p:txBody>
      </p:sp>
      <p:sp>
        <p:nvSpPr>
          <p:cNvPr id="127067" name="Oval 91"/>
          <p:cNvSpPr>
            <a:spLocks noChangeArrowheads="1"/>
          </p:cNvSpPr>
          <p:nvPr/>
        </p:nvSpPr>
        <p:spPr bwMode="auto">
          <a:xfrm>
            <a:off x="1752600" y="5410200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68" name="Oval 92"/>
          <p:cNvSpPr>
            <a:spLocks noChangeArrowheads="1"/>
          </p:cNvSpPr>
          <p:nvPr/>
        </p:nvSpPr>
        <p:spPr bwMode="auto">
          <a:xfrm>
            <a:off x="1874838" y="56419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69" name="Arc 93"/>
          <p:cNvSpPr>
            <a:spLocks/>
          </p:cNvSpPr>
          <p:nvPr/>
        </p:nvSpPr>
        <p:spPr bwMode="auto">
          <a:xfrm>
            <a:off x="1976438" y="60261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70" name="Arc 94"/>
          <p:cNvSpPr>
            <a:spLocks/>
          </p:cNvSpPr>
          <p:nvPr/>
        </p:nvSpPr>
        <p:spPr bwMode="auto">
          <a:xfrm>
            <a:off x="2116138" y="5999163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71" name="Oval 95"/>
          <p:cNvSpPr>
            <a:spLocks noChangeArrowheads="1"/>
          </p:cNvSpPr>
          <p:nvPr/>
        </p:nvSpPr>
        <p:spPr bwMode="auto">
          <a:xfrm>
            <a:off x="2133600" y="56388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72" name="Rectangle 96"/>
          <p:cNvSpPr>
            <a:spLocks noChangeArrowheads="1"/>
          </p:cNvSpPr>
          <p:nvPr/>
        </p:nvSpPr>
        <p:spPr bwMode="auto">
          <a:xfrm>
            <a:off x="2286000" y="58674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C4</a:t>
            </a:r>
          </a:p>
        </p:txBody>
      </p:sp>
      <p:sp>
        <p:nvSpPr>
          <p:cNvPr id="127073" name="AutoShape 97"/>
          <p:cNvSpPr>
            <a:spLocks noChangeArrowheads="1"/>
          </p:cNvSpPr>
          <p:nvPr/>
        </p:nvSpPr>
        <p:spPr bwMode="auto">
          <a:xfrm>
            <a:off x="3048000" y="3581400"/>
            <a:ext cx="762000" cy="990600"/>
          </a:xfrm>
          <a:prstGeom prst="right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CCCCFF">
                  <a:gamma/>
                  <a:shade val="46275"/>
                  <a:invGamma/>
                </a:srgbClr>
              </a:gs>
              <a:gs pos="100000">
                <a:srgbClr val="CCCCFF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7074" name="Rectangle 98"/>
          <p:cNvSpPr>
            <a:spLocks noChangeArrowheads="1"/>
          </p:cNvSpPr>
          <p:nvPr/>
        </p:nvSpPr>
        <p:spPr bwMode="auto">
          <a:xfrm>
            <a:off x="381000" y="533400"/>
            <a:ext cx="77930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endParaRPr kumimoji="1" lang="en-US" altLang="ja-JP" sz="2400" b="1" dirty="0">
              <a:solidFill>
                <a:srgbClr val="003399"/>
              </a:solidFill>
              <a:latin typeface="Tahoma" charset="0"/>
              <a:ea typeface="ＭＳ Ｐゴシック" charset="-128"/>
            </a:endParaRPr>
          </a:p>
        </p:txBody>
      </p:sp>
      <p:sp>
        <p:nvSpPr>
          <p:cNvPr id="99" name="Text Box 11"/>
          <p:cNvSpPr txBox="1">
            <a:spLocks noChangeArrowheads="1"/>
          </p:cNvSpPr>
          <p:nvPr/>
        </p:nvSpPr>
        <p:spPr bwMode="auto">
          <a:xfrm>
            <a:off x="457200" y="1386840"/>
            <a:ext cx="44641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ja-JP" sz="2800" dirty="0" smtClean="0">
                <a:solidFill>
                  <a:srgbClr val="003399"/>
                </a:solidFill>
                <a:latin typeface="+mj-lt"/>
                <a:ea typeface="ＭＳ Ｐゴシック" charset="-128"/>
              </a:rPr>
              <a:t>Mining with Decision Trees</a:t>
            </a:r>
            <a:endParaRPr kumimoji="1" lang="en-US" altLang="ja-JP" sz="2800" dirty="0">
              <a:solidFill>
                <a:srgbClr val="003399"/>
              </a:solidFill>
              <a:latin typeface="+mj-lt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0776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Hierarchical Decision Rules</a:t>
            </a:r>
          </a:p>
        </p:txBody>
      </p:sp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3505200" y="39624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ja-JP" altLang="en-US" sz="2400">
              <a:latin typeface="Tahoma" charset="0"/>
              <a:ea typeface="ＭＳ Ｐゴシック" charset="-128"/>
            </a:endParaRPr>
          </a:p>
        </p:txBody>
      </p:sp>
      <p:sp>
        <p:nvSpPr>
          <p:cNvPr id="129029" name="Oval 5" descr="Stationery"/>
          <p:cNvSpPr>
            <a:spLocks noChangeArrowheads="1"/>
          </p:cNvSpPr>
          <p:nvPr/>
        </p:nvSpPr>
        <p:spPr bwMode="auto">
          <a:xfrm>
            <a:off x="685800" y="2286000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30" name="Oval 6"/>
          <p:cNvSpPr>
            <a:spLocks noChangeArrowheads="1"/>
          </p:cNvSpPr>
          <p:nvPr/>
        </p:nvSpPr>
        <p:spPr bwMode="auto">
          <a:xfrm>
            <a:off x="914400" y="25146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31" name="Arc 7"/>
          <p:cNvSpPr>
            <a:spLocks/>
          </p:cNvSpPr>
          <p:nvPr/>
        </p:nvSpPr>
        <p:spPr bwMode="auto">
          <a:xfrm>
            <a:off x="909638" y="29019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32" name="Rectangle 8"/>
          <p:cNvSpPr>
            <a:spLocks noChangeArrowheads="1"/>
          </p:cNvSpPr>
          <p:nvPr/>
        </p:nvSpPr>
        <p:spPr bwMode="auto">
          <a:xfrm>
            <a:off x="1219200" y="28194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H1</a:t>
            </a:r>
          </a:p>
        </p:txBody>
      </p:sp>
      <p:sp>
        <p:nvSpPr>
          <p:cNvPr id="129033" name="Oval 9" descr="Stationery"/>
          <p:cNvSpPr>
            <a:spLocks noChangeArrowheads="1"/>
          </p:cNvSpPr>
          <p:nvPr/>
        </p:nvSpPr>
        <p:spPr bwMode="auto">
          <a:xfrm>
            <a:off x="685800" y="5486400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34" name="Oval 10"/>
          <p:cNvSpPr>
            <a:spLocks noChangeArrowheads="1"/>
          </p:cNvSpPr>
          <p:nvPr/>
        </p:nvSpPr>
        <p:spPr bwMode="auto">
          <a:xfrm>
            <a:off x="808038" y="57181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35" name="Arc 11"/>
          <p:cNvSpPr>
            <a:spLocks/>
          </p:cNvSpPr>
          <p:nvPr/>
        </p:nvSpPr>
        <p:spPr bwMode="auto">
          <a:xfrm>
            <a:off x="909638" y="61023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36" name="Arc 12"/>
          <p:cNvSpPr>
            <a:spLocks/>
          </p:cNvSpPr>
          <p:nvPr/>
        </p:nvSpPr>
        <p:spPr bwMode="auto">
          <a:xfrm>
            <a:off x="1049338" y="6075363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37" name="Oval 13"/>
          <p:cNvSpPr>
            <a:spLocks noChangeArrowheads="1"/>
          </p:cNvSpPr>
          <p:nvPr/>
        </p:nvSpPr>
        <p:spPr bwMode="auto">
          <a:xfrm>
            <a:off x="1066800" y="57150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38" name="Rectangle 14"/>
          <p:cNvSpPr>
            <a:spLocks noChangeArrowheads="1"/>
          </p:cNvSpPr>
          <p:nvPr/>
        </p:nvSpPr>
        <p:spPr bwMode="auto">
          <a:xfrm>
            <a:off x="1219200" y="59436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C3</a:t>
            </a:r>
          </a:p>
        </p:txBody>
      </p:sp>
      <p:sp>
        <p:nvSpPr>
          <p:cNvPr id="129039" name="Oval 15" descr="Stationery"/>
          <p:cNvSpPr>
            <a:spLocks noChangeArrowheads="1"/>
          </p:cNvSpPr>
          <p:nvPr/>
        </p:nvSpPr>
        <p:spPr bwMode="auto">
          <a:xfrm>
            <a:off x="685800" y="3276600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40" name="Oval 16"/>
          <p:cNvSpPr>
            <a:spLocks noChangeArrowheads="1"/>
          </p:cNvSpPr>
          <p:nvPr/>
        </p:nvSpPr>
        <p:spPr bwMode="auto">
          <a:xfrm>
            <a:off x="914400" y="35052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41" name="Arc 17"/>
          <p:cNvSpPr>
            <a:spLocks/>
          </p:cNvSpPr>
          <p:nvPr/>
        </p:nvSpPr>
        <p:spPr bwMode="auto">
          <a:xfrm>
            <a:off x="909638" y="38925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42" name="Arc 18"/>
          <p:cNvSpPr>
            <a:spLocks/>
          </p:cNvSpPr>
          <p:nvPr/>
        </p:nvSpPr>
        <p:spPr bwMode="auto">
          <a:xfrm>
            <a:off x="1049338" y="3865563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43" name="Rectangle 19"/>
          <p:cNvSpPr>
            <a:spLocks noChangeArrowheads="1"/>
          </p:cNvSpPr>
          <p:nvPr/>
        </p:nvSpPr>
        <p:spPr bwMode="auto">
          <a:xfrm>
            <a:off x="1219200" y="37338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H3</a:t>
            </a:r>
          </a:p>
        </p:txBody>
      </p:sp>
      <p:sp>
        <p:nvSpPr>
          <p:cNvPr id="129044" name="Oval 20" descr="Stationery"/>
          <p:cNvSpPr>
            <a:spLocks noChangeArrowheads="1"/>
          </p:cNvSpPr>
          <p:nvPr/>
        </p:nvSpPr>
        <p:spPr bwMode="auto">
          <a:xfrm>
            <a:off x="1752600" y="3276600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45" name="Oval 21"/>
          <p:cNvSpPr>
            <a:spLocks noChangeArrowheads="1"/>
          </p:cNvSpPr>
          <p:nvPr/>
        </p:nvSpPr>
        <p:spPr bwMode="auto">
          <a:xfrm>
            <a:off x="1874838" y="35083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46" name="Arc 22"/>
          <p:cNvSpPr>
            <a:spLocks/>
          </p:cNvSpPr>
          <p:nvPr/>
        </p:nvSpPr>
        <p:spPr bwMode="auto">
          <a:xfrm>
            <a:off x="1976438" y="38925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47" name="Oval 23"/>
          <p:cNvSpPr>
            <a:spLocks noChangeArrowheads="1"/>
          </p:cNvSpPr>
          <p:nvPr/>
        </p:nvSpPr>
        <p:spPr bwMode="auto">
          <a:xfrm>
            <a:off x="2133600" y="35052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48" name="Rectangle 24"/>
          <p:cNvSpPr>
            <a:spLocks noChangeArrowheads="1"/>
          </p:cNvSpPr>
          <p:nvPr/>
        </p:nvSpPr>
        <p:spPr bwMode="auto">
          <a:xfrm>
            <a:off x="2286000" y="37338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H4</a:t>
            </a:r>
          </a:p>
        </p:txBody>
      </p:sp>
      <p:sp>
        <p:nvSpPr>
          <p:cNvPr id="129049" name="Oval 25"/>
          <p:cNvSpPr>
            <a:spLocks noChangeArrowheads="1"/>
          </p:cNvSpPr>
          <p:nvPr/>
        </p:nvSpPr>
        <p:spPr bwMode="auto">
          <a:xfrm>
            <a:off x="1752600" y="2286000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50" name="Oval 26"/>
          <p:cNvSpPr>
            <a:spLocks noChangeArrowheads="1"/>
          </p:cNvSpPr>
          <p:nvPr/>
        </p:nvSpPr>
        <p:spPr bwMode="auto">
          <a:xfrm>
            <a:off x="1981200" y="25146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51" name="Arc 27"/>
          <p:cNvSpPr>
            <a:spLocks/>
          </p:cNvSpPr>
          <p:nvPr/>
        </p:nvSpPr>
        <p:spPr bwMode="auto">
          <a:xfrm>
            <a:off x="1976438" y="29019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52" name="Rectangle 28"/>
          <p:cNvSpPr>
            <a:spLocks noChangeArrowheads="1"/>
          </p:cNvSpPr>
          <p:nvPr/>
        </p:nvSpPr>
        <p:spPr bwMode="auto">
          <a:xfrm>
            <a:off x="2286000" y="28194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H2</a:t>
            </a:r>
          </a:p>
        </p:txBody>
      </p:sp>
      <p:sp>
        <p:nvSpPr>
          <p:cNvPr id="129053" name="Oval 29"/>
          <p:cNvSpPr>
            <a:spLocks noChangeArrowheads="1"/>
          </p:cNvSpPr>
          <p:nvPr/>
        </p:nvSpPr>
        <p:spPr bwMode="auto">
          <a:xfrm>
            <a:off x="1752600" y="4495800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54" name="Oval 30"/>
          <p:cNvSpPr>
            <a:spLocks noChangeArrowheads="1"/>
          </p:cNvSpPr>
          <p:nvPr/>
        </p:nvSpPr>
        <p:spPr bwMode="auto">
          <a:xfrm>
            <a:off x="1874838" y="47275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55" name="Arc 31"/>
          <p:cNvSpPr>
            <a:spLocks/>
          </p:cNvSpPr>
          <p:nvPr/>
        </p:nvSpPr>
        <p:spPr bwMode="auto">
          <a:xfrm>
            <a:off x="1976438" y="51117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56" name="Oval 32"/>
          <p:cNvSpPr>
            <a:spLocks noChangeArrowheads="1"/>
          </p:cNvSpPr>
          <p:nvPr/>
        </p:nvSpPr>
        <p:spPr bwMode="auto">
          <a:xfrm>
            <a:off x="2133600" y="47244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57" name="Rectangle 33"/>
          <p:cNvSpPr>
            <a:spLocks noChangeArrowheads="1"/>
          </p:cNvSpPr>
          <p:nvPr/>
        </p:nvSpPr>
        <p:spPr bwMode="auto">
          <a:xfrm>
            <a:off x="2286000" y="49530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C2</a:t>
            </a:r>
          </a:p>
        </p:txBody>
      </p:sp>
      <p:sp>
        <p:nvSpPr>
          <p:cNvPr id="129058" name="Oval 34"/>
          <p:cNvSpPr>
            <a:spLocks noChangeArrowheads="1"/>
          </p:cNvSpPr>
          <p:nvPr/>
        </p:nvSpPr>
        <p:spPr bwMode="auto">
          <a:xfrm>
            <a:off x="685800" y="4495800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59" name="Oval 35"/>
          <p:cNvSpPr>
            <a:spLocks noChangeArrowheads="1"/>
          </p:cNvSpPr>
          <p:nvPr/>
        </p:nvSpPr>
        <p:spPr bwMode="auto">
          <a:xfrm>
            <a:off x="914400" y="47244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60" name="Arc 36"/>
          <p:cNvSpPr>
            <a:spLocks/>
          </p:cNvSpPr>
          <p:nvPr/>
        </p:nvSpPr>
        <p:spPr bwMode="auto">
          <a:xfrm>
            <a:off x="909638" y="51117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61" name="Arc 37"/>
          <p:cNvSpPr>
            <a:spLocks/>
          </p:cNvSpPr>
          <p:nvPr/>
        </p:nvSpPr>
        <p:spPr bwMode="auto">
          <a:xfrm>
            <a:off x="1049338" y="5084763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62" name="Rectangle 38"/>
          <p:cNvSpPr>
            <a:spLocks noChangeArrowheads="1"/>
          </p:cNvSpPr>
          <p:nvPr/>
        </p:nvSpPr>
        <p:spPr bwMode="auto">
          <a:xfrm>
            <a:off x="1219200" y="49530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C1</a:t>
            </a:r>
          </a:p>
        </p:txBody>
      </p:sp>
      <p:sp>
        <p:nvSpPr>
          <p:cNvPr id="129063" name="Oval 39"/>
          <p:cNvSpPr>
            <a:spLocks noChangeArrowheads="1"/>
          </p:cNvSpPr>
          <p:nvPr/>
        </p:nvSpPr>
        <p:spPr bwMode="auto">
          <a:xfrm>
            <a:off x="1752600" y="5486400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64" name="Oval 40"/>
          <p:cNvSpPr>
            <a:spLocks noChangeArrowheads="1"/>
          </p:cNvSpPr>
          <p:nvPr/>
        </p:nvSpPr>
        <p:spPr bwMode="auto">
          <a:xfrm>
            <a:off x="1874838" y="57181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65" name="Arc 41"/>
          <p:cNvSpPr>
            <a:spLocks/>
          </p:cNvSpPr>
          <p:nvPr/>
        </p:nvSpPr>
        <p:spPr bwMode="auto">
          <a:xfrm>
            <a:off x="1976438" y="61023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66" name="Arc 42"/>
          <p:cNvSpPr>
            <a:spLocks/>
          </p:cNvSpPr>
          <p:nvPr/>
        </p:nvSpPr>
        <p:spPr bwMode="auto">
          <a:xfrm>
            <a:off x="2116138" y="6075363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67" name="Oval 43"/>
          <p:cNvSpPr>
            <a:spLocks noChangeArrowheads="1"/>
          </p:cNvSpPr>
          <p:nvPr/>
        </p:nvSpPr>
        <p:spPr bwMode="auto">
          <a:xfrm>
            <a:off x="2133600" y="57150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68" name="Rectangle 44"/>
          <p:cNvSpPr>
            <a:spLocks noChangeArrowheads="1"/>
          </p:cNvSpPr>
          <p:nvPr/>
        </p:nvSpPr>
        <p:spPr bwMode="auto">
          <a:xfrm>
            <a:off x="2286000" y="59436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C4</a:t>
            </a:r>
          </a:p>
        </p:txBody>
      </p:sp>
      <p:sp>
        <p:nvSpPr>
          <p:cNvPr id="129069" name="AutoShape 45"/>
          <p:cNvSpPr>
            <a:spLocks noChangeArrowheads="1"/>
          </p:cNvSpPr>
          <p:nvPr/>
        </p:nvSpPr>
        <p:spPr bwMode="auto">
          <a:xfrm>
            <a:off x="3048000" y="3657600"/>
            <a:ext cx="762000" cy="990600"/>
          </a:xfrm>
          <a:prstGeom prst="right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CCCCFF">
                  <a:gamma/>
                  <a:shade val="46275"/>
                  <a:invGamma/>
                </a:srgbClr>
              </a:gs>
              <a:gs pos="100000">
                <a:srgbClr val="CCCCFF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9070" name="Rectangle 46"/>
          <p:cNvSpPr>
            <a:spLocks noChangeArrowheads="1"/>
          </p:cNvSpPr>
          <p:nvPr/>
        </p:nvSpPr>
        <p:spPr bwMode="auto">
          <a:xfrm>
            <a:off x="4038600" y="2286000"/>
            <a:ext cx="5105400" cy="3970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If </a:t>
            </a:r>
            <a:r>
              <a:rPr lang="en-US" altLang="ja-JP" sz="2000" b="1" dirty="0" err="1" smtClean="0">
                <a:latin typeface="Tahoma" charset="0"/>
                <a:ea typeface="ＭＳ Ｐゴシック" charset="-128"/>
              </a:rPr>
              <a:t>colour</a:t>
            </a:r>
            <a:r>
              <a:rPr lang="en-US" altLang="ja-JP" sz="2000" b="1" dirty="0" smtClean="0">
                <a:latin typeface="Tahoma" charset="0"/>
                <a:ea typeface="ＭＳ Ｐゴシック" charset="-128"/>
              </a:rPr>
              <a:t> </a:t>
            </a:r>
            <a:r>
              <a:rPr lang="en-US" altLang="ja-JP" sz="2000" b="1" dirty="0">
                <a:latin typeface="Tahoma" charset="0"/>
                <a:ea typeface="ＭＳ Ｐゴシック" charset="-128"/>
              </a:rPr>
              <a:t>= light</a:t>
            </a:r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and  </a:t>
            </a:r>
            <a:r>
              <a:rPr lang="en-US" altLang="ja-JP" sz="2000" b="1" dirty="0">
                <a:latin typeface="Tahoma" charset="0"/>
                <a:ea typeface="ＭＳ Ｐゴシック" charset="-128"/>
              </a:rPr>
              <a:t># nuclei = 1</a:t>
            </a:r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</a:t>
            </a: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Then </a:t>
            </a:r>
            <a:r>
              <a:rPr lang="en-US" altLang="ja-JP" sz="2000" b="1" dirty="0">
                <a:solidFill>
                  <a:srgbClr val="D4AC00"/>
                </a:solidFill>
                <a:latin typeface="Tahoma" charset="0"/>
                <a:ea typeface="ＭＳ Ｐゴシック" charset="-128"/>
              </a:rPr>
              <a:t>cell = healthy</a:t>
            </a:r>
            <a:r>
              <a:rPr lang="en-US" altLang="ja-JP" sz="12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 	</a:t>
            </a:r>
          </a:p>
          <a:p>
            <a:pPr defTabSz="762000" eaLnBrk="0" hangingPunct="0"/>
            <a:r>
              <a:rPr lang="en-US" altLang="ja-JP" sz="12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          </a:t>
            </a:r>
            <a:endParaRPr lang="en-US" altLang="ja-JP" sz="2000" b="1" dirty="0">
              <a:solidFill>
                <a:srgbClr val="0000CC"/>
              </a:solidFill>
              <a:latin typeface="Tahoma" charset="0"/>
              <a:ea typeface="ＭＳ Ｐゴシック" charset="-128"/>
            </a:endParaRP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Else </a:t>
            </a: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 If </a:t>
            </a:r>
            <a:r>
              <a:rPr lang="en-US" altLang="ja-JP" sz="2000" b="1" dirty="0">
                <a:latin typeface="Tahoma" charset="0"/>
                <a:ea typeface="ＭＳ Ｐゴシック" charset="-128"/>
              </a:rPr>
              <a:t>#nuclei = 2</a:t>
            </a:r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and  </a:t>
            </a:r>
            <a:r>
              <a:rPr lang="en-US" altLang="ja-JP" sz="2000" b="1" dirty="0" err="1" smtClean="0">
                <a:latin typeface="Tahoma" charset="0"/>
                <a:ea typeface="ＭＳ Ｐゴシック" charset="-128"/>
              </a:rPr>
              <a:t>colour</a:t>
            </a:r>
            <a:r>
              <a:rPr lang="en-US" altLang="ja-JP" sz="2000" b="1" dirty="0" smtClean="0">
                <a:latin typeface="Tahoma" charset="0"/>
                <a:ea typeface="ＭＳ Ｐゴシック" charset="-128"/>
              </a:rPr>
              <a:t> </a:t>
            </a:r>
            <a:r>
              <a:rPr lang="en-US" altLang="ja-JP" sz="2000" b="1" dirty="0">
                <a:latin typeface="Tahoma" charset="0"/>
                <a:ea typeface="ＭＳ Ｐゴシック" charset="-128"/>
              </a:rPr>
              <a:t>= dark</a:t>
            </a: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 Then </a:t>
            </a:r>
            <a:r>
              <a:rPr lang="en-US" altLang="ja-JP" sz="2000" b="1" dirty="0">
                <a:solidFill>
                  <a:srgbClr val="D4AC00"/>
                </a:solidFill>
                <a:latin typeface="Tahoma" charset="0"/>
                <a:ea typeface="ＭＳ Ｐゴシック" charset="-128"/>
              </a:rPr>
              <a:t>	cell = cancerous</a:t>
            </a:r>
          </a:p>
          <a:p>
            <a:pPr defTabSz="762000" eaLnBrk="0" hangingPunct="0"/>
            <a:endParaRPr lang="en-US" altLang="ja-JP" sz="2000" b="1" dirty="0">
              <a:solidFill>
                <a:srgbClr val="D4AC00"/>
              </a:solidFill>
              <a:latin typeface="Tahoma" charset="0"/>
              <a:ea typeface="ＭＳ Ｐゴシック" charset="-128"/>
            </a:endParaRP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 Else </a:t>
            </a: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    If  </a:t>
            </a:r>
            <a:r>
              <a:rPr lang="en-US" altLang="ja-JP" sz="2000" b="1" dirty="0">
                <a:latin typeface="Tahoma" charset="0"/>
                <a:ea typeface="ＭＳ Ｐゴシック" charset="-128"/>
              </a:rPr>
              <a:t>#tails = 1</a:t>
            </a:r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</a:t>
            </a: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    Then </a:t>
            </a:r>
            <a:r>
              <a:rPr lang="en-US" altLang="ja-JP" sz="2000" b="1" dirty="0">
                <a:solidFill>
                  <a:srgbClr val="D4AC00"/>
                </a:solidFill>
                <a:latin typeface="Tahoma" charset="0"/>
                <a:ea typeface="ＭＳ Ｐゴシック" charset="-128"/>
              </a:rPr>
              <a:t>cell = healthy</a:t>
            </a:r>
          </a:p>
          <a:p>
            <a:pPr defTabSz="762000" eaLnBrk="0" hangingPunct="0"/>
            <a:endParaRPr lang="en-US" altLang="ja-JP" sz="2000" b="1" dirty="0">
              <a:solidFill>
                <a:srgbClr val="D4AC00"/>
              </a:solidFill>
              <a:latin typeface="Tahoma" charset="0"/>
              <a:ea typeface="ＭＳ Ｐゴシック" charset="-128"/>
            </a:endParaRP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    Else </a:t>
            </a:r>
            <a:r>
              <a:rPr lang="en-US" altLang="ja-JP" sz="2000" b="1" dirty="0">
                <a:solidFill>
                  <a:srgbClr val="D4AC00"/>
                </a:solidFill>
                <a:latin typeface="Tahoma" charset="0"/>
                <a:ea typeface="ＭＳ Ｐゴシック" charset="-128"/>
              </a:rPr>
              <a:t>cell = cancerous</a:t>
            </a:r>
            <a:endParaRPr lang="en-US" altLang="ja-JP" sz="2000" b="1" dirty="0">
              <a:solidFill>
                <a:srgbClr val="0000CC"/>
              </a:solidFill>
              <a:latin typeface="Tahoma" charset="0"/>
              <a:ea typeface="ＭＳ Ｐゴシック" charset="-128"/>
            </a:endParaRP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       </a:t>
            </a:r>
          </a:p>
        </p:txBody>
      </p:sp>
      <p:sp>
        <p:nvSpPr>
          <p:cNvPr id="129071" name="Rectangle 47"/>
          <p:cNvSpPr>
            <a:spLocks noChangeArrowheads="1"/>
          </p:cNvSpPr>
          <p:nvPr/>
        </p:nvSpPr>
        <p:spPr bwMode="auto">
          <a:xfrm>
            <a:off x="381000" y="533400"/>
            <a:ext cx="77930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endParaRPr kumimoji="1" lang="en-US" altLang="ja-JP" sz="2400" b="1" dirty="0">
              <a:solidFill>
                <a:srgbClr val="003399"/>
              </a:solidFill>
              <a:latin typeface="Tahoma" charset="0"/>
              <a:ea typeface="ＭＳ Ｐゴシック" charset="-128"/>
            </a:endParaRPr>
          </a:p>
        </p:txBody>
      </p:sp>
      <p:sp>
        <p:nvSpPr>
          <p:cNvPr id="47" name="Text Box 11"/>
          <p:cNvSpPr txBox="1">
            <a:spLocks noChangeArrowheads="1"/>
          </p:cNvSpPr>
          <p:nvPr/>
        </p:nvSpPr>
        <p:spPr bwMode="auto">
          <a:xfrm>
            <a:off x="457200" y="1386840"/>
            <a:ext cx="64844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ja-JP" sz="2800" dirty="0" smtClean="0">
                <a:solidFill>
                  <a:srgbClr val="003399"/>
                </a:solidFill>
                <a:latin typeface="+mj-lt"/>
                <a:ea typeface="ＭＳ Ｐゴシック" charset="-128"/>
              </a:rPr>
              <a:t>Mining with Hierarchical Decision Rules</a:t>
            </a:r>
            <a:endParaRPr kumimoji="1" lang="en-US" altLang="ja-JP" sz="2800" dirty="0">
              <a:solidFill>
                <a:srgbClr val="003399"/>
              </a:solidFill>
              <a:latin typeface="+mj-lt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083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Association</a:t>
            </a:r>
            <a:r>
              <a:rPr lang="es-ES" dirty="0"/>
              <a:t> Rules</a:t>
            </a:r>
          </a:p>
        </p:txBody>
      </p:sp>
      <p:sp>
        <p:nvSpPr>
          <p:cNvPr id="131077" name="Rectangle 5"/>
          <p:cNvSpPr>
            <a:spLocks noChangeArrowheads="1"/>
          </p:cNvSpPr>
          <p:nvPr/>
        </p:nvSpPr>
        <p:spPr bwMode="auto">
          <a:xfrm>
            <a:off x="3733800" y="2286000"/>
            <a:ext cx="2971800" cy="387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If </a:t>
            </a:r>
            <a:r>
              <a:rPr lang="en-US" altLang="ja-JP" sz="2000" b="1" dirty="0">
                <a:latin typeface="Tahoma" charset="0"/>
                <a:ea typeface="ＭＳ Ｐゴシック" charset="-128"/>
              </a:rPr>
              <a:t>	</a:t>
            </a:r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</a:t>
            </a:r>
            <a:r>
              <a:rPr lang="en-US" altLang="ja-JP" sz="2000" b="1" dirty="0" err="1" smtClean="0">
                <a:latin typeface="Tahoma" charset="0"/>
                <a:ea typeface="ＭＳ Ｐゴシック" charset="-128"/>
              </a:rPr>
              <a:t>colour</a:t>
            </a:r>
            <a:r>
              <a:rPr lang="en-US" altLang="ja-JP" sz="2000" b="1" dirty="0" smtClean="0">
                <a:latin typeface="Tahoma" charset="0"/>
                <a:ea typeface="ＭＳ Ｐゴシック" charset="-128"/>
              </a:rPr>
              <a:t> </a:t>
            </a:r>
            <a:r>
              <a:rPr lang="en-US" altLang="ja-JP" sz="2000" b="1" dirty="0">
                <a:latin typeface="Tahoma" charset="0"/>
                <a:ea typeface="ＭＳ Ｐゴシック" charset="-128"/>
              </a:rPr>
              <a:t>= light</a:t>
            </a:r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</a:t>
            </a: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and  </a:t>
            </a:r>
            <a:r>
              <a:rPr lang="en-US" altLang="ja-JP" sz="2000" b="1" dirty="0">
                <a:latin typeface="Tahoma" charset="0"/>
                <a:ea typeface="ＭＳ Ｐゴシック" charset="-128"/>
              </a:rPr>
              <a:t># nuclei = 1</a:t>
            </a:r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</a:t>
            </a: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Then </a:t>
            </a:r>
            <a:r>
              <a:rPr lang="en-US" altLang="ja-JP" sz="2000" b="1" dirty="0">
                <a:solidFill>
                  <a:srgbClr val="D4AC00"/>
                </a:solidFill>
                <a:latin typeface="Tahoma" charset="0"/>
                <a:ea typeface="ＭＳ Ｐゴシック" charset="-128"/>
              </a:rPr>
              <a:t># tails = 1</a:t>
            </a:r>
            <a:r>
              <a:rPr lang="en-US" altLang="ja-JP" sz="12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 	</a:t>
            </a:r>
          </a:p>
          <a:p>
            <a:pPr defTabSz="762000" eaLnBrk="0" hangingPunct="0"/>
            <a:r>
              <a:rPr lang="en-US" altLang="ja-JP" sz="12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             </a:t>
            </a:r>
            <a:r>
              <a:rPr lang="en-US" altLang="ja-JP" sz="1600" b="1" dirty="0">
                <a:solidFill>
                  <a:schemeClr val="accent2"/>
                </a:solidFill>
                <a:latin typeface="Tahoma" charset="0"/>
                <a:ea typeface="ＭＳ Ｐゴシック" charset="-128"/>
              </a:rPr>
              <a:t>(support = 25%; </a:t>
            </a:r>
          </a:p>
          <a:p>
            <a:pPr defTabSz="762000" eaLnBrk="0" hangingPunct="0"/>
            <a:r>
              <a:rPr lang="en-US" altLang="ja-JP" sz="1600" b="1" dirty="0">
                <a:solidFill>
                  <a:schemeClr val="accent2"/>
                </a:solidFill>
                <a:latin typeface="Tahoma" charset="0"/>
                <a:ea typeface="ＭＳ Ｐゴシック" charset="-128"/>
              </a:rPr>
              <a:t>             confidence = 50%)</a:t>
            </a:r>
          </a:p>
          <a:p>
            <a:pPr defTabSz="762000" eaLnBrk="0" hangingPunct="0"/>
            <a:endParaRPr lang="en-US" altLang="ja-JP" sz="2000" b="1" dirty="0">
              <a:solidFill>
                <a:srgbClr val="0000CC"/>
              </a:solidFill>
              <a:latin typeface="Tahoma" charset="0"/>
              <a:ea typeface="ＭＳ Ｐゴシック" charset="-128"/>
            </a:endParaRPr>
          </a:p>
          <a:p>
            <a:pPr defTabSz="762000" eaLnBrk="0" hangingPunct="0"/>
            <a:endParaRPr lang="en-US" altLang="ja-JP" sz="2000" b="1" dirty="0">
              <a:solidFill>
                <a:srgbClr val="0000CC"/>
              </a:solidFill>
              <a:latin typeface="Tahoma" charset="0"/>
              <a:ea typeface="ＭＳ Ｐゴシック" charset="-128"/>
            </a:endParaRPr>
          </a:p>
          <a:p>
            <a:pPr defTabSz="762000" eaLnBrk="0" hangingPunct="0"/>
            <a:endParaRPr lang="en-US" altLang="ja-JP" sz="2000" b="1" dirty="0">
              <a:solidFill>
                <a:srgbClr val="0000CC"/>
              </a:solidFill>
              <a:latin typeface="Tahoma" charset="0"/>
              <a:ea typeface="ＭＳ Ｐゴシック" charset="-128"/>
            </a:endParaRP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If #   </a:t>
            </a:r>
            <a:r>
              <a:rPr lang="en-US" altLang="ja-JP" sz="2000" b="1" dirty="0">
                <a:latin typeface="Tahoma" charset="0"/>
                <a:ea typeface="ＭＳ Ｐゴシック" charset="-128"/>
              </a:rPr>
              <a:t>nuclei = 2</a:t>
            </a:r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</a:t>
            </a: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and  </a:t>
            </a:r>
            <a:r>
              <a:rPr lang="en-US" altLang="ja-JP" sz="2000" b="1" dirty="0">
                <a:latin typeface="Tahoma" charset="0"/>
                <a:ea typeface="ＭＳ Ｐゴシック" charset="-128"/>
              </a:rPr>
              <a:t>cell = cancerous</a:t>
            </a: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Then </a:t>
            </a:r>
            <a:r>
              <a:rPr lang="en-US" altLang="ja-JP" sz="2000" b="1" dirty="0">
                <a:solidFill>
                  <a:srgbClr val="D4AC00"/>
                </a:solidFill>
                <a:latin typeface="Tahoma" charset="0"/>
                <a:ea typeface="ＭＳ Ｐゴシック" charset="-128"/>
              </a:rPr>
              <a:t># tails = 2	</a:t>
            </a:r>
            <a:endParaRPr lang="en-US" altLang="ja-JP" sz="2000" b="1" dirty="0">
              <a:solidFill>
                <a:srgbClr val="0000CC"/>
              </a:solidFill>
              <a:latin typeface="Tahoma" charset="0"/>
              <a:ea typeface="ＭＳ Ｐゴシック" charset="-128"/>
            </a:endParaRPr>
          </a:p>
          <a:p>
            <a:pPr defTabSz="762000" eaLnBrk="0" hangingPunct="0"/>
            <a:r>
              <a:rPr lang="en-US" altLang="ja-JP" sz="2000" b="1" dirty="0">
                <a:solidFill>
                  <a:srgbClr val="0000CC"/>
                </a:solidFill>
                <a:latin typeface="Tahoma" charset="0"/>
                <a:ea typeface="ＭＳ Ｐゴシック" charset="-128"/>
              </a:rPr>
              <a:t>         </a:t>
            </a:r>
            <a:r>
              <a:rPr lang="en-US" altLang="ja-JP" sz="1600" b="1" dirty="0">
                <a:solidFill>
                  <a:schemeClr val="accent2"/>
                </a:solidFill>
                <a:latin typeface="Tahoma" charset="0"/>
                <a:ea typeface="ＭＳ Ｐゴシック" charset="-128"/>
              </a:rPr>
              <a:t>(support = </a:t>
            </a:r>
            <a:r>
              <a:rPr lang="en-US" altLang="ja-JP" sz="1600" b="1" dirty="0" smtClean="0">
                <a:solidFill>
                  <a:schemeClr val="accent2"/>
                </a:solidFill>
                <a:latin typeface="Tahoma" charset="0"/>
                <a:ea typeface="ＭＳ Ｐゴシック" charset="-128"/>
              </a:rPr>
              <a:t>3/8</a:t>
            </a:r>
            <a:r>
              <a:rPr lang="en-US" altLang="ja-JP" sz="1600" b="1" dirty="0" smtClean="0">
                <a:solidFill>
                  <a:schemeClr val="accent2"/>
                </a:solidFill>
                <a:latin typeface="Tahoma" charset="0"/>
                <a:ea typeface="ＭＳ Ｐゴシック" charset="-128"/>
              </a:rPr>
              <a:t>%;</a:t>
            </a:r>
            <a:endParaRPr lang="en-US" altLang="ja-JP" sz="1600" b="1" dirty="0">
              <a:solidFill>
                <a:schemeClr val="accent2"/>
              </a:solidFill>
              <a:latin typeface="Tahoma" charset="0"/>
              <a:ea typeface="ＭＳ Ｐゴシック" charset="-128"/>
            </a:endParaRPr>
          </a:p>
          <a:p>
            <a:pPr defTabSz="762000" eaLnBrk="0" hangingPunct="0"/>
            <a:r>
              <a:rPr lang="ja-JP" altLang="en-US" sz="1600" b="1" dirty="0">
                <a:solidFill>
                  <a:schemeClr val="accent2"/>
                </a:solidFill>
                <a:latin typeface="Tahoma" charset="0"/>
                <a:ea typeface="ＭＳ Ｐゴシック" charset="-128"/>
              </a:rPr>
              <a:t>           </a:t>
            </a:r>
            <a:r>
              <a:rPr lang="en-US" altLang="ja-JP" sz="1600" b="1" dirty="0">
                <a:solidFill>
                  <a:schemeClr val="accent2"/>
                </a:solidFill>
                <a:latin typeface="Tahoma" charset="0"/>
                <a:ea typeface="ＭＳ Ｐゴシック" charset="-128"/>
              </a:rPr>
              <a:t>confidence = </a:t>
            </a:r>
            <a:r>
              <a:rPr lang="en-US" altLang="ja-JP" sz="1600" b="1" dirty="0" smtClean="0">
                <a:solidFill>
                  <a:schemeClr val="accent2"/>
                </a:solidFill>
                <a:latin typeface="Tahoma" charset="0"/>
                <a:ea typeface="ＭＳ Ｐゴシック" charset="-128"/>
              </a:rPr>
              <a:t>2/3%)</a:t>
            </a:r>
            <a:endParaRPr lang="en-US" altLang="ja-JP" sz="1600" b="1" dirty="0">
              <a:solidFill>
                <a:schemeClr val="accent2"/>
              </a:solidFill>
              <a:latin typeface="Tahoma" charset="0"/>
              <a:ea typeface="ＭＳ Ｐゴシック" charset="-128"/>
            </a:endParaRPr>
          </a:p>
        </p:txBody>
      </p:sp>
      <p:sp>
        <p:nvSpPr>
          <p:cNvPr id="131078" name="AutoShape 6"/>
          <p:cNvSpPr>
            <a:spLocks noChangeArrowheads="1"/>
          </p:cNvSpPr>
          <p:nvPr/>
        </p:nvSpPr>
        <p:spPr bwMode="auto">
          <a:xfrm>
            <a:off x="2895600" y="3733800"/>
            <a:ext cx="762000" cy="990600"/>
          </a:xfrm>
          <a:prstGeom prst="right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CCCCFF">
                  <a:gamma/>
                  <a:shade val="46275"/>
                  <a:invGamma/>
                </a:srgbClr>
              </a:gs>
              <a:gs pos="100000">
                <a:srgbClr val="CCCCFF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080" name="AutoShape 8"/>
          <p:cNvSpPr>
            <a:spLocks noChangeArrowheads="1"/>
          </p:cNvSpPr>
          <p:nvPr/>
        </p:nvSpPr>
        <p:spPr bwMode="auto">
          <a:xfrm>
            <a:off x="6705600" y="1752600"/>
            <a:ext cx="2133600" cy="2438400"/>
          </a:xfrm>
          <a:prstGeom prst="cloudCallout">
            <a:avLst>
              <a:gd name="adj1" fmla="val -72843"/>
              <a:gd name="adj2" fmla="val 1889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kumimoji="1" lang="ja-JP" altLang="en-US" sz="2400">
              <a:latin typeface="Tahoma" charset="0"/>
              <a:ea typeface="ＭＳ Ｐゴシック" charset="-128"/>
            </a:endParaRPr>
          </a:p>
        </p:txBody>
      </p:sp>
      <p:sp>
        <p:nvSpPr>
          <p:cNvPr id="131081" name="Rectangle 9"/>
          <p:cNvSpPr>
            <a:spLocks noChangeArrowheads="1"/>
          </p:cNvSpPr>
          <p:nvPr/>
        </p:nvSpPr>
        <p:spPr bwMode="auto">
          <a:xfrm>
            <a:off x="7086600" y="1981200"/>
            <a:ext cx="1447800" cy="200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ja-JP" sz="1400">
                <a:solidFill>
                  <a:srgbClr val="FF3300"/>
                </a:solidFill>
                <a:latin typeface="Tahoma" charset="0"/>
                <a:ea typeface="ＭＳ Ｐゴシック" charset="-128"/>
              </a:rPr>
              <a:t>association</a:t>
            </a:r>
            <a:r>
              <a:rPr lang="en-US" altLang="ja-JP" sz="1400">
                <a:latin typeface="Tahoma" charset="0"/>
                <a:ea typeface="ＭＳ Ｐゴシック" charset="-128"/>
              </a:rPr>
              <a:t> among A and B  means that the presence of A in a record implies the presence of B in the same record</a:t>
            </a:r>
            <a:endParaRPr lang="ja-JP" altLang="en-US" sz="1400">
              <a:latin typeface="Tahoma" charset="0"/>
              <a:ea typeface="ＭＳ Ｐゴシック" charset="-128"/>
            </a:endParaRPr>
          </a:p>
        </p:txBody>
      </p:sp>
      <p:sp>
        <p:nvSpPr>
          <p:cNvPr id="131082" name="AutoShape 10"/>
          <p:cNvSpPr>
            <a:spLocks noChangeArrowheads="1"/>
          </p:cNvSpPr>
          <p:nvPr/>
        </p:nvSpPr>
        <p:spPr bwMode="auto">
          <a:xfrm>
            <a:off x="6858000" y="4191000"/>
            <a:ext cx="2133600" cy="2438400"/>
          </a:xfrm>
          <a:prstGeom prst="cloudCallout">
            <a:avLst>
              <a:gd name="adj1" fmla="val -67190"/>
              <a:gd name="adj2" fmla="val 1627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kumimoji="1" lang="ja-JP" altLang="en-US" sz="2400">
              <a:latin typeface="Tahoma" charset="0"/>
              <a:ea typeface="ＭＳ Ｐゴシック" charset="-128"/>
            </a:endParaRPr>
          </a:p>
        </p:txBody>
      </p:sp>
      <p:sp>
        <p:nvSpPr>
          <p:cNvPr id="131083" name="Rectangle 11"/>
          <p:cNvSpPr>
            <a:spLocks noChangeArrowheads="1"/>
          </p:cNvSpPr>
          <p:nvPr/>
        </p:nvSpPr>
        <p:spPr bwMode="auto">
          <a:xfrm>
            <a:off x="6705600" y="4495800"/>
            <a:ext cx="2133600" cy="179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eaLnBrk="0" hangingPunct="0">
              <a:spcBef>
                <a:spcPct val="5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ja-JP" sz="1400">
                <a:solidFill>
                  <a:srgbClr val="FF3300"/>
                </a:solidFill>
                <a:latin typeface="Tahoma" charset="0"/>
                <a:ea typeface="ＭＳ Ｐゴシック" charset="-128"/>
              </a:rPr>
              <a:t>Support:</a:t>
            </a:r>
            <a:r>
              <a:rPr lang="en-US" altLang="ja-JP" sz="1400">
                <a:solidFill>
                  <a:schemeClr val="hlink"/>
                </a:solidFill>
                <a:latin typeface="Tahoma" charset="0"/>
                <a:ea typeface="ＭＳ Ｐゴシック" charset="-128"/>
              </a:rPr>
              <a:t> </a:t>
            </a:r>
            <a:r>
              <a:rPr lang="en-US" altLang="ja-JP" sz="1400">
                <a:latin typeface="Tahoma" charset="0"/>
                <a:ea typeface="ＭＳ Ｐゴシック" charset="-128"/>
              </a:rPr>
              <a:t>the proportion of times that the rule applies. </a:t>
            </a:r>
            <a:r>
              <a:rPr lang="en-US" altLang="ja-JP" sz="1400">
                <a:solidFill>
                  <a:srgbClr val="FF3300"/>
                </a:solidFill>
                <a:latin typeface="Tahoma" charset="0"/>
                <a:ea typeface="ＭＳ Ｐゴシック" charset="-128"/>
              </a:rPr>
              <a:t>Confidence:</a:t>
            </a:r>
            <a:r>
              <a:rPr lang="en-US" altLang="ja-JP" sz="1400">
                <a:solidFill>
                  <a:schemeClr val="hlink"/>
                </a:solidFill>
                <a:latin typeface="Tahoma" charset="0"/>
                <a:ea typeface="ＭＳ Ｐゴシック" charset="-128"/>
              </a:rPr>
              <a:t> </a:t>
            </a:r>
            <a:r>
              <a:rPr lang="en-US" altLang="ja-JP" sz="1400">
                <a:latin typeface="Tahoma" charset="0"/>
                <a:ea typeface="ＭＳ Ｐゴシック" charset="-128"/>
              </a:rPr>
              <a:t>the proportion of times that the rule is correct</a:t>
            </a:r>
          </a:p>
        </p:txBody>
      </p:sp>
      <p:sp>
        <p:nvSpPr>
          <p:cNvPr id="131084" name="Rectangle 12"/>
          <p:cNvSpPr>
            <a:spLocks noChangeArrowheads="1"/>
          </p:cNvSpPr>
          <p:nvPr/>
        </p:nvSpPr>
        <p:spPr bwMode="auto">
          <a:xfrm>
            <a:off x="3505200" y="6248400"/>
            <a:ext cx="3390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ja-JP">
                <a:latin typeface="Tahoma" charset="0"/>
                <a:ea typeface="ＭＳ Ｐゴシック" charset="-128"/>
              </a:rPr>
              <a:t>Apriori algorithm, Agrawal 1993</a:t>
            </a:r>
            <a:endParaRPr lang="ja-JP" altLang="en-US">
              <a:latin typeface="Tahoma" charset="0"/>
              <a:ea typeface="ＭＳ Ｐゴシック" charset="-128"/>
            </a:endParaRPr>
          </a:p>
        </p:txBody>
      </p:sp>
      <p:sp>
        <p:nvSpPr>
          <p:cNvPr id="131085" name="Oval 13" descr="Stationery"/>
          <p:cNvSpPr>
            <a:spLocks noChangeArrowheads="1"/>
          </p:cNvSpPr>
          <p:nvPr/>
        </p:nvSpPr>
        <p:spPr bwMode="auto">
          <a:xfrm>
            <a:off x="685800" y="2133600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086" name="Oval 14"/>
          <p:cNvSpPr>
            <a:spLocks noChangeArrowheads="1"/>
          </p:cNvSpPr>
          <p:nvPr/>
        </p:nvSpPr>
        <p:spPr bwMode="auto">
          <a:xfrm>
            <a:off x="914400" y="23622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087" name="Arc 15"/>
          <p:cNvSpPr>
            <a:spLocks/>
          </p:cNvSpPr>
          <p:nvPr/>
        </p:nvSpPr>
        <p:spPr bwMode="auto">
          <a:xfrm>
            <a:off x="909638" y="27495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088" name="Rectangle 16"/>
          <p:cNvSpPr>
            <a:spLocks noChangeArrowheads="1"/>
          </p:cNvSpPr>
          <p:nvPr/>
        </p:nvSpPr>
        <p:spPr bwMode="auto">
          <a:xfrm>
            <a:off x="1219200" y="26670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H1</a:t>
            </a:r>
          </a:p>
        </p:txBody>
      </p:sp>
      <p:sp>
        <p:nvSpPr>
          <p:cNvPr id="131089" name="Oval 17" descr="Stationery"/>
          <p:cNvSpPr>
            <a:spLocks noChangeArrowheads="1"/>
          </p:cNvSpPr>
          <p:nvPr/>
        </p:nvSpPr>
        <p:spPr bwMode="auto">
          <a:xfrm>
            <a:off x="685800" y="5334000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090" name="Oval 18"/>
          <p:cNvSpPr>
            <a:spLocks noChangeArrowheads="1"/>
          </p:cNvSpPr>
          <p:nvPr/>
        </p:nvSpPr>
        <p:spPr bwMode="auto">
          <a:xfrm>
            <a:off x="808038" y="55657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091" name="Arc 19"/>
          <p:cNvSpPr>
            <a:spLocks/>
          </p:cNvSpPr>
          <p:nvPr/>
        </p:nvSpPr>
        <p:spPr bwMode="auto">
          <a:xfrm>
            <a:off x="909638" y="59499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092" name="Arc 20"/>
          <p:cNvSpPr>
            <a:spLocks/>
          </p:cNvSpPr>
          <p:nvPr/>
        </p:nvSpPr>
        <p:spPr bwMode="auto">
          <a:xfrm>
            <a:off x="1049338" y="5922963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093" name="Oval 21"/>
          <p:cNvSpPr>
            <a:spLocks noChangeArrowheads="1"/>
          </p:cNvSpPr>
          <p:nvPr/>
        </p:nvSpPr>
        <p:spPr bwMode="auto">
          <a:xfrm>
            <a:off x="1066800" y="55626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094" name="Rectangle 22"/>
          <p:cNvSpPr>
            <a:spLocks noChangeArrowheads="1"/>
          </p:cNvSpPr>
          <p:nvPr/>
        </p:nvSpPr>
        <p:spPr bwMode="auto">
          <a:xfrm>
            <a:off x="1219200" y="57912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C3</a:t>
            </a:r>
          </a:p>
        </p:txBody>
      </p:sp>
      <p:sp>
        <p:nvSpPr>
          <p:cNvPr id="131095" name="Oval 23" descr="Stationery"/>
          <p:cNvSpPr>
            <a:spLocks noChangeArrowheads="1"/>
          </p:cNvSpPr>
          <p:nvPr/>
        </p:nvSpPr>
        <p:spPr bwMode="auto">
          <a:xfrm>
            <a:off x="685800" y="3124200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096" name="Oval 24"/>
          <p:cNvSpPr>
            <a:spLocks noChangeArrowheads="1"/>
          </p:cNvSpPr>
          <p:nvPr/>
        </p:nvSpPr>
        <p:spPr bwMode="auto">
          <a:xfrm>
            <a:off x="914400" y="33528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097" name="Arc 25"/>
          <p:cNvSpPr>
            <a:spLocks/>
          </p:cNvSpPr>
          <p:nvPr/>
        </p:nvSpPr>
        <p:spPr bwMode="auto">
          <a:xfrm>
            <a:off x="909638" y="37401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098" name="Arc 26"/>
          <p:cNvSpPr>
            <a:spLocks/>
          </p:cNvSpPr>
          <p:nvPr/>
        </p:nvSpPr>
        <p:spPr bwMode="auto">
          <a:xfrm>
            <a:off x="1049338" y="3713163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099" name="Rectangle 27"/>
          <p:cNvSpPr>
            <a:spLocks noChangeArrowheads="1"/>
          </p:cNvSpPr>
          <p:nvPr/>
        </p:nvSpPr>
        <p:spPr bwMode="auto">
          <a:xfrm>
            <a:off x="1219200" y="35814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H3</a:t>
            </a:r>
          </a:p>
        </p:txBody>
      </p:sp>
      <p:sp>
        <p:nvSpPr>
          <p:cNvPr id="131100" name="Oval 28" descr="Stationery"/>
          <p:cNvSpPr>
            <a:spLocks noChangeArrowheads="1"/>
          </p:cNvSpPr>
          <p:nvPr/>
        </p:nvSpPr>
        <p:spPr bwMode="auto">
          <a:xfrm>
            <a:off x="1752600" y="3124200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01" name="Oval 29"/>
          <p:cNvSpPr>
            <a:spLocks noChangeArrowheads="1"/>
          </p:cNvSpPr>
          <p:nvPr/>
        </p:nvSpPr>
        <p:spPr bwMode="auto">
          <a:xfrm>
            <a:off x="1874838" y="33559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02" name="Arc 30"/>
          <p:cNvSpPr>
            <a:spLocks/>
          </p:cNvSpPr>
          <p:nvPr/>
        </p:nvSpPr>
        <p:spPr bwMode="auto">
          <a:xfrm>
            <a:off x="1976438" y="37401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03" name="Oval 31"/>
          <p:cNvSpPr>
            <a:spLocks noChangeArrowheads="1"/>
          </p:cNvSpPr>
          <p:nvPr/>
        </p:nvSpPr>
        <p:spPr bwMode="auto">
          <a:xfrm>
            <a:off x="2133600" y="33528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04" name="Rectangle 32"/>
          <p:cNvSpPr>
            <a:spLocks noChangeArrowheads="1"/>
          </p:cNvSpPr>
          <p:nvPr/>
        </p:nvSpPr>
        <p:spPr bwMode="auto">
          <a:xfrm>
            <a:off x="2286000" y="35814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H4</a:t>
            </a:r>
          </a:p>
        </p:txBody>
      </p:sp>
      <p:sp>
        <p:nvSpPr>
          <p:cNvPr id="131105" name="Oval 33"/>
          <p:cNvSpPr>
            <a:spLocks noChangeArrowheads="1"/>
          </p:cNvSpPr>
          <p:nvPr/>
        </p:nvSpPr>
        <p:spPr bwMode="auto">
          <a:xfrm>
            <a:off x="1752600" y="2133600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06" name="Oval 34"/>
          <p:cNvSpPr>
            <a:spLocks noChangeArrowheads="1"/>
          </p:cNvSpPr>
          <p:nvPr/>
        </p:nvSpPr>
        <p:spPr bwMode="auto">
          <a:xfrm>
            <a:off x="1981200" y="23622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07" name="Arc 35"/>
          <p:cNvSpPr>
            <a:spLocks/>
          </p:cNvSpPr>
          <p:nvPr/>
        </p:nvSpPr>
        <p:spPr bwMode="auto">
          <a:xfrm>
            <a:off x="1976438" y="27495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08" name="Rectangle 36"/>
          <p:cNvSpPr>
            <a:spLocks noChangeArrowheads="1"/>
          </p:cNvSpPr>
          <p:nvPr/>
        </p:nvSpPr>
        <p:spPr bwMode="auto">
          <a:xfrm>
            <a:off x="2286000" y="26670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H2</a:t>
            </a:r>
          </a:p>
        </p:txBody>
      </p:sp>
      <p:sp>
        <p:nvSpPr>
          <p:cNvPr id="131109" name="Oval 37"/>
          <p:cNvSpPr>
            <a:spLocks noChangeArrowheads="1"/>
          </p:cNvSpPr>
          <p:nvPr/>
        </p:nvSpPr>
        <p:spPr bwMode="auto">
          <a:xfrm>
            <a:off x="1752600" y="4343400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10" name="Oval 38"/>
          <p:cNvSpPr>
            <a:spLocks noChangeArrowheads="1"/>
          </p:cNvSpPr>
          <p:nvPr/>
        </p:nvSpPr>
        <p:spPr bwMode="auto">
          <a:xfrm>
            <a:off x="1874838" y="45751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11" name="Arc 39"/>
          <p:cNvSpPr>
            <a:spLocks/>
          </p:cNvSpPr>
          <p:nvPr/>
        </p:nvSpPr>
        <p:spPr bwMode="auto">
          <a:xfrm>
            <a:off x="1976438" y="49593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12" name="Oval 40"/>
          <p:cNvSpPr>
            <a:spLocks noChangeArrowheads="1"/>
          </p:cNvSpPr>
          <p:nvPr/>
        </p:nvSpPr>
        <p:spPr bwMode="auto">
          <a:xfrm>
            <a:off x="2133600" y="45720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13" name="Rectangle 41"/>
          <p:cNvSpPr>
            <a:spLocks noChangeArrowheads="1"/>
          </p:cNvSpPr>
          <p:nvPr/>
        </p:nvSpPr>
        <p:spPr bwMode="auto">
          <a:xfrm>
            <a:off x="2286000" y="48006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C2</a:t>
            </a:r>
          </a:p>
        </p:txBody>
      </p:sp>
      <p:sp>
        <p:nvSpPr>
          <p:cNvPr id="131114" name="Oval 42"/>
          <p:cNvSpPr>
            <a:spLocks noChangeArrowheads="1"/>
          </p:cNvSpPr>
          <p:nvPr/>
        </p:nvSpPr>
        <p:spPr bwMode="auto">
          <a:xfrm>
            <a:off x="685800" y="4343400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15" name="Oval 43"/>
          <p:cNvSpPr>
            <a:spLocks noChangeArrowheads="1"/>
          </p:cNvSpPr>
          <p:nvPr/>
        </p:nvSpPr>
        <p:spPr bwMode="auto">
          <a:xfrm>
            <a:off x="914400" y="45720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16" name="Arc 44"/>
          <p:cNvSpPr>
            <a:spLocks/>
          </p:cNvSpPr>
          <p:nvPr/>
        </p:nvSpPr>
        <p:spPr bwMode="auto">
          <a:xfrm>
            <a:off x="909638" y="49593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17" name="Arc 45"/>
          <p:cNvSpPr>
            <a:spLocks/>
          </p:cNvSpPr>
          <p:nvPr/>
        </p:nvSpPr>
        <p:spPr bwMode="auto">
          <a:xfrm>
            <a:off x="1049338" y="4932363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18" name="Rectangle 46"/>
          <p:cNvSpPr>
            <a:spLocks noChangeArrowheads="1"/>
          </p:cNvSpPr>
          <p:nvPr/>
        </p:nvSpPr>
        <p:spPr bwMode="auto">
          <a:xfrm>
            <a:off x="1219200" y="48006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C1</a:t>
            </a:r>
          </a:p>
        </p:txBody>
      </p:sp>
      <p:sp>
        <p:nvSpPr>
          <p:cNvPr id="131119" name="Oval 47"/>
          <p:cNvSpPr>
            <a:spLocks noChangeArrowheads="1"/>
          </p:cNvSpPr>
          <p:nvPr/>
        </p:nvSpPr>
        <p:spPr bwMode="auto">
          <a:xfrm>
            <a:off x="1752600" y="5334000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20" name="Oval 48"/>
          <p:cNvSpPr>
            <a:spLocks noChangeArrowheads="1"/>
          </p:cNvSpPr>
          <p:nvPr/>
        </p:nvSpPr>
        <p:spPr bwMode="auto">
          <a:xfrm>
            <a:off x="1874838" y="55657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21" name="Arc 49"/>
          <p:cNvSpPr>
            <a:spLocks/>
          </p:cNvSpPr>
          <p:nvPr/>
        </p:nvSpPr>
        <p:spPr bwMode="auto">
          <a:xfrm>
            <a:off x="1976438" y="5949950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22" name="Arc 50"/>
          <p:cNvSpPr>
            <a:spLocks/>
          </p:cNvSpPr>
          <p:nvPr/>
        </p:nvSpPr>
        <p:spPr bwMode="auto">
          <a:xfrm>
            <a:off x="2116138" y="5922963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23" name="Oval 51"/>
          <p:cNvSpPr>
            <a:spLocks noChangeArrowheads="1"/>
          </p:cNvSpPr>
          <p:nvPr/>
        </p:nvSpPr>
        <p:spPr bwMode="auto">
          <a:xfrm>
            <a:off x="2133600" y="556260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124" name="Rectangle 52"/>
          <p:cNvSpPr>
            <a:spLocks noChangeArrowheads="1"/>
          </p:cNvSpPr>
          <p:nvPr/>
        </p:nvSpPr>
        <p:spPr bwMode="auto">
          <a:xfrm>
            <a:off x="2286000" y="57912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solidFill>
                  <a:srgbClr val="0000CC"/>
                </a:solidFill>
                <a:ea typeface="ＭＳ Ｐゴシック" charset="-128"/>
              </a:rPr>
              <a:t>C4</a:t>
            </a:r>
          </a:p>
        </p:txBody>
      </p:sp>
      <p:sp>
        <p:nvSpPr>
          <p:cNvPr id="52" name="Text Box 11"/>
          <p:cNvSpPr txBox="1">
            <a:spLocks noChangeArrowheads="1"/>
          </p:cNvSpPr>
          <p:nvPr/>
        </p:nvSpPr>
        <p:spPr bwMode="auto">
          <a:xfrm>
            <a:off x="457200" y="1386840"/>
            <a:ext cx="49225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ja-JP" sz="2800" dirty="0" smtClean="0">
                <a:solidFill>
                  <a:srgbClr val="003399"/>
                </a:solidFill>
                <a:latin typeface="+mj-lt"/>
                <a:ea typeface="ＭＳ Ｐゴシック" charset="-128"/>
              </a:rPr>
              <a:t>Mining with Association Rules</a:t>
            </a:r>
            <a:endParaRPr kumimoji="1" lang="en-US" altLang="ja-JP" sz="2800" dirty="0">
              <a:solidFill>
                <a:srgbClr val="003399"/>
              </a:solidFill>
              <a:latin typeface="+mj-lt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8123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Neural Networks</a:t>
            </a:r>
          </a:p>
        </p:txBody>
      </p:sp>
      <p:sp>
        <p:nvSpPr>
          <p:cNvPr id="132101" name="Oval 5" descr="Stationery"/>
          <p:cNvSpPr>
            <a:spLocks noChangeArrowheads="1"/>
          </p:cNvSpPr>
          <p:nvPr/>
        </p:nvSpPr>
        <p:spPr bwMode="auto">
          <a:xfrm>
            <a:off x="609600" y="2251075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02" name="Oval 6"/>
          <p:cNvSpPr>
            <a:spLocks noChangeArrowheads="1"/>
          </p:cNvSpPr>
          <p:nvPr/>
        </p:nvSpPr>
        <p:spPr bwMode="auto">
          <a:xfrm>
            <a:off x="838200" y="24796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03" name="Arc 7"/>
          <p:cNvSpPr>
            <a:spLocks/>
          </p:cNvSpPr>
          <p:nvPr/>
        </p:nvSpPr>
        <p:spPr bwMode="auto">
          <a:xfrm>
            <a:off x="833438" y="28670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04" name="Rectangle 8"/>
          <p:cNvSpPr>
            <a:spLocks noChangeArrowheads="1"/>
          </p:cNvSpPr>
          <p:nvPr/>
        </p:nvSpPr>
        <p:spPr bwMode="auto">
          <a:xfrm>
            <a:off x="1143000" y="2784475"/>
            <a:ext cx="528638" cy="4159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ea typeface="ＭＳ Ｐゴシック" charset="-128"/>
              </a:rPr>
              <a:t>H1</a:t>
            </a:r>
          </a:p>
        </p:txBody>
      </p:sp>
      <p:sp>
        <p:nvSpPr>
          <p:cNvPr id="132105" name="Oval 9" descr="Stationery"/>
          <p:cNvSpPr>
            <a:spLocks noChangeArrowheads="1"/>
          </p:cNvSpPr>
          <p:nvPr/>
        </p:nvSpPr>
        <p:spPr bwMode="auto">
          <a:xfrm>
            <a:off x="609600" y="5451475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06" name="Oval 10"/>
          <p:cNvSpPr>
            <a:spLocks noChangeArrowheads="1"/>
          </p:cNvSpPr>
          <p:nvPr/>
        </p:nvSpPr>
        <p:spPr bwMode="auto">
          <a:xfrm>
            <a:off x="731838" y="568325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07" name="Arc 11"/>
          <p:cNvSpPr>
            <a:spLocks/>
          </p:cNvSpPr>
          <p:nvPr/>
        </p:nvSpPr>
        <p:spPr bwMode="auto">
          <a:xfrm>
            <a:off x="833438" y="60674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08" name="Arc 12"/>
          <p:cNvSpPr>
            <a:spLocks/>
          </p:cNvSpPr>
          <p:nvPr/>
        </p:nvSpPr>
        <p:spPr bwMode="auto">
          <a:xfrm>
            <a:off x="973138" y="6040438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09" name="Oval 13"/>
          <p:cNvSpPr>
            <a:spLocks noChangeArrowheads="1"/>
          </p:cNvSpPr>
          <p:nvPr/>
        </p:nvSpPr>
        <p:spPr bwMode="auto">
          <a:xfrm>
            <a:off x="990600" y="56800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10" name="Rectangle 14"/>
          <p:cNvSpPr>
            <a:spLocks noChangeArrowheads="1"/>
          </p:cNvSpPr>
          <p:nvPr/>
        </p:nvSpPr>
        <p:spPr bwMode="auto">
          <a:xfrm>
            <a:off x="1143000" y="5908675"/>
            <a:ext cx="528638" cy="4159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ea typeface="ＭＳ Ｐゴシック" charset="-128"/>
              </a:rPr>
              <a:t>C3</a:t>
            </a:r>
          </a:p>
        </p:txBody>
      </p:sp>
      <p:sp>
        <p:nvSpPr>
          <p:cNvPr id="132111" name="Oval 15" descr="Stationery"/>
          <p:cNvSpPr>
            <a:spLocks noChangeArrowheads="1"/>
          </p:cNvSpPr>
          <p:nvPr/>
        </p:nvSpPr>
        <p:spPr bwMode="auto">
          <a:xfrm>
            <a:off x="609600" y="3241675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12" name="Oval 16"/>
          <p:cNvSpPr>
            <a:spLocks noChangeArrowheads="1"/>
          </p:cNvSpPr>
          <p:nvPr/>
        </p:nvSpPr>
        <p:spPr bwMode="auto">
          <a:xfrm>
            <a:off x="838200" y="34702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13" name="Arc 17"/>
          <p:cNvSpPr>
            <a:spLocks/>
          </p:cNvSpPr>
          <p:nvPr/>
        </p:nvSpPr>
        <p:spPr bwMode="auto">
          <a:xfrm>
            <a:off x="833438" y="38576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14" name="Arc 18"/>
          <p:cNvSpPr>
            <a:spLocks/>
          </p:cNvSpPr>
          <p:nvPr/>
        </p:nvSpPr>
        <p:spPr bwMode="auto">
          <a:xfrm>
            <a:off x="973138" y="3830638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15" name="Rectangle 19"/>
          <p:cNvSpPr>
            <a:spLocks noChangeArrowheads="1"/>
          </p:cNvSpPr>
          <p:nvPr/>
        </p:nvSpPr>
        <p:spPr bwMode="auto">
          <a:xfrm>
            <a:off x="1143000" y="3698875"/>
            <a:ext cx="528638" cy="4159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ea typeface="ＭＳ Ｐゴシック" charset="-128"/>
              </a:rPr>
              <a:t>H3</a:t>
            </a:r>
          </a:p>
        </p:txBody>
      </p:sp>
      <p:sp>
        <p:nvSpPr>
          <p:cNvPr id="132116" name="Oval 20" descr="Stationery"/>
          <p:cNvSpPr>
            <a:spLocks noChangeArrowheads="1"/>
          </p:cNvSpPr>
          <p:nvPr/>
        </p:nvSpPr>
        <p:spPr bwMode="auto">
          <a:xfrm>
            <a:off x="1676400" y="3241675"/>
            <a:ext cx="685800" cy="627063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17" name="Oval 21"/>
          <p:cNvSpPr>
            <a:spLocks noChangeArrowheads="1"/>
          </p:cNvSpPr>
          <p:nvPr/>
        </p:nvSpPr>
        <p:spPr bwMode="auto">
          <a:xfrm>
            <a:off x="1798638" y="347345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18" name="Arc 22"/>
          <p:cNvSpPr>
            <a:spLocks/>
          </p:cNvSpPr>
          <p:nvPr/>
        </p:nvSpPr>
        <p:spPr bwMode="auto">
          <a:xfrm>
            <a:off x="1900238" y="38576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19" name="Oval 23"/>
          <p:cNvSpPr>
            <a:spLocks noChangeArrowheads="1"/>
          </p:cNvSpPr>
          <p:nvPr/>
        </p:nvSpPr>
        <p:spPr bwMode="auto">
          <a:xfrm>
            <a:off x="2057400" y="34702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20" name="Rectangle 24"/>
          <p:cNvSpPr>
            <a:spLocks noChangeArrowheads="1"/>
          </p:cNvSpPr>
          <p:nvPr/>
        </p:nvSpPr>
        <p:spPr bwMode="auto">
          <a:xfrm>
            <a:off x="2209800" y="3698875"/>
            <a:ext cx="528638" cy="4159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ea typeface="ＭＳ Ｐゴシック" charset="-128"/>
              </a:rPr>
              <a:t>H4</a:t>
            </a:r>
          </a:p>
        </p:txBody>
      </p:sp>
      <p:sp>
        <p:nvSpPr>
          <p:cNvPr id="132121" name="Oval 25"/>
          <p:cNvSpPr>
            <a:spLocks noChangeArrowheads="1"/>
          </p:cNvSpPr>
          <p:nvPr/>
        </p:nvSpPr>
        <p:spPr bwMode="auto">
          <a:xfrm>
            <a:off x="1676400" y="2251075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22" name="Oval 26"/>
          <p:cNvSpPr>
            <a:spLocks noChangeArrowheads="1"/>
          </p:cNvSpPr>
          <p:nvPr/>
        </p:nvSpPr>
        <p:spPr bwMode="auto">
          <a:xfrm>
            <a:off x="1905000" y="24796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23" name="Arc 27"/>
          <p:cNvSpPr>
            <a:spLocks/>
          </p:cNvSpPr>
          <p:nvPr/>
        </p:nvSpPr>
        <p:spPr bwMode="auto">
          <a:xfrm>
            <a:off x="1900238" y="28670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24" name="Rectangle 28"/>
          <p:cNvSpPr>
            <a:spLocks noChangeArrowheads="1"/>
          </p:cNvSpPr>
          <p:nvPr/>
        </p:nvSpPr>
        <p:spPr bwMode="auto">
          <a:xfrm>
            <a:off x="2209800" y="2784475"/>
            <a:ext cx="528638" cy="4159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ea typeface="ＭＳ Ｐゴシック" charset="-128"/>
              </a:rPr>
              <a:t>H2</a:t>
            </a:r>
          </a:p>
        </p:txBody>
      </p:sp>
      <p:sp>
        <p:nvSpPr>
          <p:cNvPr id="132125" name="Oval 29"/>
          <p:cNvSpPr>
            <a:spLocks noChangeArrowheads="1"/>
          </p:cNvSpPr>
          <p:nvPr/>
        </p:nvSpPr>
        <p:spPr bwMode="auto">
          <a:xfrm>
            <a:off x="1676400" y="4460875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26" name="Oval 30"/>
          <p:cNvSpPr>
            <a:spLocks noChangeArrowheads="1"/>
          </p:cNvSpPr>
          <p:nvPr/>
        </p:nvSpPr>
        <p:spPr bwMode="auto">
          <a:xfrm>
            <a:off x="1798638" y="469265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27" name="Arc 31"/>
          <p:cNvSpPr>
            <a:spLocks/>
          </p:cNvSpPr>
          <p:nvPr/>
        </p:nvSpPr>
        <p:spPr bwMode="auto">
          <a:xfrm>
            <a:off x="1900238" y="50768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28" name="Oval 32"/>
          <p:cNvSpPr>
            <a:spLocks noChangeArrowheads="1"/>
          </p:cNvSpPr>
          <p:nvPr/>
        </p:nvSpPr>
        <p:spPr bwMode="auto">
          <a:xfrm>
            <a:off x="2057400" y="46894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29" name="Rectangle 33"/>
          <p:cNvSpPr>
            <a:spLocks noChangeArrowheads="1"/>
          </p:cNvSpPr>
          <p:nvPr/>
        </p:nvSpPr>
        <p:spPr bwMode="auto">
          <a:xfrm>
            <a:off x="2209800" y="4918075"/>
            <a:ext cx="528638" cy="4159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ea typeface="ＭＳ Ｐゴシック" charset="-128"/>
              </a:rPr>
              <a:t>C2</a:t>
            </a:r>
          </a:p>
        </p:txBody>
      </p:sp>
      <p:sp>
        <p:nvSpPr>
          <p:cNvPr id="132130" name="Oval 34"/>
          <p:cNvSpPr>
            <a:spLocks noChangeArrowheads="1"/>
          </p:cNvSpPr>
          <p:nvPr/>
        </p:nvSpPr>
        <p:spPr bwMode="auto">
          <a:xfrm>
            <a:off x="609600" y="4460875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31" name="Oval 35"/>
          <p:cNvSpPr>
            <a:spLocks noChangeArrowheads="1"/>
          </p:cNvSpPr>
          <p:nvPr/>
        </p:nvSpPr>
        <p:spPr bwMode="auto">
          <a:xfrm>
            <a:off x="838200" y="46894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32" name="Arc 36"/>
          <p:cNvSpPr>
            <a:spLocks/>
          </p:cNvSpPr>
          <p:nvPr/>
        </p:nvSpPr>
        <p:spPr bwMode="auto">
          <a:xfrm>
            <a:off x="833438" y="50768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33" name="Arc 37"/>
          <p:cNvSpPr>
            <a:spLocks/>
          </p:cNvSpPr>
          <p:nvPr/>
        </p:nvSpPr>
        <p:spPr bwMode="auto">
          <a:xfrm>
            <a:off x="973138" y="5049838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34" name="Rectangle 38"/>
          <p:cNvSpPr>
            <a:spLocks noChangeArrowheads="1"/>
          </p:cNvSpPr>
          <p:nvPr/>
        </p:nvSpPr>
        <p:spPr bwMode="auto">
          <a:xfrm>
            <a:off x="1143000" y="4918075"/>
            <a:ext cx="528638" cy="4159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ea typeface="ＭＳ Ｐゴシック" charset="-128"/>
              </a:rPr>
              <a:t>C1</a:t>
            </a:r>
          </a:p>
        </p:txBody>
      </p:sp>
      <p:sp>
        <p:nvSpPr>
          <p:cNvPr id="132135" name="Oval 39"/>
          <p:cNvSpPr>
            <a:spLocks noChangeArrowheads="1"/>
          </p:cNvSpPr>
          <p:nvPr/>
        </p:nvSpPr>
        <p:spPr bwMode="auto">
          <a:xfrm>
            <a:off x="1676400" y="5451475"/>
            <a:ext cx="685800" cy="627063"/>
          </a:xfrm>
          <a:prstGeom prst="ellipse">
            <a:avLst/>
          </a:prstGeom>
          <a:solidFill>
            <a:srgbClr val="CCA5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36" name="Oval 40"/>
          <p:cNvSpPr>
            <a:spLocks noChangeArrowheads="1"/>
          </p:cNvSpPr>
          <p:nvPr/>
        </p:nvSpPr>
        <p:spPr bwMode="auto">
          <a:xfrm>
            <a:off x="1798638" y="5683250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37" name="Arc 41"/>
          <p:cNvSpPr>
            <a:spLocks/>
          </p:cNvSpPr>
          <p:nvPr/>
        </p:nvSpPr>
        <p:spPr bwMode="auto">
          <a:xfrm>
            <a:off x="1900238" y="6067425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38" name="Arc 42"/>
          <p:cNvSpPr>
            <a:spLocks/>
          </p:cNvSpPr>
          <p:nvPr/>
        </p:nvSpPr>
        <p:spPr bwMode="auto">
          <a:xfrm>
            <a:off x="2039938" y="6040438"/>
            <a:ext cx="201612" cy="333375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19549 w 21600"/>
              <a:gd name="T1" fmla="*/ 43101 h 43101"/>
              <a:gd name="T2" fmla="*/ 21430 w 21600"/>
              <a:gd name="T3" fmla="*/ 0 h 43101"/>
              <a:gd name="T4" fmla="*/ 21600 w 21600"/>
              <a:gd name="T5" fmla="*/ 21599 h 43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01" fill="none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</a:path>
              <a:path w="21600" h="43101" stroke="0" extrusionOk="0">
                <a:moveTo>
                  <a:pt x="19548" y="43101"/>
                </a:moveTo>
                <a:cubicBezTo>
                  <a:pt x="8464" y="42044"/>
                  <a:pt x="0" y="32733"/>
                  <a:pt x="0" y="21599"/>
                </a:cubicBezTo>
                <a:cubicBezTo>
                  <a:pt x="-1" y="9735"/>
                  <a:pt x="9567" y="93"/>
                  <a:pt x="21429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39" name="Oval 43"/>
          <p:cNvSpPr>
            <a:spLocks noChangeArrowheads="1"/>
          </p:cNvSpPr>
          <p:nvPr/>
        </p:nvSpPr>
        <p:spPr bwMode="auto">
          <a:xfrm>
            <a:off x="2057400" y="5680075"/>
            <a:ext cx="215900" cy="201613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40" name="Rectangle 44"/>
          <p:cNvSpPr>
            <a:spLocks noChangeArrowheads="1"/>
          </p:cNvSpPr>
          <p:nvPr/>
        </p:nvSpPr>
        <p:spPr bwMode="auto">
          <a:xfrm>
            <a:off x="2209800" y="5908675"/>
            <a:ext cx="528638" cy="4159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 b="1">
                <a:ea typeface="ＭＳ Ｐゴシック" charset="-128"/>
              </a:rPr>
              <a:t>C4</a:t>
            </a:r>
          </a:p>
        </p:txBody>
      </p:sp>
      <p:sp>
        <p:nvSpPr>
          <p:cNvPr id="132141" name="Oval 45"/>
          <p:cNvSpPr>
            <a:spLocks noChangeArrowheads="1"/>
          </p:cNvSpPr>
          <p:nvPr/>
        </p:nvSpPr>
        <p:spPr bwMode="auto">
          <a:xfrm>
            <a:off x="5334000" y="3013075"/>
            <a:ext cx="457200" cy="457200"/>
          </a:xfrm>
          <a:prstGeom prst="ellipse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42" name="Oval 46"/>
          <p:cNvSpPr>
            <a:spLocks noChangeArrowheads="1"/>
          </p:cNvSpPr>
          <p:nvPr/>
        </p:nvSpPr>
        <p:spPr bwMode="auto">
          <a:xfrm>
            <a:off x="5334000" y="4003675"/>
            <a:ext cx="457200" cy="457200"/>
          </a:xfrm>
          <a:prstGeom prst="ellipse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43" name="Oval 47"/>
          <p:cNvSpPr>
            <a:spLocks noChangeArrowheads="1"/>
          </p:cNvSpPr>
          <p:nvPr/>
        </p:nvSpPr>
        <p:spPr bwMode="auto">
          <a:xfrm>
            <a:off x="5334000" y="4994275"/>
            <a:ext cx="457200" cy="457200"/>
          </a:xfrm>
          <a:prstGeom prst="ellipse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44" name="Oval 48"/>
          <p:cNvSpPr>
            <a:spLocks noChangeArrowheads="1"/>
          </p:cNvSpPr>
          <p:nvPr/>
        </p:nvSpPr>
        <p:spPr bwMode="auto">
          <a:xfrm>
            <a:off x="6400800" y="2555875"/>
            <a:ext cx="457200" cy="457200"/>
          </a:xfrm>
          <a:prstGeom prst="ellipse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45" name="Oval 49"/>
          <p:cNvSpPr>
            <a:spLocks noChangeArrowheads="1"/>
          </p:cNvSpPr>
          <p:nvPr/>
        </p:nvSpPr>
        <p:spPr bwMode="auto">
          <a:xfrm>
            <a:off x="6400800" y="3546475"/>
            <a:ext cx="457200" cy="457200"/>
          </a:xfrm>
          <a:prstGeom prst="ellipse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46" name="Oval 50"/>
          <p:cNvSpPr>
            <a:spLocks noChangeArrowheads="1"/>
          </p:cNvSpPr>
          <p:nvPr/>
        </p:nvSpPr>
        <p:spPr bwMode="auto">
          <a:xfrm>
            <a:off x="6400800" y="4537075"/>
            <a:ext cx="457200" cy="457200"/>
          </a:xfrm>
          <a:prstGeom prst="ellipse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47" name="Oval 51"/>
          <p:cNvSpPr>
            <a:spLocks noChangeArrowheads="1"/>
          </p:cNvSpPr>
          <p:nvPr/>
        </p:nvSpPr>
        <p:spPr bwMode="auto">
          <a:xfrm>
            <a:off x="7467600" y="3394075"/>
            <a:ext cx="457200" cy="457200"/>
          </a:xfrm>
          <a:prstGeom prst="ellipse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48" name="Oval 52"/>
          <p:cNvSpPr>
            <a:spLocks noChangeArrowheads="1"/>
          </p:cNvSpPr>
          <p:nvPr/>
        </p:nvSpPr>
        <p:spPr bwMode="auto">
          <a:xfrm>
            <a:off x="7467600" y="4308475"/>
            <a:ext cx="457200" cy="457200"/>
          </a:xfrm>
          <a:prstGeom prst="ellipse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49" name="Line 53"/>
          <p:cNvSpPr>
            <a:spLocks noChangeShapeType="1"/>
          </p:cNvSpPr>
          <p:nvPr/>
        </p:nvSpPr>
        <p:spPr bwMode="auto">
          <a:xfrm>
            <a:off x="4419600" y="3241675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50" name="Line 54"/>
          <p:cNvSpPr>
            <a:spLocks noChangeShapeType="1"/>
          </p:cNvSpPr>
          <p:nvPr/>
        </p:nvSpPr>
        <p:spPr bwMode="auto">
          <a:xfrm>
            <a:off x="4495800" y="423227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51" name="Line 55"/>
          <p:cNvSpPr>
            <a:spLocks noChangeShapeType="1"/>
          </p:cNvSpPr>
          <p:nvPr/>
        </p:nvSpPr>
        <p:spPr bwMode="auto">
          <a:xfrm>
            <a:off x="4495800" y="5222875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52" name="Oval 56"/>
          <p:cNvSpPr>
            <a:spLocks noChangeArrowheads="1"/>
          </p:cNvSpPr>
          <p:nvPr/>
        </p:nvSpPr>
        <p:spPr bwMode="auto">
          <a:xfrm>
            <a:off x="6400800" y="5375275"/>
            <a:ext cx="457200" cy="457200"/>
          </a:xfrm>
          <a:prstGeom prst="ellipse">
            <a:avLst/>
          </a:prstGeom>
          <a:solidFill>
            <a:srgbClr val="CC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53" name="Line 57"/>
          <p:cNvSpPr>
            <a:spLocks noChangeShapeType="1"/>
          </p:cNvSpPr>
          <p:nvPr/>
        </p:nvSpPr>
        <p:spPr bwMode="auto">
          <a:xfrm flipV="1">
            <a:off x="5791200" y="2708275"/>
            <a:ext cx="609600" cy="24384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54" name="Line 58"/>
          <p:cNvSpPr>
            <a:spLocks noChangeShapeType="1"/>
          </p:cNvSpPr>
          <p:nvPr/>
        </p:nvSpPr>
        <p:spPr bwMode="auto">
          <a:xfrm flipV="1">
            <a:off x="5791200" y="3775075"/>
            <a:ext cx="609600" cy="1447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55" name="Line 59"/>
          <p:cNvSpPr>
            <a:spLocks noChangeShapeType="1"/>
          </p:cNvSpPr>
          <p:nvPr/>
        </p:nvSpPr>
        <p:spPr bwMode="auto">
          <a:xfrm flipV="1">
            <a:off x="5791200" y="4689475"/>
            <a:ext cx="609600" cy="5334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56" name="Line 60"/>
          <p:cNvSpPr>
            <a:spLocks noChangeShapeType="1"/>
          </p:cNvSpPr>
          <p:nvPr/>
        </p:nvSpPr>
        <p:spPr bwMode="auto">
          <a:xfrm>
            <a:off x="5791200" y="5222875"/>
            <a:ext cx="609600" cy="304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57" name="Line 61"/>
          <p:cNvSpPr>
            <a:spLocks noChangeShapeType="1"/>
          </p:cNvSpPr>
          <p:nvPr/>
        </p:nvSpPr>
        <p:spPr bwMode="auto">
          <a:xfrm flipV="1">
            <a:off x="5791200" y="2708275"/>
            <a:ext cx="609600" cy="609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58" name="Line 62"/>
          <p:cNvSpPr>
            <a:spLocks noChangeShapeType="1"/>
          </p:cNvSpPr>
          <p:nvPr/>
        </p:nvSpPr>
        <p:spPr bwMode="auto">
          <a:xfrm>
            <a:off x="5791200" y="3317875"/>
            <a:ext cx="609600" cy="381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59" name="Line 63"/>
          <p:cNvSpPr>
            <a:spLocks noChangeShapeType="1"/>
          </p:cNvSpPr>
          <p:nvPr/>
        </p:nvSpPr>
        <p:spPr bwMode="auto">
          <a:xfrm>
            <a:off x="5791200" y="3317875"/>
            <a:ext cx="609600" cy="12954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60" name="Line 64"/>
          <p:cNvSpPr>
            <a:spLocks noChangeShapeType="1"/>
          </p:cNvSpPr>
          <p:nvPr/>
        </p:nvSpPr>
        <p:spPr bwMode="auto">
          <a:xfrm>
            <a:off x="5791200" y="3317875"/>
            <a:ext cx="609600" cy="2209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61" name="Line 65"/>
          <p:cNvSpPr>
            <a:spLocks noChangeShapeType="1"/>
          </p:cNvSpPr>
          <p:nvPr/>
        </p:nvSpPr>
        <p:spPr bwMode="auto">
          <a:xfrm flipV="1">
            <a:off x="5791200" y="2784475"/>
            <a:ext cx="609600" cy="1447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62" name="Line 66"/>
          <p:cNvSpPr>
            <a:spLocks noChangeShapeType="1"/>
          </p:cNvSpPr>
          <p:nvPr/>
        </p:nvSpPr>
        <p:spPr bwMode="auto">
          <a:xfrm flipV="1">
            <a:off x="5791200" y="3698875"/>
            <a:ext cx="609600" cy="5334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63" name="Line 67"/>
          <p:cNvSpPr>
            <a:spLocks noChangeShapeType="1"/>
          </p:cNvSpPr>
          <p:nvPr/>
        </p:nvSpPr>
        <p:spPr bwMode="auto">
          <a:xfrm>
            <a:off x="5791200" y="4232275"/>
            <a:ext cx="609600" cy="4572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64" name="Line 68"/>
          <p:cNvSpPr>
            <a:spLocks noChangeShapeType="1"/>
          </p:cNvSpPr>
          <p:nvPr/>
        </p:nvSpPr>
        <p:spPr bwMode="auto">
          <a:xfrm>
            <a:off x="5791200" y="4232275"/>
            <a:ext cx="609600" cy="12954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65" name="Line 69"/>
          <p:cNvSpPr>
            <a:spLocks noChangeShapeType="1"/>
          </p:cNvSpPr>
          <p:nvPr/>
        </p:nvSpPr>
        <p:spPr bwMode="auto">
          <a:xfrm flipV="1">
            <a:off x="6858000" y="3622675"/>
            <a:ext cx="609600" cy="1524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66" name="Line 70"/>
          <p:cNvSpPr>
            <a:spLocks noChangeShapeType="1"/>
          </p:cNvSpPr>
          <p:nvPr/>
        </p:nvSpPr>
        <p:spPr bwMode="auto">
          <a:xfrm>
            <a:off x="6858000" y="3775075"/>
            <a:ext cx="609600" cy="685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67" name="Line 71"/>
          <p:cNvSpPr>
            <a:spLocks noChangeShapeType="1"/>
          </p:cNvSpPr>
          <p:nvPr/>
        </p:nvSpPr>
        <p:spPr bwMode="auto">
          <a:xfrm>
            <a:off x="6858000" y="2860675"/>
            <a:ext cx="609600" cy="762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68" name="Line 72"/>
          <p:cNvSpPr>
            <a:spLocks noChangeShapeType="1"/>
          </p:cNvSpPr>
          <p:nvPr/>
        </p:nvSpPr>
        <p:spPr bwMode="auto">
          <a:xfrm>
            <a:off x="6858000" y="2860675"/>
            <a:ext cx="609600" cy="1524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69" name="Line 73"/>
          <p:cNvSpPr>
            <a:spLocks noChangeShapeType="1"/>
          </p:cNvSpPr>
          <p:nvPr/>
        </p:nvSpPr>
        <p:spPr bwMode="auto">
          <a:xfrm flipV="1">
            <a:off x="6858000" y="3622675"/>
            <a:ext cx="609600" cy="11430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70" name="Line 74"/>
          <p:cNvSpPr>
            <a:spLocks noChangeShapeType="1"/>
          </p:cNvSpPr>
          <p:nvPr/>
        </p:nvSpPr>
        <p:spPr bwMode="auto">
          <a:xfrm flipV="1">
            <a:off x="6858000" y="4460875"/>
            <a:ext cx="609600" cy="304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71" name="Line 75"/>
          <p:cNvSpPr>
            <a:spLocks noChangeShapeType="1"/>
          </p:cNvSpPr>
          <p:nvPr/>
        </p:nvSpPr>
        <p:spPr bwMode="auto">
          <a:xfrm flipV="1">
            <a:off x="6781800" y="4537075"/>
            <a:ext cx="685800" cy="9144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72" name="Line 76"/>
          <p:cNvSpPr>
            <a:spLocks noChangeShapeType="1"/>
          </p:cNvSpPr>
          <p:nvPr/>
        </p:nvSpPr>
        <p:spPr bwMode="auto">
          <a:xfrm flipV="1">
            <a:off x="6781800" y="3698875"/>
            <a:ext cx="685800" cy="17526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2173" name="Rectangle 77"/>
          <p:cNvSpPr>
            <a:spLocks noChangeArrowheads="1"/>
          </p:cNvSpPr>
          <p:nvPr/>
        </p:nvSpPr>
        <p:spPr bwMode="auto">
          <a:xfrm>
            <a:off x="7315200" y="2936875"/>
            <a:ext cx="1403350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altLang="ja-JP" sz="2000">
                <a:latin typeface="Tahoma" charset="0"/>
                <a:ea typeface="ＭＳ Ｐゴシック" charset="-128"/>
              </a:rPr>
              <a:t>Healthy</a:t>
            </a:r>
          </a:p>
        </p:txBody>
      </p:sp>
      <p:sp>
        <p:nvSpPr>
          <p:cNvPr id="132174" name="Rectangle 78"/>
          <p:cNvSpPr>
            <a:spLocks noChangeArrowheads="1"/>
          </p:cNvSpPr>
          <p:nvPr/>
        </p:nvSpPr>
        <p:spPr bwMode="auto">
          <a:xfrm>
            <a:off x="7315200" y="4765675"/>
            <a:ext cx="1355725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ja-JP" sz="2000">
                <a:latin typeface="Tahoma" charset="0"/>
                <a:ea typeface="ＭＳ Ｐゴシック" charset="-128"/>
              </a:rPr>
              <a:t>Cancerous</a:t>
            </a:r>
          </a:p>
        </p:txBody>
      </p:sp>
      <p:sp>
        <p:nvSpPr>
          <p:cNvPr id="132175" name="Rectangle 79"/>
          <p:cNvSpPr>
            <a:spLocks noChangeArrowheads="1"/>
          </p:cNvSpPr>
          <p:nvPr/>
        </p:nvSpPr>
        <p:spPr bwMode="auto">
          <a:xfrm>
            <a:off x="3810000" y="2784475"/>
            <a:ext cx="1579563" cy="243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en-US" altLang="ja-JP" sz="2000">
                <a:latin typeface="Tahoma" charset="0"/>
                <a:ea typeface="ＭＳ Ｐゴシック" charset="-128"/>
              </a:rPr>
              <a:t>color = dark</a:t>
            </a:r>
          </a:p>
          <a:p>
            <a:pPr eaLnBrk="0" hangingPunct="0">
              <a:lnSpc>
                <a:spcPct val="110000"/>
              </a:lnSpc>
            </a:pPr>
            <a:endParaRPr lang="en-US" altLang="ja-JP" sz="2000">
              <a:latin typeface="Tahoma" charset="0"/>
              <a:ea typeface="ＭＳ Ｐゴシック" charset="-128"/>
            </a:endParaRPr>
          </a:p>
          <a:p>
            <a:pPr eaLnBrk="0" hangingPunct="0">
              <a:lnSpc>
                <a:spcPct val="110000"/>
              </a:lnSpc>
            </a:pPr>
            <a:endParaRPr lang="en-US" altLang="ja-JP" sz="2000">
              <a:latin typeface="Tahoma" charset="0"/>
              <a:ea typeface="ＭＳ Ｐゴシック" charset="-128"/>
            </a:endParaRPr>
          </a:p>
          <a:p>
            <a:pPr eaLnBrk="0" hangingPunct="0">
              <a:lnSpc>
                <a:spcPct val="110000"/>
              </a:lnSpc>
            </a:pPr>
            <a:r>
              <a:rPr lang="en-US" altLang="ja-JP" sz="2000">
                <a:latin typeface="Tahoma" charset="0"/>
                <a:ea typeface="ＭＳ Ｐゴシック" charset="-128"/>
              </a:rPr>
              <a:t># nuclei = 1</a:t>
            </a:r>
          </a:p>
          <a:p>
            <a:pPr eaLnBrk="0" hangingPunct="0">
              <a:lnSpc>
                <a:spcPct val="110000"/>
              </a:lnSpc>
            </a:pPr>
            <a:endParaRPr lang="en-US" altLang="ja-JP" sz="2000">
              <a:latin typeface="Tahoma" charset="0"/>
              <a:ea typeface="ＭＳ Ｐゴシック" charset="-128"/>
            </a:endParaRPr>
          </a:p>
          <a:p>
            <a:pPr eaLnBrk="0" hangingPunct="0">
              <a:lnSpc>
                <a:spcPct val="110000"/>
              </a:lnSpc>
            </a:pPr>
            <a:endParaRPr lang="en-US" altLang="ja-JP" sz="2000">
              <a:latin typeface="Tahoma" charset="0"/>
              <a:ea typeface="ＭＳ Ｐゴシック" charset="-128"/>
            </a:endParaRPr>
          </a:p>
          <a:p>
            <a:pPr eaLnBrk="0" hangingPunct="0">
              <a:lnSpc>
                <a:spcPct val="110000"/>
              </a:lnSpc>
            </a:pPr>
            <a:r>
              <a:rPr lang="en-US" altLang="ja-JP" sz="2000">
                <a:latin typeface="Tahoma" charset="0"/>
                <a:ea typeface="ＭＳ Ｐゴシック" charset="-128"/>
              </a:rPr>
              <a:t># tails = 2</a:t>
            </a:r>
          </a:p>
        </p:txBody>
      </p:sp>
      <p:sp>
        <p:nvSpPr>
          <p:cNvPr id="132176" name="AutoShape 80"/>
          <p:cNvSpPr>
            <a:spLocks noChangeArrowheads="1"/>
          </p:cNvSpPr>
          <p:nvPr/>
        </p:nvSpPr>
        <p:spPr bwMode="auto">
          <a:xfrm>
            <a:off x="2971800" y="3622675"/>
            <a:ext cx="762000" cy="990600"/>
          </a:xfrm>
          <a:prstGeom prst="right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CCCCFF">
                  <a:gamma/>
                  <a:shade val="46275"/>
                  <a:invGamma/>
                </a:srgbClr>
              </a:gs>
              <a:gs pos="100000">
                <a:srgbClr val="CCCCFF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0" name="Text Box 11"/>
          <p:cNvSpPr txBox="1">
            <a:spLocks noChangeArrowheads="1"/>
          </p:cNvSpPr>
          <p:nvPr/>
        </p:nvSpPr>
        <p:spPr bwMode="auto">
          <a:xfrm>
            <a:off x="457200" y="1386840"/>
            <a:ext cx="47436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ja-JP" sz="2800" dirty="0" smtClean="0">
                <a:solidFill>
                  <a:srgbClr val="003399"/>
                </a:solidFill>
                <a:latin typeface="+mj-lt"/>
                <a:ea typeface="ＭＳ Ｐゴシック" charset="-128"/>
              </a:rPr>
              <a:t>Mining with Neural Networks</a:t>
            </a:r>
            <a:endParaRPr kumimoji="1" lang="en-US" altLang="ja-JP" sz="2800" dirty="0">
              <a:solidFill>
                <a:srgbClr val="003399"/>
              </a:solidFill>
              <a:latin typeface="+mj-lt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483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Evaluation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dirty="0" smtClean="0"/>
              <a:t>Once </a:t>
            </a:r>
            <a:r>
              <a:rPr lang="es-ES" dirty="0" err="1" smtClean="0"/>
              <a:t>we</a:t>
            </a:r>
            <a:r>
              <a:rPr lang="es-ES" dirty="0" smtClean="0"/>
              <a:t> </a:t>
            </a:r>
            <a:r>
              <a:rPr lang="es-ES" dirty="0" err="1" smtClean="0"/>
              <a:t>obtain</a:t>
            </a:r>
            <a:r>
              <a:rPr lang="es-ES" dirty="0" smtClean="0"/>
              <a:t> </a:t>
            </a:r>
            <a:r>
              <a:rPr lang="es-ES" dirty="0" err="1" smtClean="0"/>
              <a:t>the</a:t>
            </a:r>
            <a:r>
              <a:rPr lang="es-ES" dirty="0" smtClean="0"/>
              <a:t> </a:t>
            </a:r>
            <a:r>
              <a:rPr lang="es-ES" dirty="0" err="1" smtClean="0"/>
              <a:t>model</a:t>
            </a:r>
            <a:r>
              <a:rPr lang="es-ES" dirty="0" smtClean="0"/>
              <a:t> </a:t>
            </a:r>
            <a:r>
              <a:rPr lang="es-ES" dirty="0" err="1" smtClean="0"/>
              <a:t>with</a:t>
            </a:r>
            <a:r>
              <a:rPr lang="es-ES" dirty="0" smtClean="0"/>
              <a:t> </a:t>
            </a:r>
            <a:r>
              <a:rPr lang="es-ES" dirty="0" err="1" smtClean="0"/>
              <a:t>the</a:t>
            </a:r>
            <a:r>
              <a:rPr lang="es-ES" dirty="0" smtClean="0"/>
              <a:t> training data, </a:t>
            </a:r>
            <a:r>
              <a:rPr lang="es-ES" dirty="0" err="1" smtClean="0"/>
              <a:t>we</a:t>
            </a:r>
            <a:r>
              <a:rPr lang="es-ES" dirty="0" smtClean="0"/>
              <a:t> </a:t>
            </a:r>
            <a:r>
              <a:rPr lang="es-ES" dirty="0" err="1" smtClean="0"/>
              <a:t>need</a:t>
            </a:r>
            <a:r>
              <a:rPr lang="es-ES" dirty="0" smtClean="0"/>
              <a:t> </a:t>
            </a:r>
            <a:r>
              <a:rPr lang="es-ES" dirty="0" err="1" smtClean="0"/>
              <a:t>to</a:t>
            </a:r>
            <a:r>
              <a:rPr lang="es-ES" dirty="0" smtClean="0"/>
              <a:t> </a:t>
            </a:r>
            <a:r>
              <a:rPr lang="es-ES" dirty="0" err="1" smtClean="0"/>
              <a:t>evaluate</a:t>
            </a:r>
            <a:r>
              <a:rPr lang="es-ES" dirty="0" smtClean="0"/>
              <a:t> </a:t>
            </a:r>
            <a:r>
              <a:rPr lang="es-ES" dirty="0" err="1" smtClean="0"/>
              <a:t>it</a:t>
            </a:r>
            <a:r>
              <a:rPr lang="es-ES" dirty="0" smtClean="0"/>
              <a:t> </a:t>
            </a:r>
            <a:r>
              <a:rPr lang="es-ES" dirty="0" err="1" smtClean="0"/>
              <a:t>with</a:t>
            </a:r>
            <a:r>
              <a:rPr lang="es-ES" dirty="0" smtClean="0"/>
              <a:t> </a:t>
            </a:r>
            <a:r>
              <a:rPr lang="es-ES" dirty="0" err="1" smtClean="0"/>
              <a:t>some</a:t>
            </a:r>
            <a:r>
              <a:rPr lang="es-ES" dirty="0" smtClean="0"/>
              <a:t> new data (</a:t>
            </a:r>
            <a:r>
              <a:rPr lang="es-ES" dirty="0" err="1" smtClean="0"/>
              <a:t>testing</a:t>
            </a:r>
            <a:r>
              <a:rPr lang="es-ES" dirty="0" smtClean="0"/>
              <a:t> data)</a:t>
            </a:r>
          </a:p>
          <a:p>
            <a:pPr lvl="1"/>
            <a:r>
              <a:rPr lang="es-ES" dirty="0" err="1" smtClean="0"/>
              <a:t>We</a:t>
            </a:r>
            <a:r>
              <a:rPr lang="es-ES" dirty="0" smtClean="0"/>
              <a:t> </a:t>
            </a:r>
            <a:r>
              <a:rPr lang="es-ES" dirty="0" err="1" smtClean="0"/>
              <a:t>cannnot</a:t>
            </a:r>
            <a:r>
              <a:rPr lang="es-ES" dirty="0" smtClean="0"/>
              <a:t> use </a:t>
            </a:r>
            <a:r>
              <a:rPr lang="es-ES" dirty="0" err="1" smtClean="0"/>
              <a:t>the</a:t>
            </a:r>
            <a:r>
              <a:rPr lang="es-ES" dirty="0" smtClean="0"/>
              <a:t> </a:t>
            </a:r>
            <a:r>
              <a:rPr lang="es-ES" dirty="0" err="1" smtClean="0"/>
              <a:t>the</a:t>
            </a:r>
            <a:r>
              <a:rPr lang="es-ES" dirty="0" smtClean="0"/>
              <a:t> </a:t>
            </a:r>
            <a:r>
              <a:rPr lang="es-ES" dirty="0" err="1" smtClean="0"/>
              <a:t>same</a:t>
            </a:r>
            <a:r>
              <a:rPr lang="es-ES" dirty="0" smtClean="0"/>
              <a:t> data </a:t>
            </a:r>
            <a:r>
              <a:rPr lang="es-ES" dirty="0" err="1" smtClean="0"/>
              <a:t>for</a:t>
            </a:r>
            <a:r>
              <a:rPr lang="es-ES" dirty="0" smtClean="0"/>
              <a:t> training and </a:t>
            </a:r>
            <a:r>
              <a:rPr lang="es-ES" dirty="0" err="1" smtClean="0"/>
              <a:t>testing</a:t>
            </a:r>
            <a:endParaRPr lang="es-ES" dirty="0" smtClean="0"/>
          </a:p>
          <a:p>
            <a:pPr lvl="2"/>
            <a:r>
              <a:rPr lang="es-ES" dirty="0" err="1" smtClean="0"/>
              <a:t>E.g</a:t>
            </a:r>
            <a:r>
              <a:rPr lang="es-ES" dirty="0" smtClean="0"/>
              <a:t>., </a:t>
            </a:r>
            <a:r>
              <a:rPr lang="es-ES" dirty="0" err="1" smtClean="0"/>
              <a:t>Evaluating</a:t>
            </a:r>
            <a:r>
              <a:rPr lang="es-ES" dirty="0" smtClean="0"/>
              <a:t> a </a:t>
            </a:r>
            <a:r>
              <a:rPr lang="es-ES" dirty="0" err="1" smtClean="0"/>
              <a:t>student</a:t>
            </a:r>
            <a:r>
              <a:rPr lang="es-ES" dirty="0" smtClean="0"/>
              <a:t> </a:t>
            </a:r>
            <a:r>
              <a:rPr lang="es-ES" dirty="0" err="1" smtClean="0"/>
              <a:t>with</a:t>
            </a:r>
            <a:r>
              <a:rPr lang="es-ES" dirty="0" smtClean="0"/>
              <a:t> </a:t>
            </a:r>
            <a:r>
              <a:rPr lang="es-ES" dirty="0" err="1" smtClean="0"/>
              <a:t>the</a:t>
            </a:r>
            <a:r>
              <a:rPr lang="es-ES" dirty="0" smtClean="0"/>
              <a:t> </a:t>
            </a:r>
            <a:r>
              <a:rPr lang="es-ES" dirty="0" err="1" smtClean="0"/>
              <a:t>exercises</a:t>
            </a:r>
            <a:r>
              <a:rPr lang="es-ES" dirty="0" smtClean="0"/>
              <a:t> </a:t>
            </a:r>
            <a:r>
              <a:rPr lang="es-ES" dirty="0" err="1" smtClean="0"/>
              <a:t>previouly</a:t>
            </a:r>
            <a:r>
              <a:rPr lang="es-ES" dirty="0" smtClean="0"/>
              <a:t> </a:t>
            </a:r>
            <a:r>
              <a:rPr lang="es-ES" dirty="0" err="1" smtClean="0"/>
              <a:t>solved</a:t>
            </a:r>
            <a:endParaRPr lang="es-ES" dirty="0" smtClean="0"/>
          </a:p>
          <a:p>
            <a:pPr lvl="3"/>
            <a:r>
              <a:rPr lang="es-ES" dirty="0" err="1" smtClean="0"/>
              <a:t>Student</a:t>
            </a:r>
            <a:r>
              <a:rPr lang="es-ES" dirty="0" smtClean="0"/>
              <a:t> ‘s </a:t>
            </a:r>
            <a:r>
              <a:rPr lang="es-ES" dirty="0" err="1" smtClean="0"/>
              <a:t>marks</a:t>
            </a:r>
            <a:r>
              <a:rPr lang="es-ES" dirty="0" smtClean="0"/>
              <a:t> </a:t>
            </a:r>
            <a:r>
              <a:rPr lang="es-ES" dirty="0" err="1" smtClean="0"/>
              <a:t>will</a:t>
            </a:r>
            <a:r>
              <a:rPr lang="es-ES" dirty="0" smtClean="0"/>
              <a:t> be “</a:t>
            </a:r>
            <a:r>
              <a:rPr lang="es-ES" dirty="0" err="1" smtClean="0"/>
              <a:t>optimistic</a:t>
            </a:r>
            <a:r>
              <a:rPr lang="es-ES" dirty="0" smtClean="0"/>
              <a:t>” and </a:t>
            </a:r>
            <a:r>
              <a:rPr lang="es-ES" dirty="0" err="1" smtClean="0"/>
              <a:t>we</a:t>
            </a:r>
            <a:r>
              <a:rPr lang="es-ES" dirty="0" smtClean="0"/>
              <a:t> </a:t>
            </a:r>
            <a:r>
              <a:rPr lang="es-ES" dirty="0" err="1" smtClean="0"/>
              <a:t>don’t</a:t>
            </a:r>
            <a:r>
              <a:rPr lang="es-ES" dirty="0" smtClean="0"/>
              <a:t> </a:t>
            </a:r>
            <a:r>
              <a:rPr lang="es-ES" dirty="0" err="1" smtClean="0"/>
              <a:t>know</a:t>
            </a:r>
            <a:r>
              <a:rPr lang="es-ES" dirty="0" smtClean="0"/>
              <a:t> </a:t>
            </a:r>
            <a:r>
              <a:rPr lang="es-ES" dirty="0" err="1" smtClean="0"/>
              <a:t>about</a:t>
            </a:r>
            <a:r>
              <a:rPr lang="es-ES" dirty="0" smtClean="0"/>
              <a:t> </a:t>
            </a:r>
            <a:r>
              <a:rPr lang="es-ES" dirty="0" err="1" smtClean="0"/>
              <a:t>student</a:t>
            </a:r>
            <a:r>
              <a:rPr lang="es-ES" dirty="0" smtClean="0"/>
              <a:t> </a:t>
            </a:r>
            <a:r>
              <a:rPr lang="es-ES" dirty="0" err="1" smtClean="0"/>
              <a:t>capability</a:t>
            </a:r>
            <a:r>
              <a:rPr lang="es-ES" dirty="0" smtClean="0"/>
              <a:t> </a:t>
            </a:r>
            <a:r>
              <a:rPr lang="es-ES" dirty="0" err="1" smtClean="0"/>
              <a:t>to</a:t>
            </a:r>
            <a:r>
              <a:rPr lang="es-ES" dirty="0" smtClean="0"/>
              <a:t> </a:t>
            </a:r>
            <a:r>
              <a:rPr lang="es-ES" dirty="0" err="1" smtClean="0"/>
              <a:t>generalise</a:t>
            </a:r>
            <a:r>
              <a:rPr lang="es-ES" dirty="0" smtClean="0"/>
              <a:t> </a:t>
            </a:r>
            <a:r>
              <a:rPr lang="es-ES" dirty="0" err="1" smtClean="0"/>
              <a:t>the</a:t>
            </a:r>
            <a:r>
              <a:rPr lang="es-ES" dirty="0" smtClean="0"/>
              <a:t> </a:t>
            </a:r>
            <a:r>
              <a:rPr lang="es-ES" dirty="0" err="1" smtClean="0"/>
              <a:t>learned</a:t>
            </a:r>
            <a:r>
              <a:rPr lang="es-ES" dirty="0" smtClean="0"/>
              <a:t> </a:t>
            </a:r>
            <a:r>
              <a:rPr lang="es-ES" dirty="0" err="1" smtClean="0"/>
              <a:t>concepts</a:t>
            </a:r>
            <a:r>
              <a:rPr lang="es-ES" dirty="0" smtClean="0"/>
              <a:t>.</a:t>
            </a:r>
          </a:p>
          <a:p>
            <a:r>
              <a:rPr lang="es-ES" dirty="0" err="1" smtClean="0"/>
              <a:t>Holdout</a:t>
            </a:r>
            <a:r>
              <a:rPr lang="es-ES" dirty="0" smtClean="0"/>
              <a:t> </a:t>
            </a:r>
            <a:r>
              <a:rPr lang="es-ES" dirty="0" err="1"/>
              <a:t>approach</a:t>
            </a:r>
            <a:r>
              <a:rPr lang="es-ES" dirty="0"/>
              <a:t> </a:t>
            </a:r>
            <a:r>
              <a:rPr lang="es-ES" dirty="0" err="1"/>
              <a:t>consist</a:t>
            </a:r>
            <a:r>
              <a:rPr lang="es-ES" dirty="0"/>
              <a:t> of </a:t>
            </a:r>
            <a:r>
              <a:rPr lang="es-ES" dirty="0" err="1"/>
              <a:t>dividing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dataset</a:t>
            </a:r>
            <a:r>
              <a:rPr lang="es-ES" dirty="0"/>
              <a:t> </a:t>
            </a:r>
            <a:r>
              <a:rPr lang="es-ES" dirty="0" err="1" smtClean="0"/>
              <a:t>into</a:t>
            </a:r>
            <a:r>
              <a:rPr lang="es-ES" dirty="0" smtClean="0"/>
              <a:t> training (</a:t>
            </a:r>
            <a:r>
              <a:rPr lang="es-ES" dirty="0" err="1" smtClean="0"/>
              <a:t>approx</a:t>
            </a:r>
            <a:r>
              <a:rPr lang="es-ES" dirty="0" smtClean="0"/>
              <a:t>. 2/3 of </a:t>
            </a:r>
            <a:r>
              <a:rPr lang="es-ES" dirty="0" err="1" smtClean="0"/>
              <a:t>the</a:t>
            </a:r>
            <a:r>
              <a:rPr lang="es-ES" dirty="0" smtClean="0"/>
              <a:t> data) and </a:t>
            </a:r>
            <a:r>
              <a:rPr lang="es-ES" dirty="0" err="1" smtClean="0"/>
              <a:t>testing</a:t>
            </a:r>
            <a:r>
              <a:rPr lang="es-ES" dirty="0" smtClean="0"/>
              <a:t> (</a:t>
            </a:r>
            <a:r>
              <a:rPr lang="es-ES" dirty="0" err="1" smtClean="0"/>
              <a:t>approx</a:t>
            </a:r>
            <a:r>
              <a:rPr lang="es-ES" dirty="0" smtClean="0"/>
              <a:t> 1/3 of </a:t>
            </a:r>
            <a:r>
              <a:rPr lang="es-ES" dirty="0" err="1" smtClean="0"/>
              <a:t>the</a:t>
            </a:r>
            <a:r>
              <a:rPr lang="es-ES" dirty="0" smtClean="0"/>
              <a:t> data).</a:t>
            </a:r>
            <a:endParaRPr lang="es-ES" dirty="0"/>
          </a:p>
          <a:p>
            <a:pPr lvl="1"/>
            <a:r>
              <a:rPr lang="es-ES" dirty="0" err="1" smtClean="0"/>
              <a:t>Problems</a:t>
            </a:r>
            <a:r>
              <a:rPr lang="es-ES" dirty="0" smtClean="0"/>
              <a:t>: Data can be </a:t>
            </a:r>
            <a:r>
              <a:rPr lang="es-ES" dirty="0" err="1" smtClean="0"/>
              <a:t>skewed</a:t>
            </a:r>
            <a:r>
              <a:rPr lang="es-ES" dirty="0" smtClean="0"/>
              <a:t>, </a:t>
            </a:r>
            <a:r>
              <a:rPr lang="es-ES" dirty="0" err="1" smtClean="0"/>
              <a:t>missing</a:t>
            </a:r>
            <a:r>
              <a:rPr lang="es-ES" dirty="0" smtClean="0"/>
              <a:t> </a:t>
            </a:r>
            <a:r>
              <a:rPr lang="es-ES" dirty="0" err="1" smtClean="0"/>
              <a:t>classes</a:t>
            </a:r>
            <a:r>
              <a:rPr lang="es-ES" dirty="0" smtClean="0"/>
              <a:t>, etc. </a:t>
            </a:r>
            <a:r>
              <a:rPr lang="es-ES" dirty="0" err="1" smtClean="0"/>
              <a:t>if</a:t>
            </a:r>
            <a:r>
              <a:rPr lang="es-ES" dirty="0" smtClean="0"/>
              <a:t> </a:t>
            </a:r>
            <a:r>
              <a:rPr lang="es-ES" dirty="0" err="1" smtClean="0"/>
              <a:t>randomly</a:t>
            </a:r>
            <a:r>
              <a:rPr lang="es-ES" dirty="0" smtClean="0"/>
              <a:t> </a:t>
            </a:r>
            <a:r>
              <a:rPr lang="es-ES" dirty="0" err="1" smtClean="0"/>
              <a:t>divided</a:t>
            </a:r>
            <a:endParaRPr lang="es-ES" dirty="0" smtClean="0"/>
          </a:p>
          <a:p>
            <a:r>
              <a:rPr lang="en-GB" dirty="0" smtClean="0"/>
              <a:t>Stratification ensures </a:t>
            </a:r>
            <a:r>
              <a:rPr lang="en-GB" dirty="0"/>
              <a:t>that each class is represented with </a:t>
            </a:r>
            <a:r>
              <a:rPr lang="en-GB" dirty="0" smtClean="0"/>
              <a:t>approximately equal proportions</a:t>
            </a:r>
          </a:p>
          <a:p>
            <a:pPr lvl="1"/>
            <a:r>
              <a:rPr lang="es-ES" dirty="0" err="1" smtClean="0"/>
              <a:t>E.g</a:t>
            </a:r>
            <a:r>
              <a:rPr lang="es-ES" dirty="0" smtClean="0"/>
              <a:t>., </a:t>
            </a:r>
            <a:r>
              <a:rPr lang="es-ES" dirty="0" err="1" smtClean="0"/>
              <a:t>if</a:t>
            </a:r>
            <a:r>
              <a:rPr lang="es-ES" dirty="0" smtClean="0"/>
              <a:t> data </a:t>
            </a:r>
            <a:r>
              <a:rPr lang="es-ES" dirty="0" err="1" smtClean="0"/>
              <a:t>contains</a:t>
            </a:r>
            <a:r>
              <a:rPr lang="es-ES" dirty="0" smtClean="0"/>
              <a:t> </a:t>
            </a:r>
            <a:r>
              <a:rPr lang="es-ES" dirty="0" err="1" smtClean="0"/>
              <a:t>aprox</a:t>
            </a:r>
            <a:r>
              <a:rPr lang="es-ES" dirty="0" smtClean="0"/>
              <a:t> 45% of positive cases, </a:t>
            </a:r>
            <a:r>
              <a:rPr lang="es-ES" dirty="0" err="1" smtClean="0"/>
              <a:t>the</a:t>
            </a:r>
            <a:r>
              <a:rPr lang="es-ES" dirty="0" smtClean="0"/>
              <a:t> training and </a:t>
            </a:r>
            <a:r>
              <a:rPr lang="es-ES" dirty="0" err="1" smtClean="0"/>
              <a:t>testing</a:t>
            </a:r>
            <a:r>
              <a:rPr lang="es-ES" dirty="0" smtClean="0"/>
              <a:t> </a:t>
            </a:r>
            <a:r>
              <a:rPr lang="es-ES" dirty="0" err="1" smtClean="0"/>
              <a:t>datasets</a:t>
            </a:r>
            <a:r>
              <a:rPr lang="es-ES" dirty="0" smtClean="0"/>
              <a:t> </a:t>
            </a:r>
            <a:r>
              <a:rPr lang="es-ES" dirty="0" err="1" smtClean="0"/>
              <a:t>should</a:t>
            </a:r>
            <a:r>
              <a:rPr lang="es-ES" dirty="0" smtClean="0"/>
              <a:t> </a:t>
            </a:r>
            <a:r>
              <a:rPr lang="es-ES" dirty="0" err="1" smtClean="0"/>
              <a:t>mantain</a:t>
            </a:r>
            <a:r>
              <a:rPr lang="es-ES" dirty="0" smtClean="0"/>
              <a:t> similar </a:t>
            </a:r>
            <a:r>
              <a:rPr lang="es-ES" dirty="0" err="1" smtClean="0"/>
              <a:t>proportion</a:t>
            </a:r>
            <a:r>
              <a:rPr lang="es-ES" dirty="0" smtClean="0"/>
              <a:t> of positive cases. </a:t>
            </a:r>
            <a:endParaRPr lang="en-GB" dirty="0" smtClean="0"/>
          </a:p>
          <a:p>
            <a:r>
              <a:rPr lang="en-GB" dirty="0" smtClean="0"/>
              <a:t>Holdout </a:t>
            </a:r>
            <a:r>
              <a:rPr lang="en-GB" dirty="0"/>
              <a:t>estimate can be made more reliable by repeating the process with different </a:t>
            </a:r>
            <a:r>
              <a:rPr lang="en-GB" dirty="0" smtClean="0"/>
              <a:t>subsamples (</a:t>
            </a:r>
            <a:r>
              <a:rPr lang="en-GB" i="1" dirty="0" smtClean="0"/>
              <a:t>repeated </a:t>
            </a:r>
            <a:r>
              <a:rPr lang="en-GB" i="1" dirty="0"/>
              <a:t>holdout </a:t>
            </a:r>
            <a:r>
              <a:rPr lang="en-GB" dirty="0" smtClean="0"/>
              <a:t>method)</a:t>
            </a:r>
            <a:endParaRPr lang="en-GB" dirty="0"/>
          </a:p>
          <a:p>
            <a:pPr lvl="1"/>
            <a:r>
              <a:rPr lang="en-GB" dirty="0" smtClean="0"/>
              <a:t>The </a:t>
            </a:r>
            <a:r>
              <a:rPr lang="en-GB" dirty="0"/>
              <a:t>error rates on the different iterations are averaged </a:t>
            </a:r>
            <a:r>
              <a:rPr lang="en-GB" dirty="0" smtClean="0"/>
              <a:t>(overall </a:t>
            </a:r>
            <a:r>
              <a:rPr lang="en-GB" dirty="0"/>
              <a:t>error </a:t>
            </a:r>
            <a:r>
              <a:rPr lang="en-GB" dirty="0" smtClean="0"/>
              <a:t>rate)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794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352426" y="1463040"/>
            <a:ext cx="7680960" cy="47244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i="1" dirty="0"/>
              <a:t>Cross-validation </a:t>
            </a:r>
            <a:r>
              <a:rPr lang="en-GB" i="1" dirty="0" smtClean="0"/>
              <a:t>(CV) </a:t>
            </a:r>
            <a:r>
              <a:rPr lang="en-GB" dirty="0" smtClean="0"/>
              <a:t>avoids </a:t>
            </a:r>
            <a:r>
              <a:rPr lang="en-GB" dirty="0"/>
              <a:t>overlapping test sets</a:t>
            </a:r>
          </a:p>
          <a:p>
            <a:pPr lvl="1"/>
            <a:r>
              <a:rPr lang="en-GB" dirty="0" smtClean="0"/>
              <a:t>First </a:t>
            </a:r>
            <a:r>
              <a:rPr lang="en-GB" dirty="0"/>
              <a:t>step: split </a:t>
            </a:r>
            <a:r>
              <a:rPr lang="en-GB" dirty="0" smtClean="0"/>
              <a:t>dataset (</a:t>
            </a:r>
            <a:r>
              <a:rPr lang="en-GB" i="1" dirty="0" smtClean="0"/>
              <a:t>D</a:t>
            </a:r>
            <a:r>
              <a:rPr lang="en-GB" dirty="0" smtClean="0"/>
              <a:t>) </a:t>
            </a:r>
            <a:r>
              <a:rPr lang="en-GB" dirty="0"/>
              <a:t>into </a:t>
            </a:r>
            <a:r>
              <a:rPr lang="en-GB" i="1" dirty="0"/>
              <a:t>k </a:t>
            </a:r>
            <a:r>
              <a:rPr lang="en-GB" dirty="0"/>
              <a:t>subsets of equal </a:t>
            </a:r>
            <a:r>
              <a:rPr lang="en-GB" dirty="0" smtClean="0"/>
              <a:t>size </a:t>
            </a:r>
            <a:r>
              <a:rPr lang="es-ES_tradnl" i="1" dirty="0" smtClean="0"/>
              <a:t>C</a:t>
            </a:r>
            <a:r>
              <a:rPr lang="es-ES_tradnl" i="1" baseline="-25000" dirty="0" smtClean="0"/>
              <a:t>1</a:t>
            </a:r>
            <a:r>
              <a:rPr lang="es-ES_tradnl" i="1" dirty="0" smtClean="0"/>
              <a:t>…,</a:t>
            </a:r>
            <a:r>
              <a:rPr lang="es-ES_tradnl" i="1" dirty="0" err="1" smtClean="0"/>
              <a:t>C</a:t>
            </a:r>
            <a:r>
              <a:rPr lang="es-ES_tradnl" i="1" baseline="-25000" dirty="0" err="1" smtClean="0"/>
              <a:t>k</a:t>
            </a:r>
            <a:r>
              <a:rPr lang="es-ES_tradnl" dirty="0" smtClean="0"/>
              <a:t> </a:t>
            </a:r>
            <a:endParaRPr lang="en-GB" dirty="0"/>
          </a:p>
          <a:p>
            <a:pPr lvl="1"/>
            <a:r>
              <a:rPr lang="en-GB" dirty="0" smtClean="0"/>
              <a:t>Second </a:t>
            </a:r>
            <a:r>
              <a:rPr lang="en-GB" dirty="0"/>
              <a:t>step</a:t>
            </a:r>
            <a:r>
              <a:rPr lang="en-GB" dirty="0" smtClean="0"/>
              <a:t>: </a:t>
            </a:r>
            <a:r>
              <a:rPr lang="es-ES_tradnl" dirty="0" err="1"/>
              <a:t>we</a:t>
            </a:r>
            <a:r>
              <a:rPr lang="es-ES_tradnl" dirty="0"/>
              <a:t> </a:t>
            </a:r>
            <a:r>
              <a:rPr lang="es-ES_tradnl" dirty="0" err="1"/>
              <a:t>construct</a:t>
            </a:r>
            <a:r>
              <a:rPr lang="es-ES_tradnl" dirty="0"/>
              <a:t> a </a:t>
            </a:r>
            <a:r>
              <a:rPr lang="es-ES_tradnl" dirty="0" err="1" smtClean="0"/>
              <a:t>dataset</a:t>
            </a:r>
            <a:r>
              <a:rPr lang="es-ES_tradnl" dirty="0" smtClean="0"/>
              <a:t> </a:t>
            </a:r>
            <a:r>
              <a:rPr lang="es-ES_tradnl" i="1" dirty="0"/>
              <a:t>D</a:t>
            </a:r>
            <a:r>
              <a:rPr lang="es-ES_tradnl" i="1" baseline="-25000" dirty="0"/>
              <a:t>i</a:t>
            </a:r>
            <a:r>
              <a:rPr lang="es-ES_tradnl" i="1" dirty="0"/>
              <a:t> = </a:t>
            </a:r>
            <a:r>
              <a:rPr lang="es-ES_tradnl" i="1" dirty="0" smtClean="0"/>
              <a:t>D-C</a:t>
            </a:r>
            <a:r>
              <a:rPr lang="es-ES_tradnl" i="1" baseline="-25000" dirty="0" smtClean="0"/>
              <a:t>i</a:t>
            </a:r>
            <a:r>
              <a:rPr lang="es-ES_tradnl" dirty="0" smtClean="0"/>
              <a:t> </a:t>
            </a:r>
            <a:r>
              <a:rPr lang="es-ES_tradnl" dirty="0" err="1" smtClean="0"/>
              <a:t>used</a:t>
            </a:r>
            <a:r>
              <a:rPr lang="es-ES_tradnl" dirty="0" smtClean="0"/>
              <a:t> </a:t>
            </a:r>
            <a:r>
              <a:rPr lang="es-ES_tradnl" dirty="0" err="1" smtClean="0"/>
              <a:t>for</a:t>
            </a:r>
            <a:r>
              <a:rPr lang="es-ES_tradnl" dirty="0" smtClean="0"/>
              <a:t> training </a:t>
            </a:r>
            <a:r>
              <a:rPr lang="en-GB" dirty="0" smtClean="0"/>
              <a:t>and </a:t>
            </a:r>
            <a:r>
              <a:rPr lang="en-GB" dirty="0"/>
              <a:t>test the accuracy of </a:t>
            </a:r>
            <a:r>
              <a:rPr lang="en-GB" dirty="0" smtClean="0"/>
              <a:t>the classifier </a:t>
            </a:r>
            <a:r>
              <a:rPr lang="en-GB" i="1" dirty="0" err="1" smtClean="0"/>
              <a:t>f</a:t>
            </a:r>
            <a:r>
              <a:rPr lang="en-GB" i="1" baseline="-25000" dirty="0" err="1" smtClean="0"/>
              <a:t>Di</a:t>
            </a:r>
            <a:r>
              <a:rPr lang="en-GB" dirty="0" smtClean="0"/>
              <a:t> </a:t>
            </a:r>
            <a:r>
              <a:rPr lang="en-GB" dirty="0"/>
              <a:t>on </a:t>
            </a:r>
            <a:r>
              <a:rPr lang="en-GB" i="1" dirty="0" err="1" smtClean="0"/>
              <a:t>C</a:t>
            </a:r>
            <a:r>
              <a:rPr lang="en-GB" i="1" baseline="-25000" dirty="0" err="1" smtClean="0"/>
              <a:t>i</a:t>
            </a:r>
            <a:r>
              <a:rPr lang="en-GB" dirty="0" smtClean="0"/>
              <a:t> </a:t>
            </a:r>
            <a:r>
              <a:rPr lang="en-GB" dirty="0"/>
              <a:t>subset </a:t>
            </a:r>
            <a:r>
              <a:rPr lang="en-GB" dirty="0" smtClean="0"/>
              <a:t>for testing</a:t>
            </a:r>
          </a:p>
          <a:p>
            <a:pPr lvl="2"/>
            <a:r>
              <a:rPr lang="en-GB" dirty="0"/>
              <a:t>Having done this for all </a:t>
            </a:r>
            <a:r>
              <a:rPr lang="en-GB" i="1" dirty="0"/>
              <a:t>k</a:t>
            </a:r>
            <a:r>
              <a:rPr lang="en-GB" dirty="0"/>
              <a:t> we estimate the accuracy of the method by averaging the accuracy over the </a:t>
            </a:r>
            <a:r>
              <a:rPr lang="en-GB" i="1" dirty="0"/>
              <a:t>k</a:t>
            </a:r>
            <a:r>
              <a:rPr lang="en-GB" dirty="0"/>
              <a:t> cross-validation trials</a:t>
            </a:r>
          </a:p>
          <a:p>
            <a:r>
              <a:rPr lang="en-GB" dirty="0" smtClean="0"/>
              <a:t>Called </a:t>
            </a:r>
            <a:r>
              <a:rPr lang="en-GB" i="1" dirty="0"/>
              <a:t>k-fold </a:t>
            </a:r>
            <a:r>
              <a:rPr lang="en-GB" i="1" dirty="0" smtClean="0"/>
              <a:t>cross-validation</a:t>
            </a:r>
            <a:endParaRPr lang="en-GB" dirty="0"/>
          </a:p>
          <a:p>
            <a:pPr lvl="1"/>
            <a:r>
              <a:rPr lang="en-GB" dirty="0" smtClean="0"/>
              <a:t>Usually </a:t>
            </a:r>
            <a:r>
              <a:rPr lang="en-GB" i="1" dirty="0"/>
              <a:t>k</a:t>
            </a:r>
            <a:r>
              <a:rPr lang="en-GB" dirty="0"/>
              <a:t>=10</a:t>
            </a:r>
          </a:p>
          <a:p>
            <a:pPr lvl="1"/>
            <a:r>
              <a:rPr lang="en-GB" dirty="0" smtClean="0"/>
              <a:t>Subsets </a:t>
            </a:r>
            <a:r>
              <a:rPr lang="en-GB" dirty="0"/>
              <a:t>are </a:t>
            </a:r>
            <a:r>
              <a:rPr lang="en-GB" dirty="0" smtClean="0"/>
              <a:t>generally stratified </a:t>
            </a:r>
            <a:r>
              <a:rPr lang="en-GB" dirty="0"/>
              <a:t>before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the CV is performed</a:t>
            </a:r>
          </a:p>
          <a:p>
            <a:pPr lvl="1"/>
            <a:r>
              <a:rPr lang="en-GB" dirty="0" smtClean="0"/>
              <a:t>The </a:t>
            </a:r>
            <a:r>
              <a:rPr lang="en-GB" dirty="0"/>
              <a:t>error estimates are averaged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to </a:t>
            </a:r>
            <a:r>
              <a:rPr lang="en-GB" dirty="0"/>
              <a:t>yield an </a:t>
            </a:r>
            <a:r>
              <a:rPr lang="en-GB" dirty="0" smtClean="0"/>
              <a:t>overall error </a:t>
            </a:r>
            <a:r>
              <a:rPr lang="en-GB" dirty="0"/>
              <a:t>estimate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Cross-</a:t>
            </a:r>
            <a:r>
              <a:rPr lang="es-ES" dirty="0" err="1" smtClean="0"/>
              <a:t>Validation</a:t>
            </a:r>
            <a:endParaRPr lang="en-GB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962400"/>
            <a:ext cx="2362200" cy="2409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6277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Evaluation</a:t>
            </a:r>
            <a:r>
              <a:rPr lang="es-ES" dirty="0" smtClean="0"/>
              <a:t> </a:t>
            </a:r>
            <a:r>
              <a:rPr lang="es-ES" dirty="0" err="1" smtClean="0"/>
              <a:t>Measures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 smtClean="0"/>
              <a:t>From</a:t>
            </a:r>
            <a:r>
              <a:rPr lang="es-ES" dirty="0" smtClean="0"/>
              <a:t> </a:t>
            </a:r>
            <a:r>
              <a:rPr lang="es-ES" dirty="0" err="1" smtClean="0"/>
              <a:t>the</a:t>
            </a:r>
            <a:r>
              <a:rPr lang="es-ES" dirty="0" smtClean="0"/>
              <a:t> </a:t>
            </a:r>
            <a:r>
              <a:rPr lang="es-ES" dirty="0" err="1" smtClean="0">
                <a:solidFill>
                  <a:srgbClr val="FF0000"/>
                </a:solidFill>
              </a:rPr>
              <a:t>confusion</a:t>
            </a:r>
            <a:r>
              <a:rPr lang="es-ES" dirty="0" smtClean="0">
                <a:solidFill>
                  <a:srgbClr val="FF0000"/>
                </a:solidFill>
              </a:rPr>
              <a:t> </a:t>
            </a:r>
            <a:r>
              <a:rPr lang="es-ES" dirty="0" err="1" smtClean="0">
                <a:solidFill>
                  <a:srgbClr val="FF0000"/>
                </a:solidFill>
              </a:rPr>
              <a:t>matrix</a:t>
            </a:r>
            <a:r>
              <a:rPr lang="es-ES" dirty="0" smtClean="0"/>
              <a:t>, </a:t>
            </a:r>
            <a:r>
              <a:rPr lang="es-ES" dirty="0" err="1" smtClean="0"/>
              <a:t>we</a:t>
            </a:r>
            <a:r>
              <a:rPr lang="es-ES" dirty="0" smtClean="0"/>
              <a:t> can </a:t>
            </a:r>
            <a:r>
              <a:rPr lang="es-ES" dirty="0" err="1" smtClean="0"/>
              <a:t>obtain</a:t>
            </a:r>
            <a:r>
              <a:rPr lang="es-ES" dirty="0" smtClean="0"/>
              <a:t> </a:t>
            </a:r>
            <a:r>
              <a:rPr lang="es-ES" dirty="0" err="1" smtClean="0"/>
              <a:t>multiple</a:t>
            </a:r>
            <a:r>
              <a:rPr lang="es-ES" dirty="0" smtClean="0"/>
              <a:t> </a:t>
            </a:r>
            <a:r>
              <a:rPr lang="es-ES" dirty="0" err="1" smtClean="0"/>
              <a:t>measures</a:t>
            </a:r>
            <a:r>
              <a:rPr lang="es-ES" dirty="0"/>
              <a:t> </a:t>
            </a:r>
            <a:r>
              <a:rPr lang="es-ES" dirty="0" err="1" smtClean="0"/>
              <a:t>about</a:t>
            </a:r>
            <a:r>
              <a:rPr lang="es-ES" dirty="0" smtClean="0"/>
              <a:t> </a:t>
            </a:r>
            <a:r>
              <a:rPr lang="es-ES" dirty="0" err="1" smtClean="0"/>
              <a:t>the</a:t>
            </a:r>
            <a:r>
              <a:rPr lang="es-ES" dirty="0" smtClean="0"/>
              <a:t> </a:t>
            </a:r>
            <a:r>
              <a:rPr lang="es-ES" dirty="0" err="1" smtClean="0"/>
              <a:t>goodness</a:t>
            </a:r>
            <a:r>
              <a:rPr lang="es-ES" dirty="0" smtClean="0"/>
              <a:t> of a </a:t>
            </a:r>
            <a:r>
              <a:rPr lang="es-ES" dirty="0" err="1" smtClean="0"/>
              <a:t>classifier</a:t>
            </a:r>
            <a:r>
              <a:rPr lang="es-ES" dirty="0" smtClean="0"/>
              <a:t>.</a:t>
            </a:r>
          </a:p>
          <a:p>
            <a:r>
              <a:rPr lang="es-ES" dirty="0" err="1" smtClean="0"/>
              <a:t>E.g</a:t>
            </a:r>
            <a:r>
              <a:rPr lang="es-ES" dirty="0" smtClean="0"/>
              <a:t>. </a:t>
            </a:r>
            <a:r>
              <a:rPr lang="es-ES" dirty="0" err="1" smtClean="0"/>
              <a:t>for</a:t>
            </a:r>
            <a:r>
              <a:rPr lang="es-ES" dirty="0" smtClean="0"/>
              <a:t> a </a:t>
            </a:r>
            <a:r>
              <a:rPr lang="es-ES" dirty="0" err="1" smtClean="0"/>
              <a:t>binary</a:t>
            </a:r>
            <a:r>
              <a:rPr lang="es-ES" dirty="0" smtClean="0"/>
              <a:t> </a:t>
            </a:r>
            <a:r>
              <a:rPr lang="es-ES" dirty="0" err="1" smtClean="0"/>
              <a:t>problem</a:t>
            </a:r>
            <a:r>
              <a:rPr lang="es-ES" dirty="0" smtClean="0"/>
              <a:t>: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916194"/>
              </p:ext>
            </p:extLst>
          </p:nvPr>
        </p:nvGraphicFramePr>
        <p:xfrm>
          <a:off x="533400" y="3200400"/>
          <a:ext cx="8305799" cy="25145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5746"/>
                <a:gridCol w="893385"/>
                <a:gridCol w="2265218"/>
                <a:gridCol w="2340725"/>
                <a:gridCol w="2340725"/>
              </a:tblGrid>
              <a:tr h="271130"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 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 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Predicted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 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711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 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 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Positive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Negative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 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60867">
                <a:tc rowSpan="2"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Actual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Positive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</a:rPr>
                        <a:t>TP True Positive</a:t>
                      </a:r>
                      <a:endParaRPr lang="en-GB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</a:rPr>
                        <a:t>FN False </a:t>
                      </a:r>
                      <a:r>
                        <a:rPr lang="en-GB" sz="1400" b="1" dirty="0" smtClean="0">
                          <a:effectLst/>
                        </a:rPr>
                        <a:t>Negative</a:t>
                      </a:r>
                      <a:br>
                        <a:rPr lang="en-GB" sz="1400" b="1" dirty="0" smtClean="0">
                          <a:effectLst/>
                        </a:rPr>
                      </a:br>
                      <a:r>
                        <a:rPr lang="en-GB" sz="1400" b="1" dirty="0" smtClean="0">
                          <a:effectLst/>
                        </a:rPr>
                        <a:t>(Type II error)</a:t>
                      </a:r>
                      <a:endParaRPr lang="en-GB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TPrate=TP/(TP+FN)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(Sensitivity, Recall)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6086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Negative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</a:rPr>
                        <a:t>FP False </a:t>
                      </a:r>
                      <a:r>
                        <a:rPr lang="en-GB" sz="1400" b="1" dirty="0" smtClean="0">
                          <a:effectLst/>
                        </a:rPr>
                        <a:t>Positive</a:t>
                      </a:r>
                      <a:br>
                        <a:rPr lang="en-GB" sz="1400" b="1" dirty="0" smtClean="0">
                          <a:effectLst/>
                        </a:rPr>
                      </a:br>
                      <a:r>
                        <a:rPr lang="en-GB" sz="1400" b="1" dirty="0" smtClean="0">
                          <a:effectLst/>
                        </a:rPr>
                        <a:t>(Type</a:t>
                      </a:r>
                      <a:r>
                        <a:rPr lang="en-GB" sz="1400" b="1" baseline="0" dirty="0" smtClean="0">
                          <a:effectLst/>
                        </a:rPr>
                        <a:t> I error)</a:t>
                      </a:r>
                      <a:endParaRPr lang="en-GB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effectLst/>
                        </a:rPr>
                        <a:t>TN True Negative</a:t>
                      </a:r>
                      <a:endParaRPr lang="en-GB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TNrate=TN/(FP+TN)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(Specificity)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8506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 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 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PPV=TP/(TP+FP)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Positive Predictive Value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(Confidence, Precision)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NPV=TN/(FN+TN)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Negative Predicted Value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Accuracy=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TP+FP/(TP+TN+FP+FN)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21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Evaluation</a:t>
            </a:r>
            <a:r>
              <a:rPr lang="es-ES" dirty="0" smtClean="0"/>
              <a:t> </a:t>
            </a:r>
            <a:r>
              <a:rPr lang="es-ES" dirty="0" err="1" smtClean="0"/>
              <a:t>Measures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Many times </a:t>
            </a:r>
            <a:r>
              <a:rPr lang="es-ES" dirty="0" err="1" smtClean="0"/>
              <a:t>we</a:t>
            </a:r>
            <a:r>
              <a:rPr lang="es-ES" dirty="0" smtClean="0"/>
              <a:t> </a:t>
            </a:r>
            <a:r>
              <a:rPr lang="es-ES" dirty="0" err="1" smtClean="0"/>
              <a:t>need</a:t>
            </a:r>
            <a:r>
              <a:rPr lang="es-ES" dirty="0" smtClean="0"/>
              <a:t> </a:t>
            </a:r>
            <a:r>
              <a:rPr lang="es-ES" dirty="0" err="1" smtClean="0"/>
              <a:t>to</a:t>
            </a:r>
            <a:r>
              <a:rPr lang="es-ES" dirty="0" smtClean="0"/>
              <a:t> combine </a:t>
            </a:r>
            <a:r>
              <a:rPr lang="es-ES" dirty="0" err="1" smtClean="0"/>
              <a:t>the</a:t>
            </a:r>
            <a:r>
              <a:rPr lang="es-ES" dirty="0" smtClean="0"/>
              <a:t> TP and FP </a:t>
            </a:r>
            <a:r>
              <a:rPr lang="es-ES" dirty="0" err="1" smtClean="0"/>
              <a:t>to</a:t>
            </a:r>
            <a:r>
              <a:rPr lang="es-ES" dirty="0" smtClean="0"/>
              <a:t> </a:t>
            </a:r>
            <a:r>
              <a:rPr lang="es-ES" dirty="0" err="1" smtClean="0"/>
              <a:t>estimate</a:t>
            </a:r>
            <a:r>
              <a:rPr lang="es-ES" dirty="0" smtClean="0"/>
              <a:t> </a:t>
            </a:r>
            <a:r>
              <a:rPr lang="es-ES" dirty="0" err="1" smtClean="0"/>
              <a:t>the</a:t>
            </a:r>
            <a:r>
              <a:rPr lang="es-ES" dirty="0" smtClean="0"/>
              <a:t> </a:t>
            </a:r>
            <a:r>
              <a:rPr lang="es-ES" dirty="0" err="1" smtClean="0"/>
              <a:t>goodness</a:t>
            </a:r>
            <a:r>
              <a:rPr lang="es-ES" dirty="0" smtClean="0"/>
              <a:t> of a </a:t>
            </a:r>
            <a:r>
              <a:rPr lang="es-ES" dirty="0" err="1" smtClean="0"/>
              <a:t>classifier</a:t>
            </a:r>
            <a:r>
              <a:rPr lang="es-ES" dirty="0" smtClean="0"/>
              <a:t> </a:t>
            </a:r>
            <a:endParaRPr lang="es-ES" dirty="0"/>
          </a:p>
          <a:p>
            <a:pPr lvl="1"/>
            <a:r>
              <a:rPr lang="es-ES" dirty="0" err="1" smtClean="0"/>
              <a:t>For</a:t>
            </a:r>
            <a:r>
              <a:rPr lang="es-ES" dirty="0" smtClean="0"/>
              <a:t> </a:t>
            </a:r>
            <a:r>
              <a:rPr lang="es-ES" dirty="0" err="1" smtClean="0"/>
              <a:t>example</a:t>
            </a:r>
            <a:r>
              <a:rPr lang="es-ES" dirty="0" smtClean="0"/>
              <a:t>, </a:t>
            </a:r>
            <a:r>
              <a:rPr lang="es-ES" dirty="0" err="1" smtClean="0"/>
              <a:t>with</a:t>
            </a:r>
            <a:r>
              <a:rPr lang="es-ES" dirty="0" smtClean="0"/>
              <a:t> </a:t>
            </a:r>
            <a:r>
              <a:rPr lang="es-ES" dirty="0" err="1" smtClean="0"/>
              <a:t>imbalance</a:t>
            </a:r>
            <a:r>
              <a:rPr lang="es-ES" dirty="0" smtClean="0"/>
              <a:t> data, </a:t>
            </a:r>
            <a:r>
              <a:rPr lang="es-ES" dirty="0" err="1" smtClean="0"/>
              <a:t>the</a:t>
            </a:r>
            <a:r>
              <a:rPr lang="es-ES" dirty="0" smtClean="0"/>
              <a:t> </a:t>
            </a:r>
            <a:r>
              <a:rPr lang="es-ES" dirty="0" err="1" smtClean="0"/>
              <a:t>accuracy</a:t>
            </a:r>
            <a:r>
              <a:rPr lang="es-ES" dirty="0" smtClean="0"/>
              <a:t> of a </a:t>
            </a:r>
            <a:r>
              <a:rPr lang="es-ES" dirty="0" err="1" smtClean="0"/>
              <a:t>classifer</a:t>
            </a:r>
            <a:r>
              <a:rPr lang="es-ES" dirty="0" smtClean="0"/>
              <a:t> </a:t>
            </a:r>
            <a:r>
              <a:rPr lang="es-ES" dirty="0" err="1" smtClean="0"/>
              <a:t>needs</a:t>
            </a:r>
            <a:r>
              <a:rPr lang="es-ES" dirty="0" smtClean="0"/>
              <a:t> </a:t>
            </a:r>
            <a:r>
              <a:rPr lang="es-ES" dirty="0" err="1" smtClean="0"/>
              <a:t>to</a:t>
            </a:r>
            <a:r>
              <a:rPr lang="es-ES" dirty="0" smtClean="0"/>
              <a:t> </a:t>
            </a:r>
            <a:r>
              <a:rPr lang="es-ES" dirty="0" err="1" smtClean="0"/>
              <a:t>improve</a:t>
            </a:r>
            <a:r>
              <a:rPr lang="es-ES" dirty="0" smtClean="0"/>
              <a:t> </a:t>
            </a:r>
            <a:r>
              <a:rPr lang="es-ES" dirty="0" err="1" smtClean="0"/>
              <a:t>the</a:t>
            </a:r>
            <a:r>
              <a:rPr lang="es-ES" dirty="0" smtClean="0"/>
              <a:t> </a:t>
            </a:r>
            <a:r>
              <a:rPr lang="es-ES" dirty="0" err="1" smtClean="0"/>
              <a:t>percentage</a:t>
            </a:r>
            <a:r>
              <a:rPr lang="es-ES" dirty="0" smtClean="0"/>
              <a:t> of </a:t>
            </a:r>
            <a:r>
              <a:rPr lang="es-ES" dirty="0" err="1" smtClean="0"/>
              <a:t>the</a:t>
            </a:r>
            <a:r>
              <a:rPr lang="es-ES" dirty="0" smtClean="0"/>
              <a:t> </a:t>
            </a:r>
            <a:r>
              <a:rPr lang="es-ES" dirty="0" err="1" smtClean="0"/>
              <a:t>mayority</a:t>
            </a:r>
            <a:r>
              <a:rPr lang="es-ES" dirty="0" smtClean="0"/>
              <a:t> </a:t>
            </a:r>
            <a:r>
              <a:rPr lang="es-ES" dirty="0" err="1" smtClean="0"/>
              <a:t>class</a:t>
            </a:r>
            <a:r>
              <a:rPr lang="es-ES" dirty="0" smtClean="0"/>
              <a:t>. In a </a:t>
            </a:r>
            <a:r>
              <a:rPr lang="es-ES" dirty="0" err="1" smtClean="0"/>
              <a:t>binay</a:t>
            </a:r>
            <a:r>
              <a:rPr lang="es-ES" dirty="0" smtClean="0"/>
              <a:t> </a:t>
            </a:r>
            <a:r>
              <a:rPr lang="es-ES" dirty="0" err="1" smtClean="0"/>
              <a:t>problem</a:t>
            </a:r>
            <a:r>
              <a:rPr lang="es-ES" dirty="0" smtClean="0"/>
              <a:t> and 50/50 </a:t>
            </a:r>
            <a:r>
              <a:rPr lang="es-ES" dirty="0" err="1" smtClean="0"/>
              <a:t>distribution</a:t>
            </a:r>
            <a:r>
              <a:rPr lang="es-ES" dirty="0" smtClean="0"/>
              <a:t>, </a:t>
            </a:r>
            <a:r>
              <a:rPr lang="es-ES" dirty="0" err="1" smtClean="0"/>
              <a:t>we</a:t>
            </a:r>
            <a:r>
              <a:rPr lang="es-ES" dirty="0" smtClean="0"/>
              <a:t> </a:t>
            </a:r>
            <a:r>
              <a:rPr lang="es-ES" dirty="0" err="1" smtClean="0"/>
              <a:t>need</a:t>
            </a:r>
            <a:r>
              <a:rPr lang="es-ES" dirty="0" smtClean="0"/>
              <a:t> </a:t>
            </a:r>
            <a:r>
              <a:rPr lang="es-ES" dirty="0" err="1" smtClean="0"/>
              <a:t>improve</a:t>
            </a:r>
            <a:r>
              <a:rPr lang="es-ES" dirty="0" smtClean="0"/>
              <a:t> </a:t>
            </a:r>
            <a:r>
              <a:rPr lang="es-ES" dirty="0" err="1" smtClean="0"/>
              <a:t>accuracy</a:t>
            </a:r>
            <a:r>
              <a:rPr lang="es-ES" dirty="0" smtClean="0"/>
              <a:t> </a:t>
            </a:r>
            <a:r>
              <a:rPr lang="es-ES" dirty="0" err="1" smtClean="0"/>
              <a:t>over</a:t>
            </a:r>
            <a:r>
              <a:rPr lang="es-ES" dirty="0" smtClean="0"/>
              <a:t> 50%. </a:t>
            </a:r>
            <a:r>
              <a:rPr lang="es-ES" dirty="0" err="1" smtClean="0"/>
              <a:t>However</a:t>
            </a:r>
            <a:r>
              <a:rPr lang="es-ES" dirty="0" smtClean="0"/>
              <a:t> </a:t>
            </a:r>
            <a:r>
              <a:rPr lang="es-ES" dirty="0" err="1" smtClean="0"/>
              <a:t>if</a:t>
            </a:r>
            <a:r>
              <a:rPr lang="es-ES" dirty="0" smtClean="0"/>
              <a:t> </a:t>
            </a:r>
            <a:r>
              <a:rPr lang="es-ES" dirty="0" err="1" smtClean="0"/>
              <a:t>the</a:t>
            </a:r>
            <a:r>
              <a:rPr lang="es-ES" dirty="0" smtClean="0"/>
              <a:t> </a:t>
            </a:r>
            <a:r>
              <a:rPr lang="es-ES" dirty="0" err="1" smtClean="0"/>
              <a:t>distribution</a:t>
            </a:r>
            <a:r>
              <a:rPr lang="es-ES" dirty="0" smtClean="0"/>
              <a:t> </a:t>
            </a:r>
            <a:r>
              <a:rPr lang="es-ES" dirty="0" err="1" smtClean="0"/>
              <a:t>is</a:t>
            </a:r>
            <a:r>
              <a:rPr lang="es-ES" dirty="0" smtClean="0"/>
              <a:t> 90/10, </a:t>
            </a:r>
            <a:r>
              <a:rPr lang="es-ES" dirty="0" err="1" smtClean="0"/>
              <a:t>accuracy</a:t>
            </a:r>
            <a:r>
              <a:rPr lang="es-ES" dirty="0" smtClean="0"/>
              <a:t> </a:t>
            </a:r>
            <a:r>
              <a:rPr lang="es-ES" dirty="0" err="1" smtClean="0"/>
              <a:t>needs</a:t>
            </a:r>
            <a:r>
              <a:rPr lang="es-ES" dirty="0" smtClean="0"/>
              <a:t> </a:t>
            </a:r>
            <a:r>
              <a:rPr lang="es-ES" dirty="0" err="1" smtClean="0"/>
              <a:t>to</a:t>
            </a:r>
            <a:r>
              <a:rPr lang="es-ES" dirty="0" smtClean="0"/>
              <a:t> be </a:t>
            </a:r>
            <a:r>
              <a:rPr lang="es-ES" dirty="0" err="1" smtClean="0"/>
              <a:t>over</a:t>
            </a:r>
            <a:r>
              <a:rPr lang="es-ES" dirty="0" smtClean="0"/>
              <a:t> 90%</a:t>
            </a:r>
          </a:p>
          <a:p>
            <a:r>
              <a:rPr lang="en-GB" i="1" dirty="0" smtClean="0"/>
              <a:t>f </a:t>
            </a:r>
            <a:r>
              <a:rPr lang="en-GB" i="1" dirty="0"/>
              <a:t>−measure </a:t>
            </a:r>
            <a:r>
              <a:rPr lang="en-GB" dirty="0" smtClean="0"/>
              <a:t>is an </a:t>
            </a:r>
            <a:r>
              <a:rPr lang="en-GB" dirty="0"/>
              <a:t>harmonic median of </a:t>
            </a:r>
            <a:r>
              <a:rPr lang="en-GB" dirty="0" smtClean="0"/>
              <a:t>these proportions:</a:t>
            </a:r>
          </a:p>
          <a:p>
            <a:endParaRPr lang="es-ES" dirty="0"/>
          </a:p>
          <a:p>
            <a:endParaRPr lang="es-ES" dirty="0" smtClean="0"/>
          </a:p>
          <a:p>
            <a:r>
              <a:rPr lang="es-ES" dirty="0" smtClean="0"/>
              <a:t>AUC (</a:t>
            </a:r>
            <a:r>
              <a:rPr lang="es-ES" dirty="0" err="1" smtClean="0"/>
              <a:t>Area</a:t>
            </a:r>
            <a:r>
              <a:rPr lang="es-ES" dirty="0" smtClean="0"/>
              <a:t> </a:t>
            </a:r>
            <a:r>
              <a:rPr lang="es-ES" dirty="0" err="1" smtClean="0"/>
              <a:t>under</a:t>
            </a:r>
            <a:r>
              <a:rPr lang="es-ES" dirty="0" smtClean="0"/>
              <a:t> </a:t>
            </a:r>
            <a:r>
              <a:rPr lang="es-ES" dirty="0" err="1" smtClean="0"/>
              <a:t>the</a:t>
            </a:r>
            <a:r>
              <a:rPr lang="es-ES" dirty="0" smtClean="0"/>
              <a:t> ROC)</a:t>
            </a:r>
            <a:endParaRPr lang="en-GB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57400" y="4419600"/>
                <a:ext cx="4572000" cy="792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>
                          <a:latin typeface="Cambria Math"/>
                        </a:rPr>
                        <m:t>𝑓</m:t>
                      </m:r>
                      <m:r>
                        <a:rPr lang="es-ES" sz="2400" i="1">
                          <a:latin typeface="Cambria Math"/>
                        </a:rPr>
                        <m:t>−</m:t>
                      </m:r>
                      <m:r>
                        <a:rPr lang="es-ES" sz="2400" i="1">
                          <a:latin typeface="Cambria Math"/>
                        </a:rPr>
                        <m:t>𝑚𝑒𝑎𝑠𝑢𝑟𝑒</m:t>
                      </m:r>
                      <m:r>
                        <a:rPr lang="es-ES" sz="2400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s-ES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2400" i="1">
                              <a:latin typeface="Cambria Math"/>
                            </a:rPr>
                            <m:t>2 </m:t>
                          </m:r>
                          <m:r>
                            <a:rPr lang="es-ES" sz="2400" i="1">
                              <a:latin typeface="Cambria Math"/>
                            </a:rPr>
                            <m:t>𝑇𝑃</m:t>
                          </m:r>
                        </m:num>
                        <m:den>
                          <m:r>
                            <a:rPr lang="es-ES" sz="2400" i="1">
                              <a:latin typeface="Cambria Math"/>
                            </a:rPr>
                            <m:t>2 </m:t>
                          </m:r>
                          <m:r>
                            <a:rPr lang="es-ES" sz="2400" i="1">
                              <a:latin typeface="Cambria Math"/>
                            </a:rPr>
                            <m:t>𝑇𝑃</m:t>
                          </m:r>
                          <m:r>
                            <a:rPr lang="es-ES" sz="2400" i="1">
                              <a:latin typeface="Cambria Math"/>
                            </a:rPr>
                            <m:t>+</m:t>
                          </m:r>
                          <m:r>
                            <a:rPr lang="es-ES" sz="2400" i="1">
                              <a:latin typeface="Cambria Math"/>
                            </a:rPr>
                            <m:t>𝐹𝑃</m:t>
                          </m:r>
                          <m:r>
                            <a:rPr lang="es-ES" sz="2400" i="1">
                              <a:latin typeface="Cambria Math"/>
                            </a:rPr>
                            <m:t>+</m:t>
                          </m:r>
                          <m:r>
                            <a:rPr lang="es-ES" sz="2400" i="1">
                              <a:latin typeface="Cambria Math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4419600"/>
                <a:ext cx="4572000" cy="79239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05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Evaluation: </a:t>
            </a:r>
            <a:r>
              <a:rPr lang="en-GB" dirty="0" err="1" smtClean="0"/>
              <a:t>Underfitting</a:t>
            </a:r>
            <a:r>
              <a:rPr lang="en-GB" dirty="0" smtClean="0"/>
              <a:t> vs. </a:t>
            </a:r>
            <a:r>
              <a:rPr lang="en-GB" dirty="0" err="1" smtClean="0"/>
              <a:t>Overfitting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 smtClean="0"/>
              <a:t>Underfitting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 smtClean="0"/>
              <a:t> </a:t>
            </a:r>
            <a:r>
              <a:rPr lang="es-ES" dirty="0" err="1" smtClean="0"/>
              <a:t>Too</a:t>
            </a:r>
            <a:r>
              <a:rPr lang="es-ES" dirty="0" smtClean="0"/>
              <a:t> simple </a:t>
            </a:r>
            <a:r>
              <a:rPr lang="es-ES" dirty="0" err="1" smtClean="0"/>
              <a:t>model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 err="1"/>
              <a:t>Overfitting</a:t>
            </a:r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ES" dirty="0" err="1" smtClean="0"/>
              <a:t>Too</a:t>
            </a:r>
            <a:r>
              <a:rPr lang="es-ES" dirty="0" smtClean="0"/>
              <a:t> </a:t>
            </a:r>
            <a:r>
              <a:rPr lang="es-ES" dirty="0" err="1" smtClean="0"/>
              <a:t>complex</a:t>
            </a:r>
            <a:r>
              <a:rPr lang="es-ES" dirty="0" smtClean="0"/>
              <a:t> </a:t>
            </a:r>
            <a:r>
              <a:rPr lang="es-ES" dirty="0" err="1" smtClean="0"/>
              <a:t>model</a:t>
            </a:r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235612" y="3652860"/>
            <a:ext cx="2660200" cy="21887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365066" y="3657600"/>
            <a:ext cx="2667000" cy="22399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299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Overfitting</a:t>
            </a:r>
            <a:r>
              <a:rPr lang="en-GB" dirty="0"/>
              <a:t> – Decision trees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 dirty="0" smtClean="0"/>
              <a:t>Increasing the tree size, decreases the training and testing errors. However, at some point after (tree complexity), training error keeps decreasing but testing error increases</a:t>
            </a:r>
            <a:endParaRPr lang="fi-FI" dirty="0"/>
          </a:p>
          <a:p>
            <a:pPr lvl="1"/>
            <a:r>
              <a:rPr lang="fi-FI" dirty="0" smtClean="0"/>
              <a:t>Many algorithms have parameters to determine the model complexity (e.g., in decision trees is the prunning parameter)</a:t>
            </a:r>
            <a:endParaRPr lang="fi-FI" dirty="0"/>
          </a:p>
          <a:p>
            <a:pPr lvl="0"/>
            <a:endParaRPr lang="fi-FI" dirty="0"/>
          </a:p>
          <a:p>
            <a:endParaRPr lang="en-GB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191000"/>
            <a:ext cx="4066128" cy="21336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694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Evaluation</a:t>
            </a:r>
            <a:r>
              <a:rPr lang="es-ES" dirty="0" smtClean="0"/>
              <a:t>: </a:t>
            </a:r>
            <a:r>
              <a:rPr lang="es-ES" dirty="0" err="1" smtClean="0"/>
              <a:t>Cost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 smtClean="0"/>
              <a:t>In </a:t>
            </a:r>
            <a:r>
              <a:rPr lang="es-ES" dirty="0" err="1" smtClean="0"/>
              <a:t>many</a:t>
            </a:r>
            <a:r>
              <a:rPr lang="es-ES" dirty="0" smtClean="0"/>
              <a:t> cases </a:t>
            </a:r>
            <a:r>
              <a:rPr lang="es-ES" dirty="0" err="1" smtClean="0"/>
              <a:t>to</a:t>
            </a:r>
            <a:r>
              <a:rPr lang="es-ES" dirty="0" smtClean="0"/>
              <a:t> </a:t>
            </a:r>
            <a:r>
              <a:rPr lang="es-ES" dirty="0" err="1" smtClean="0"/>
              <a:t>fail</a:t>
            </a:r>
            <a:r>
              <a:rPr lang="es-ES" dirty="0" smtClean="0"/>
              <a:t> in </a:t>
            </a:r>
            <a:r>
              <a:rPr lang="es-ES" dirty="0" err="1" smtClean="0"/>
              <a:t>one</a:t>
            </a:r>
            <a:r>
              <a:rPr lang="es-ES" dirty="0" smtClean="0"/>
              <a:t> </a:t>
            </a:r>
            <a:r>
              <a:rPr lang="es-ES" dirty="0" err="1" smtClean="0"/>
              <a:t>way</a:t>
            </a:r>
            <a:r>
              <a:rPr lang="es-ES" dirty="0" smtClean="0"/>
              <a:t> </a:t>
            </a:r>
            <a:r>
              <a:rPr lang="es-ES" dirty="0" err="1" smtClean="0"/>
              <a:t>is</a:t>
            </a:r>
            <a:r>
              <a:rPr lang="es-ES" dirty="0" smtClean="0"/>
              <a:t> </a:t>
            </a:r>
            <a:r>
              <a:rPr lang="es-ES" dirty="0" err="1" smtClean="0"/>
              <a:t>not</a:t>
            </a:r>
            <a:r>
              <a:rPr lang="es-ES" dirty="0" smtClean="0"/>
              <a:t> </a:t>
            </a:r>
            <a:r>
              <a:rPr lang="es-ES" dirty="0" err="1" smtClean="0"/>
              <a:t>the</a:t>
            </a:r>
            <a:r>
              <a:rPr lang="es-ES" dirty="0" smtClean="0"/>
              <a:t> </a:t>
            </a:r>
            <a:r>
              <a:rPr lang="es-ES" dirty="0" err="1" smtClean="0"/>
              <a:t>same</a:t>
            </a:r>
            <a:r>
              <a:rPr lang="es-ES" dirty="0" smtClean="0"/>
              <a:t> as </a:t>
            </a:r>
            <a:r>
              <a:rPr lang="es-ES" dirty="0" err="1" smtClean="0"/>
              <a:t>failing</a:t>
            </a:r>
            <a:r>
              <a:rPr lang="es-ES" dirty="0" smtClean="0"/>
              <a:t> in </a:t>
            </a:r>
            <a:r>
              <a:rPr lang="es-ES" dirty="0" err="1" smtClean="0"/>
              <a:t>the</a:t>
            </a:r>
            <a:r>
              <a:rPr lang="es-ES" dirty="0" smtClean="0"/>
              <a:t> </a:t>
            </a:r>
            <a:r>
              <a:rPr lang="es-ES" dirty="0" err="1" smtClean="0"/>
              <a:t>other</a:t>
            </a:r>
            <a:r>
              <a:rPr lang="es-ES" dirty="0" smtClean="0"/>
              <a:t> </a:t>
            </a:r>
            <a:r>
              <a:rPr lang="es-ES" dirty="0" err="1" smtClean="0"/>
              <a:t>one</a:t>
            </a:r>
            <a:r>
              <a:rPr lang="es-ES" dirty="0" smtClean="0"/>
              <a:t> (</a:t>
            </a:r>
            <a:r>
              <a:rPr lang="es-ES" dirty="0" err="1" smtClean="0"/>
              <a:t>Type</a:t>
            </a:r>
            <a:r>
              <a:rPr lang="es-ES" dirty="0" smtClean="0"/>
              <a:t> I error vs. </a:t>
            </a:r>
            <a:r>
              <a:rPr lang="es-ES" dirty="0" err="1" smtClean="0"/>
              <a:t>Type</a:t>
            </a:r>
            <a:r>
              <a:rPr lang="es-ES" dirty="0" smtClean="0"/>
              <a:t> II error). </a:t>
            </a:r>
            <a:endParaRPr lang="fi-FI" dirty="0" smtClean="0"/>
          </a:p>
          <a:p>
            <a:pPr lvl="0"/>
            <a:r>
              <a:rPr lang="fi-FI" dirty="0" smtClean="0"/>
              <a:t>Cost can be considered when inducing the model from the data using the cost data.</a:t>
            </a:r>
          </a:p>
          <a:p>
            <a:pPr lvl="1"/>
            <a:r>
              <a:rPr lang="fi-FI" dirty="0" smtClean="0"/>
              <a:t>Cost sensitive classifiers</a:t>
            </a:r>
          </a:p>
          <a:p>
            <a:pPr lvl="1"/>
            <a:r>
              <a:rPr lang="fi-FI" dirty="0" smtClean="0"/>
              <a:t>Metacost (Dominos, 1999)</a:t>
            </a:r>
          </a:p>
          <a:p>
            <a:r>
              <a:rPr lang="es-ES" dirty="0" smtClean="0"/>
              <a:t>Ej. </a:t>
            </a:r>
            <a:r>
              <a:rPr lang="es-ES" dirty="0" err="1" smtClean="0"/>
              <a:t>Cost</a:t>
            </a:r>
            <a:r>
              <a:rPr lang="es-ES" dirty="0" smtClean="0"/>
              <a:t> matrices </a:t>
            </a:r>
          </a:p>
          <a:p>
            <a:pPr lvl="1"/>
            <a:r>
              <a:rPr lang="es-ES" dirty="0" err="1" smtClean="0"/>
              <a:t>by</a:t>
            </a:r>
            <a:r>
              <a:rPr lang="es-ES" dirty="0" smtClean="0"/>
              <a:t> default –</a:t>
            </a:r>
            <a:r>
              <a:rPr lang="es-ES" dirty="0" err="1" smtClean="0"/>
              <a:t>left</a:t>
            </a:r>
            <a:r>
              <a:rPr lang="es-ES" dirty="0" smtClean="0"/>
              <a:t>- and </a:t>
            </a:r>
            <a:r>
              <a:rPr lang="es-ES" dirty="0" err="1" smtClean="0"/>
              <a:t>considering</a:t>
            </a:r>
            <a:r>
              <a:rPr lang="es-ES" dirty="0" smtClean="0"/>
              <a:t> </a:t>
            </a:r>
            <a:r>
              <a:rPr lang="es-ES" dirty="0" err="1" smtClean="0"/>
              <a:t>cost</a:t>
            </a:r>
            <a:r>
              <a:rPr lang="es-ES" dirty="0" smtClean="0"/>
              <a:t> –</a:t>
            </a:r>
            <a:r>
              <a:rPr lang="es-ES" dirty="0" err="1" smtClean="0"/>
              <a:t>right</a:t>
            </a:r>
            <a:r>
              <a:rPr lang="es-ES" dirty="0" smtClean="0"/>
              <a:t>-: </a:t>
            </a: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96985"/>
              </p:ext>
            </p:extLst>
          </p:nvPr>
        </p:nvGraphicFramePr>
        <p:xfrm>
          <a:off x="762000" y="4800600"/>
          <a:ext cx="3124198" cy="16639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0538"/>
                <a:gridCol w="894861"/>
                <a:gridCol w="787401"/>
                <a:gridCol w="1041398"/>
              </a:tblGrid>
              <a:tr h="271130"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 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 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Predicted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2711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 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 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Positive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Negative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60867">
                <a:tc rowSpan="2"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Actual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Positive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 smtClean="0">
                          <a:effectLst/>
                        </a:rPr>
                        <a:t>0</a:t>
                      </a:r>
                      <a:endParaRPr lang="en-GB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 smtClean="0">
                          <a:effectLst/>
                        </a:rPr>
                        <a:t>1</a:t>
                      </a:r>
                      <a:endParaRPr lang="en-GB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6086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Negative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 smtClean="0">
                          <a:effectLst/>
                        </a:rPr>
                        <a:t>1</a:t>
                      </a:r>
                      <a:endParaRPr lang="en-GB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 smtClean="0">
                          <a:effectLst/>
                        </a:rPr>
                        <a:t>0</a:t>
                      </a:r>
                      <a:endParaRPr lang="en-GB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898872"/>
              </p:ext>
            </p:extLst>
          </p:nvPr>
        </p:nvGraphicFramePr>
        <p:xfrm>
          <a:off x="4876800" y="4800600"/>
          <a:ext cx="3124198" cy="16639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0538"/>
                <a:gridCol w="894861"/>
                <a:gridCol w="787401"/>
                <a:gridCol w="1041398"/>
              </a:tblGrid>
              <a:tr h="271130"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 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 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Predicted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2711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 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 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Positive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Negative</a:t>
                      </a:r>
                      <a:endParaRPr lang="en-GB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60867">
                <a:tc rowSpan="2">
                  <a:txBody>
                    <a:bodyPr/>
                    <a:lstStyle/>
                    <a:p>
                      <a:pPr marL="71755" marR="7175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Actual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Positive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 smtClean="0">
                          <a:effectLst/>
                        </a:rPr>
                        <a:t>0</a:t>
                      </a:r>
                      <a:endParaRPr lang="en-GB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 smtClean="0">
                          <a:effectLst/>
                        </a:rPr>
                        <a:t>15</a:t>
                      </a:r>
                      <a:endParaRPr lang="en-GB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6086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Negative</a:t>
                      </a:r>
                      <a:endParaRPr lang="en-GB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 smtClean="0">
                          <a:effectLst/>
                        </a:rPr>
                        <a:t>1</a:t>
                      </a:r>
                      <a:endParaRPr lang="en-GB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 smtClean="0">
                          <a:effectLst/>
                        </a:rPr>
                        <a:t>0</a:t>
                      </a:r>
                      <a:endParaRPr lang="en-GB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0917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Thanks!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Questions?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0046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3312</TotalTime>
  <Words>1605</Words>
  <Application>Microsoft Office PowerPoint</Application>
  <PresentationFormat>On-screen Show (4:3)</PresentationFormat>
  <Paragraphs>411</Paragraphs>
  <Slides>28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Clarity</vt:lpstr>
      <vt:lpstr>ｸﾘｯﾌﾟ</vt:lpstr>
      <vt:lpstr>Clip</vt:lpstr>
      <vt:lpstr>Photo Editor Photo</vt:lpstr>
      <vt:lpstr>Introduction  to Data Mining</vt:lpstr>
      <vt:lpstr>Outline</vt:lpstr>
      <vt:lpstr>Knowledge Discovery in Datasets</vt:lpstr>
      <vt:lpstr>Knowledge Discovery in Datasets</vt:lpstr>
      <vt:lpstr>Knowledge Discovery in Datasets</vt:lpstr>
      <vt:lpstr>KDD: Potential Applications</vt:lpstr>
      <vt:lpstr>KDD Process</vt:lpstr>
      <vt:lpstr>KDD Process</vt:lpstr>
      <vt:lpstr>KDD Process: Integration &amp; Recopilation</vt:lpstr>
      <vt:lpstr>KDD Process: Selection, cleaning and transformation</vt:lpstr>
      <vt:lpstr>KDD Model Classification</vt:lpstr>
      <vt:lpstr>Supervised learning - classifiers</vt:lpstr>
      <vt:lpstr>Supervised Techniques</vt:lpstr>
      <vt:lpstr>Unsupervised Techniques</vt:lpstr>
      <vt:lpstr>KDD Representation (Models)</vt:lpstr>
      <vt:lpstr>Decision Rules</vt:lpstr>
      <vt:lpstr>Decision Trees</vt:lpstr>
      <vt:lpstr>Hierarchical Decision Rules</vt:lpstr>
      <vt:lpstr>Association Rules</vt:lpstr>
      <vt:lpstr>Neural Networks</vt:lpstr>
      <vt:lpstr>Evaluation</vt:lpstr>
      <vt:lpstr>Cross-Validation</vt:lpstr>
      <vt:lpstr>Evaluation Measures</vt:lpstr>
      <vt:lpstr>Evaluation Measures</vt:lpstr>
      <vt:lpstr>Evaluation: Underfitting vs. Overfitting</vt:lpstr>
      <vt:lpstr>Overfitting – Decision trees example</vt:lpstr>
      <vt:lpstr>Evaluation: Cost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Subgroup Discovery in Defect Prediction</dc:title>
  <dc:creator>drg</dc:creator>
  <cp:lastModifiedBy>Conchi</cp:lastModifiedBy>
  <cp:revision>171</cp:revision>
  <dcterms:created xsi:type="dcterms:W3CDTF">2006-08-16T00:00:00Z</dcterms:created>
  <dcterms:modified xsi:type="dcterms:W3CDTF">2012-02-01T10:01:46Z</dcterms:modified>
</cp:coreProperties>
</file>