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317" r:id="rId2"/>
    <p:sldId id="332" r:id="rId3"/>
    <p:sldId id="318" r:id="rId4"/>
    <p:sldId id="319" r:id="rId5"/>
    <p:sldId id="321" r:id="rId6"/>
    <p:sldId id="322" r:id="rId7"/>
    <p:sldId id="323" r:id="rId8"/>
    <p:sldId id="324" r:id="rId9"/>
    <p:sldId id="325" r:id="rId10"/>
    <p:sldId id="326" r:id="rId11"/>
    <p:sldId id="327" r:id="rId12"/>
    <p:sldId id="328" r:id="rId13"/>
    <p:sldId id="277" r:id="rId14"/>
    <p:sldId id="331" r:id="rId15"/>
    <p:sldId id="279" r:id="rId16"/>
    <p:sldId id="330" r:id="rId17"/>
    <p:sldId id="282" r:id="rId18"/>
    <p:sldId id="283" r:id="rId19"/>
    <p:sldId id="284" r:id="rId20"/>
    <p:sldId id="285" r:id="rId21"/>
    <p:sldId id="307" r:id="rId22"/>
    <p:sldId id="308" r:id="rId23"/>
    <p:sldId id="309" r:id="rId24"/>
    <p:sldId id="313" r:id="rId25"/>
    <p:sldId id="334" r:id="rId26"/>
    <p:sldId id="335" r:id="rId27"/>
    <p:sldId id="329" r:id="rId28"/>
    <p:sldId id="336" r:id="rId29"/>
    <p:sldId id="338" r:id="rId30"/>
    <p:sldId id="33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70326" autoAdjust="0"/>
  </p:normalViewPr>
  <p:slideViewPr>
    <p:cSldViewPr>
      <p:cViewPr>
        <p:scale>
          <a:sx n="75" d="100"/>
          <a:sy n="75" d="100"/>
        </p:scale>
        <p:origin x="-18" y="-72"/>
      </p:cViewPr>
      <p:guideLst>
        <p:guide orient="horz" pos="2160"/>
        <p:guide pos="2880"/>
      </p:guideLst>
    </p:cSldViewPr>
  </p:slideViewPr>
  <p:notesTextViewPr>
    <p:cViewPr>
      <p:scale>
        <a:sx n="100" d="100"/>
        <a:sy n="100" d="100"/>
      </p:scale>
      <p:origin x="0" y="0"/>
    </p:cViewPr>
  </p:notesTextViewPr>
  <p:notesViewPr>
    <p:cSldViewPr>
      <p:cViewPr varScale="1">
        <p:scale>
          <a:sx n="67" d="100"/>
          <a:sy n="67" d="100"/>
        </p:scale>
        <p:origin x="-186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D1538A-2321-49BA-AE5F-A5444307E285}" type="datetimeFigureOut">
              <a:rPr lang="en-GB" smtClean="0"/>
              <a:pPr/>
              <a:t>01/02/2012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46186C-46FC-456A-B7F9-6C59E8B8113A}" type="slidenum">
              <a:rPr lang="en-GB" smtClean="0"/>
              <a:pPr/>
              <a:t>‹#›</a:t>
            </a:fld>
            <a:endParaRPr lang="en-GB"/>
          </a:p>
        </p:txBody>
      </p:sp>
    </p:spTree>
    <p:extLst>
      <p:ext uri="{BB962C8B-B14F-4D97-AF65-F5344CB8AC3E}">
        <p14:creationId xmlns:p14="http://schemas.microsoft.com/office/powerpoint/2010/main" val="1393754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002767" y="695134"/>
            <a:ext cx="4851027" cy="3428152"/>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002767" y="695134"/>
            <a:ext cx="4851027" cy="3428152"/>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4572000" cy="13687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Rectangle 14"/>
          <p:cNvSpPr/>
          <p:nvPr/>
        </p:nvSpPr>
        <p:spPr>
          <a:xfrm>
            <a:off x="0" y="4743451"/>
            <a:ext cx="9144000" cy="21145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0" y="4714875"/>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Date Placeholder 21"/>
          <p:cNvSpPr>
            <a:spLocks noGrp="1"/>
          </p:cNvSpPr>
          <p:nvPr>
            <p:ph type="dt" sz="half" idx="10"/>
          </p:nvPr>
        </p:nvSpPr>
        <p:spPr/>
        <p:txBody>
          <a:bodyPr/>
          <a:lstStyle/>
          <a:p>
            <a:fld id="{1D8BD707-D9CF-40AE-B4C6-C98DA3205C09}" type="datetimeFigureOut">
              <a:rPr lang="en-US" smtClean="0"/>
              <a:pPr/>
              <a:t>2/1/2012</a:t>
            </a:fld>
            <a:endParaRPr lang="en-US"/>
          </a:p>
        </p:txBody>
      </p:sp>
      <p:sp>
        <p:nvSpPr>
          <p:cNvPr id="23" name="Slide Number Placeholder 22"/>
          <p:cNvSpPr>
            <a:spLocks noGrp="1"/>
          </p:cNvSpPr>
          <p:nvPr>
            <p:ph type="sldNum" sz="quarter" idx="11"/>
          </p:nvPr>
        </p:nvSpPr>
        <p:spPr/>
        <p:txBody>
          <a:bodyPr/>
          <a:lstStyle/>
          <a:p>
            <a:fld id="{B6F15528-21DE-4FAA-801E-634DDDAF4B2B}" type="slidenum">
              <a:rPr lang="en-US" smtClean="0"/>
              <a:pPr/>
              <a:t>‹#›</a:t>
            </a:fld>
            <a:endParaRPr lang="en-US"/>
          </a:p>
        </p:txBody>
      </p:sp>
      <p:sp>
        <p:nvSpPr>
          <p:cNvPr id="24" name="Footer Placeholder 23"/>
          <p:cNvSpPr>
            <a:spLocks noGrp="1"/>
          </p:cNvSpPr>
          <p:nvPr>
            <p:ph type="ftr" sz="quarter" idx="12"/>
          </p:nvPr>
        </p:nvSpPr>
        <p:spPr/>
        <p:txBody>
          <a:bodyPr/>
          <a:lstStyle/>
          <a:p>
            <a:endParaRPr lang="en-US"/>
          </a:p>
        </p:txBody>
      </p:sp>
      <p:sp>
        <p:nvSpPr>
          <p:cNvPr id="12" name="Title 11"/>
          <p:cNvSpPr>
            <a:spLocks noGrp="1"/>
          </p:cNvSpPr>
          <p:nvPr>
            <p:ph type="title"/>
          </p:nvPr>
        </p:nvSpPr>
        <p:spPr>
          <a:xfrm>
            <a:off x="352426" y="457200"/>
            <a:ext cx="7680960" cy="2438399"/>
          </a:xfrm>
        </p:spPr>
        <p:txBody>
          <a:bodyPr>
            <a:normAutofit/>
          </a:bodyPr>
          <a:lstStyle>
            <a:lvl1pPr>
              <a:spcBef>
                <a:spcPts val="0"/>
              </a:spcBef>
              <a:defRPr kumimoji="0" lang="en-US" sz="6000" b="1" i="0" u="none" strike="noStrike" kern="1200" cap="none" spc="0" normalizeH="0" baseline="0" noProof="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0"/>
          <p:cNvSpPr>
            <a:spLocks noGrp="1"/>
          </p:cNvSpPr>
          <p:nvPr>
            <p:ph sz="quarter" idx="13"/>
          </p:nvPr>
        </p:nvSpPr>
        <p:spPr>
          <a:xfrm>
            <a:off x="352426" y="1463040"/>
            <a:ext cx="768096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Date Placeholder 11"/>
          <p:cNvSpPr>
            <a:spLocks noGrp="1"/>
          </p:cNvSpPr>
          <p:nvPr>
            <p:ph type="dt" sz="half" idx="14"/>
          </p:nvPr>
        </p:nvSpPr>
        <p:spPr/>
        <p:txBody>
          <a:bodyPr/>
          <a:lstStyle/>
          <a:p>
            <a:fld id="{1D8BD707-D9CF-40AE-B4C6-C98DA3205C09}" type="datetimeFigureOut">
              <a:rPr lang="en-US" smtClean="0"/>
              <a:pPr/>
              <a:t>2/1/2012</a:t>
            </a:fld>
            <a:endParaRPr lang="en-US"/>
          </a:p>
        </p:txBody>
      </p:sp>
      <p:sp>
        <p:nvSpPr>
          <p:cNvPr id="19" name="Slide Number Placeholder 18"/>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p:cNvSpPr>
            <a:spLocks noGrp="1"/>
          </p:cNvSpPr>
          <p:nvPr>
            <p:ph type="subTitle" idx="1"/>
          </p:nvPr>
        </p:nvSpPr>
        <p:spPr>
          <a:xfrm>
            <a:off x="352426" y="4003302"/>
            <a:ext cx="4572000" cy="11782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1D8BD707-D9CF-40AE-B4C6-C98DA3205C09}" type="datetimeFigureOut">
              <a:rPr lang="en-US" smtClean="0"/>
              <a:pPr/>
              <a:t>2/1/2012</a:t>
            </a:fld>
            <a:endParaRPr lang="en-US"/>
          </a:p>
        </p:txBody>
      </p:sp>
      <p:sp>
        <p:nvSpPr>
          <p:cNvPr id="20" name="Slide Number Placeholder 19"/>
          <p:cNvSpPr>
            <a:spLocks noGrp="1"/>
          </p:cNvSpPr>
          <p:nvPr>
            <p:ph type="sldNum" sz="quarter" idx="11"/>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a:lstStyle/>
          <a:p>
            <a:endParaRPr lang="en-US"/>
          </a:p>
        </p:txBody>
      </p:sp>
      <p:sp>
        <p:nvSpPr>
          <p:cNvPr id="13" name="Rectangle 12"/>
          <p:cNvSpPr/>
          <p:nvPr/>
        </p:nvSpPr>
        <p:spPr>
          <a:xfrm>
            <a:off x="0" y="0"/>
            <a:ext cx="9144000" cy="182880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4439" y="182880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p:cNvSpPr>
            <a:spLocks noGrp="1"/>
          </p:cNvSpPr>
          <p:nvPr>
            <p:ph type="title"/>
          </p:nvPr>
        </p:nvSpPr>
        <p:spPr>
          <a:xfrm>
            <a:off x="354366" y="1990078"/>
            <a:ext cx="8439912" cy="1984248"/>
          </a:xfrm>
        </p:spPr>
        <p:txBody>
          <a:bodyPr>
            <a:noAutofit/>
          </a:bodyPr>
          <a:lstStyle>
            <a:lvl1pPr>
              <a:defRPr kumimoji="0" lang="en-US" sz="6000" b="1" i="0" u="none" strike="noStrike" kern="1200" cap="none" spc="0" normalizeH="0" baseline="0" noProof="0" dirty="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1"/>
          <p:cNvSpPr>
            <a:spLocks noGrp="1"/>
          </p:cNvSpPr>
          <p:nvPr>
            <p:ph sz="quarter" idx="14"/>
          </p:nvPr>
        </p:nvSpPr>
        <p:spPr>
          <a:xfrm>
            <a:off x="4901184"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0"/>
          <p:cNvSpPr>
            <a:spLocks noGrp="1"/>
          </p:cNvSpPr>
          <p:nvPr>
            <p:ph sz="quarter" idx="13"/>
          </p:nvPr>
        </p:nvSpPr>
        <p:spPr>
          <a:xfrm>
            <a:off x="352426"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itle 26"/>
          <p:cNvSpPr>
            <a:spLocks noGrp="1"/>
          </p:cNvSpPr>
          <p:nvPr>
            <p:ph type="title"/>
          </p:nvPr>
        </p:nvSpPr>
        <p:spPr/>
        <p:txBody>
          <a:bodyPr/>
          <a:lstStyle/>
          <a:p>
            <a:r>
              <a:rPr lang="en-US" smtClean="0"/>
              <a:t>Click to edit Master title style</a:t>
            </a:r>
            <a:endParaRPr lang="en-US" dirty="0"/>
          </a:p>
        </p:txBody>
      </p:sp>
      <p:sp>
        <p:nvSpPr>
          <p:cNvPr id="20" name="Date Placeholder 19"/>
          <p:cNvSpPr>
            <a:spLocks noGrp="1"/>
          </p:cNvSpPr>
          <p:nvPr>
            <p:ph type="dt" sz="half" idx="15"/>
          </p:nvPr>
        </p:nvSpPr>
        <p:spPr/>
        <p:txBody>
          <a:bodyPr/>
          <a:lstStyle/>
          <a:p>
            <a:fld id="{1D8BD707-D9CF-40AE-B4C6-C98DA3205C09}" type="datetimeFigureOut">
              <a:rPr lang="en-US" smtClean="0"/>
              <a:pPr/>
              <a:t>2/1/2012</a:t>
            </a:fld>
            <a:endParaRPr lang="en-US"/>
          </a:p>
        </p:txBody>
      </p:sp>
      <p:sp>
        <p:nvSpPr>
          <p:cNvPr id="25" name="Slide Number Placeholder 24"/>
          <p:cNvSpPr>
            <a:spLocks noGrp="1"/>
          </p:cNvSpPr>
          <p:nvPr>
            <p:ph type="sldNum" sz="quarter" idx="16"/>
          </p:nvPr>
        </p:nvSpPr>
        <p:spPr/>
        <p:txBody>
          <a:bodyPr/>
          <a:lstStyle/>
          <a:p>
            <a:fld id="{B6F15528-21DE-4FAA-801E-634DDDAF4B2B}" type="slidenum">
              <a:rPr lang="en-US" smtClean="0"/>
              <a:pPr/>
              <a:t>‹#›</a:t>
            </a:fld>
            <a:endParaRPr lang="en-US"/>
          </a:p>
        </p:txBody>
      </p:sp>
      <p:sp>
        <p:nvSpPr>
          <p:cNvPr id="26" name="Footer Placeholder 25"/>
          <p:cNvSpPr>
            <a:spLocks noGrp="1"/>
          </p:cNvSpPr>
          <p:nvPr>
            <p:ph type="ftr" sz="quarter" idx="17"/>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Rectangle 12"/>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
          <p:cNvSpPr>
            <a:spLocks noGrp="1"/>
          </p:cNvSpPr>
          <p:nvPr>
            <p:ph type="body" sz="half" idx="2"/>
          </p:nvPr>
        </p:nvSpPr>
        <p:spPr>
          <a:xfrm>
            <a:off x="352426"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9" name="Text Placeholder 3"/>
          <p:cNvSpPr>
            <a:spLocks noGrp="1"/>
          </p:cNvSpPr>
          <p:nvPr>
            <p:ph type="body" sz="half" idx="15"/>
          </p:nvPr>
        </p:nvSpPr>
        <p:spPr>
          <a:xfrm>
            <a:off x="4900613"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Content Placeholder 11"/>
          <p:cNvSpPr>
            <a:spLocks noGrp="1"/>
          </p:cNvSpPr>
          <p:nvPr>
            <p:ph sz="quarter" idx="14"/>
          </p:nvPr>
        </p:nvSpPr>
        <p:spPr>
          <a:xfrm>
            <a:off x="4900613"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Content Placeholder 30"/>
          <p:cNvSpPr>
            <a:spLocks noGrp="1"/>
          </p:cNvSpPr>
          <p:nvPr>
            <p:ph sz="quarter" idx="13"/>
          </p:nvPr>
        </p:nvSpPr>
        <p:spPr>
          <a:xfrm>
            <a:off x="352426"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0" name="Title 29"/>
          <p:cNvSpPr>
            <a:spLocks noGrp="1"/>
          </p:cNvSpPr>
          <p:nvPr>
            <p:ph type="title"/>
          </p:nvPr>
        </p:nvSpPr>
        <p:spPr/>
        <p:txBody>
          <a:bodyPr/>
          <a:lstStyle/>
          <a:p>
            <a:r>
              <a:rPr lang="en-US" smtClean="0"/>
              <a:t>Click to edit Master title style</a:t>
            </a:r>
            <a:endParaRPr lang="en-US"/>
          </a:p>
        </p:txBody>
      </p:sp>
      <p:sp>
        <p:nvSpPr>
          <p:cNvPr id="20" name="Date Placeholder 19"/>
          <p:cNvSpPr>
            <a:spLocks noGrp="1"/>
          </p:cNvSpPr>
          <p:nvPr>
            <p:ph type="dt" sz="half" idx="16"/>
          </p:nvPr>
        </p:nvSpPr>
        <p:spPr/>
        <p:txBody>
          <a:bodyPr/>
          <a:lstStyle/>
          <a:p>
            <a:fld id="{1D8BD707-D9CF-40AE-B4C6-C98DA3205C09}" type="datetimeFigureOut">
              <a:rPr lang="en-US" smtClean="0"/>
              <a:pPr/>
              <a:t>2/1/2012</a:t>
            </a:fld>
            <a:endParaRPr lang="en-US"/>
          </a:p>
        </p:txBody>
      </p:sp>
      <p:sp>
        <p:nvSpPr>
          <p:cNvPr id="24" name="Slide Number Placeholder 23"/>
          <p:cNvSpPr>
            <a:spLocks noGrp="1"/>
          </p:cNvSpPr>
          <p:nvPr>
            <p:ph type="sldNum" sz="quarter" idx="17"/>
          </p:nvPr>
        </p:nvSpPr>
        <p:spPr/>
        <p:txBody>
          <a:bodyPr/>
          <a:lstStyle/>
          <a:p>
            <a:fld id="{B6F15528-21DE-4FAA-801E-634DDDAF4B2B}" type="slidenum">
              <a:rPr lang="en-US" smtClean="0"/>
              <a:pPr/>
              <a:t>‹#›</a:t>
            </a:fld>
            <a:endParaRPr lang="en-US"/>
          </a:p>
        </p:txBody>
      </p:sp>
      <p:sp>
        <p:nvSpPr>
          <p:cNvPr id="29" name="Footer Placeholder 28"/>
          <p:cNvSpPr>
            <a:spLocks noGrp="1"/>
          </p:cNvSpPr>
          <p:nvPr>
            <p:ph type="ftr" sz="quarter" idx="18"/>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p:cNvSpPr>
            <a:spLocks noGrp="1"/>
          </p:cNvSpPr>
          <p:nvPr>
            <p:ph type="dt" sz="half" idx="10"/>
          </p:nvPr>
        </p:nvSpPr>
        <p:spPr/>
        <p:txBody>
          <a:bodyPr/>
          <a:lstStyle/>
          <a:p>
            <a:fld id="{1D8BD707-D9CF-40AE-B4C6-C98DA3205C09}" type="datetimeFigureOut">
              <a:rPr lang="en-US" smtClean="0"/>
              <a:pPr/>
              <a:t>2/1/2012</a:t>
            </a:fld>
            <a:endParaRPr lang="en-US"/>
          </a:p>
        </p:txBody>
      </p:sp>
      <p:sp>
        <p:nvSpPr>
          <p:cNvPr id="14" name="Slide Number Placeholder 13"/>
          <p:cNvSpPr>
            <a:spLocks noGrp="1"/>
          </p:cNvSpPr>
          <p:nvPr>
            <p:ph type="sldNum" sz="quarter" idx="11"/>
          </p:nvPr>
        </p:nvSpPr>
        <p:spPr/>
        <p:txBody>
          <a:bodyPr/>
          <a:lstStyle/>
          <a:p>
            <a:fld id="{B6F15528-21DE-4FAA-801E-634DDDAF4B2B}" type="slidenum">
              <a:rPr lang="en-US" smtClean="0"/>
              <a:pPr/>
              <a:t>‹#›</a:t>
            </a:fld>
            <a:endParaRPr lang="en-US"/>
          </a:p>
        </p:txBody>
      </p:sp>
      <p:sp>
        <p:nvSpPr>
          <p:cNvPr id="18" name="Footer Placeholder 17"/>
          <p:cNvSpPr>
            <a:spLocks noGrp="1"/>
          </p:cNvSpPr>
          <p:nvPr>
            <p:ph type="ftr" sz="quarter" idx="12"/>
          </p:nvPr>
        </p:nvSpPr>
        <p:spPr/>
        <p:txBody>
          <a:bodyPr/>
          <a:lstStyle/>
          <a:p>
            <a:endParaRPr lang="en-US"/>
          </a:p>
        </p:txBody>
      </p:sp>
      <p:sp>
        <p:nvSpPr>
          <p:cNvPr id="15" name="Title 14"/>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2/1/2012</a:t>
            </a:fld>
            <a:endParaRPr lang="en-US"/>
          </a:p>
        </p:txBody>
      </p:sp>
      <p:sp>
        <p:nvSpPr>
          <p:cNvPr id="12" name="Slide Number Placeholder 11"/>
          <p:cNvSpPr>
            <a:spLocks noGrp="1"/>
          </p:cNvSpPr>
          <p:nvPr>
            <p:ph type="sldNum" sz="quarter" idx="11"/>
          </p:nvPr>
        </p:nvSpPr>
        <p:spPr/>
        <p:txBody>
          <a:bodyPr/>
          <a:lstStyle/>
          <a:p>
            <a:fld id="{B6F15528-21DE-4FAA-801E-634DDDAF4B2B}" type="slidenum">
              <a:rPr lang="en-US" smtClean="0"/>
              <a:pPr/>
              <a:t>‹#›</a:t>
            </a:fld>
            <a:endParaRPr lang="en-US"/>
          </a:p>
        </p:txBody>
      </p:sp>
      <p:sp>
        <p:nvSpPr>
          <p:cNvPr id="13" name="Footer Placeholder 12"/>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le 23"/>
          <p:cNvSpPr>
            <a:spLocks noGrp="1"/>
          </p:cNvSpPr>
          <p:nvPr>
            <p:ph type="title"/>
          </p:nvPr>
        </p:nvSpPr>
        <p:spPr/>
        <p:txBody>
          <a:bodyPr/>
          <a:lstStyle/>
          <a:p>
            <a:r>
              <a:rPr lang="en-US" smtClean="0"/>
              <a:t>Click to edit Master title style</a:t>
            </a:r>
            <a:endParaRPr lang="en-US"/>
          </a:p>
        </p:txBody>
      </p:sp>
      <p:sp>
        <p:nvSpPr>
          <p:cNvPr id="11" name="Text Placeholder 3"/>
          <p:cNvSpPr>
            <a:spLocks noGrp="1"/>
          </p:cNvSpPr>
          <p:nvPr>
            <p:ph type="body" sz="half" idx="2"/>
          </p:nvPr>
        </p:nvSpPr>
        <p:spPr>
          <a:xfrm>
            <a:off x="352426" y="1463040"/>
            <a:ext cx="3381375" cy="3967162"/>
          </a:xfrm>
        </p:spPr>
        <p:txBody>
          <a:bodyPr>
            <a:normAutofit/>
          </a:bodyPr>
          <a:lstStyle>
            <a:lvl1pPr marL="0" indent="0">
              <a:lnSpc>
                <a:spcPct val="150000"/>
              </a:lnSpc>
              <a:buNone/>
              <a:defRPr sz="1600" b="0" i="1" spc="0" baseline="0">
                <a:solidFill>
                  <a:schemeClr val="tx2"/>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Content Placeholder 11"/>
          <p:cNvSpPr>
            <a:spLocks noGrp="1"/>
          </p:cNvSpPr>
          <p:nvPr>
            <p:ph sz="quarter" idx="14"/>
          </p:nvPr>
        </p:nvSpPr>
        <p:spPr>
          <a:xfrm>
            <a:off x="4105275" y="1463040"/>
            <a:ext cx="4681538" cy="396849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12"/>
          <p:cNvSpPr>
            <a:spLocks noGrp="1"/>
          </p:cNvSpPr>
          <p:nvPr>
            <p:ph type="dt" sz="half" idx="15"/>
          </p:nvPr>
        </p:nvSpPr>
        <p:spPr/>
        <p:txBody>
          <a:bodyPr/>
          <a:lstStyle/>
          <a:p>
            <a:fld id="{1D8BD707-D9CF-40AE-B4C6-C98DA3205C09}" type="datetimeFigureOut">
              <a:rPr lang="en-US" smtClean="0"/>
              <a:pPr/>
              <a:t>2/1/2012</a:t>
            </a:fld>
            <a:endParaRPr lang="en-US"/>
          </a:p>
        </p:txBody>
      </p:sp>
      <p:sp>
        <p:nvSpPr>
          <p:cNvPr id="18" name="Slide Number Placeholder 17"/>
          <p:cNvSpPr>
            <a:spLocks noGrp="1"/>
          </p:cNvSpPr>
          <p:nvPr>
            <p:ph type="sldNum" sz="quarter" idx="16"/>
          </p:nvPr>
        </p:nvSpPr>
        <p:spPr/>
        <p:txBody>
          <a:bodyPr/>
          <a:lstStyle/>
          <a:p>
            <a:fld id="{B6F15528-21DE-4FAA-801E-634DDDAF4B2B}" type="slidenum">
              <a:rPr lang="en-US" smtClean="0"/>
              <a:pPr/>
              <a:t>‹#›</a:t>
            </a:fld>
            <a:endParaRPr lang="en-US"/>
          </a:p>
        </p:txBody>
      </p:sp>
      <p:sp>
        <p:nvSpPr>
          <p:cNvPr id="20" name="Footer Placeholder 19"/>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229224" y="0"/>
            <a:ext cx="3914775" cy="5657850"/>
          </a:xfrm>
        </p:spPr>
        <p:txBody>
          <a:bodyPr anchor="ctr" anchorCtr="0"/>
          <a:lstStyle>
            <a:lvl1pPr marL="0" indent="0" algn="ctr">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352426" y="1600199"/>
            <a:ext cx="4572000" cy="3593237"/>
          </a:xfrm>
        </p:spPr>
        <p:txBody>
          <a:bodyPr>
            <a:normAutofit/>
          </a:bodyPr>
          <a:lstStyle>
            <a:lvl1pPr marL="0" indent="0">
              <a:lnSpc>
                <a:spcPct val="150000"/>
              </a:lnSpc>
              <a:spcBef>
                <a:spcPts val="0"/>
              </a:spcBef>
              <a:buNone/>
              <a:defRPr sz="1600" i="1">
                <a:solidFill>
                  <a:schemeClr val="tx1"/>
                </a:solidFill>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lvl="0"/>
            <a:r>
              <a:rPr lang="en-US" smtClean="0"/>
              <a:t>Click to edit Master text styles</a:t>
            </a:r>
          </a:p>
        </p:txBody>
      </p:sp>
      <p:sp>
        <p:nvSpPr>
          <p:cNvPr id="11" name="Rectangle 10"/>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Placeholder 1"/>
          <p:cNvSpPr>
            <a:spLocks noGrp="1"/>
          </p:cNvSpPr>
          <p:nvPr>
            <p:ph type="title"/>
          </p:nvPr>
        </p:nvSpPr>
        <p:spPr>
          <a:xfrm>
            <a:off x="352425" y="275208"/>
            <a:ext cx="4572000" cy="1324992"/>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13" name="Date Placeholder 12"/>
          <p:cNvSpPr>
            <a:spLocks noGrp="1"/>
          </p:cNvSpPr>
          <p:nvPr>
            <p:ph type="dt" sz="half" idx="14"/>
          </p:nvPr>
        </p:nvSpPr>
        <p:spPr/>
        <p:txBody>
          <a:bodyPr/>
          <a:lstStyle/>
          <a:p>
            <a:fld id="{1D8BD707-D9CF-40AE-B4C6-C98DA3205C09}" type="datetimeFigureOut">
              <a:rPr lang="en-US" smtClean="0"/>
              <a:pPr/>
              <a:t>2/1/2012</a:t>
            </a:fld>
            <a:endParaRPr lang="en-US"/>
          </a:p>
        </p:txBody>
      </p:sp>
      <p:sp>
        <p:nvSpPr>
          <p:cNvPr id="20" name="Slide Number Placeholder 19"/>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426" y="228600"/>
            <a:ext cx="7680960" cy="10668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52426" y="1463040"/>
            <a:ext cx="768096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52426" y="6543676"/>
            <a:ext cx="1466850" cy="247650"/>
          </a:xfrm>
          <a:prstGeom prst="rect">
            <a:avLst/>
          </a:prstGeom>
        </p:spPr>
        <p:txBody>
          <a:bodyPr vert="horz" lIns="91440" tIns="45720" rIns="91440" bIns="45720" rtlCol="0" anchor="ctr">
            <a:normAutofit/>
          </a:bodyPr>
          <a:lstStyle>
            <a:lvl1pPr algn="l">
              <a:defRPr sz="1000" b="1">
                <a:solidFill>
                  <a:schemeClr val="tx1">
                    <a:alpha val="65000"/>
                  </a:schemeClr>
                </a:solidFill>
              </a:defRPr>
            </a:lvl1pPr>
          </a:lstStyle>
          <a:p>
            <a:fld id="{1D8BD707-D9CF-40AE-B4C6-C98DA3205C09}" type="datetimeFigureOut">
              <a:rPr lang="en-US" smtClean="0"/>
              <a:pPr/>
              <a:t>2/1/2012</a:t>
            </a:fld>
            <a:endParaRPr lang="en-US"/>
          </a:p>
        </p:txBody>
      </p:sp>
      <p:sp>
        <p:nvSpPr>
          <p:cNvPr id="5" name="Footer Placeholder 4"/>
          <p:cNvSpPr>
            <a:spLocks noGrp="1"/>
          </p:cNvSpPr>
          <p:nvPr>
            <p:ph type="ftr" sz="quarter" idx="3"/>
          </p:nvPr>
        </p:nvSpPr>
        <p:spPr>
          <a:xfrm>
            <a:off x="1809749" y="6543676"/>
            <a:ext cx="4086225" cy="247650"/>
          </a:xfrm>
          <a:prstGeom prst="rect">
            <a:avLst/>
          </a:prstGeom>
        </p:spPr>
        <p:txBody>
          <a:bodyPr vert="horz" lIns="91440" tIns="45720" rIns="91440" bIns="45720" rtlCol="0" anchor="ctr">
            <a:normAutofit/>
          </a:bodyPr>
          <a:lstStyle>
            <a:lvl1pPr algn="l">
              <a:defRPr sz="1000" b="1" i="1">
                <a:solidFill>
                  <a:schemeClr val="tx1">
                    <a:alpha val="65000"/>
                  </a:schemeClr>
                </a:solidFill>
              </a:defRPr>
            </a:lvl1pPr>
          </a:lstStyle>
          <a:p>
            <a:endParaRPr lang="en-US"/>
          </a:p>
        </p:txBody>
      </p:sp>
      <p:sp>
        <p:nvSpPr>
          <p:cNvPr id="6" name="Slide Number Placeholder 5"/>
          <p:cNvSpPr>
            <a:spLocks noGrp="1"/>
          </p:cNvSpPr>
          <p:nvPr>
            <p:ph type="sldNum" sz="quarter" idx="4"/>
          </p:nvPr>
        </p:nvSpPr>
        <p:spPr>
          <a:xfrm>
            <a:off x="7886700" y="6543676"/>
            <a:ext cx="876300" cy="247650"/>
          </a:xfrm>
          <a:prstGeom prst="rect">
            <a:avLst/>
          </a:prstGeom>
        </p:spPr>
        <p:txBody>
          <a:bodyPr vert="horz" lIns="91440" tIns="45720" rIns="91440" bIns="45720" rtlCol="0" anchor="ctr">
            <a:normAutofit/>
          </a:bodyPr>
          <a:lstStyle>
            <a:lvl1pPr algn="r">
              <a:defRPr sz="1000" b="1">
                <a:solidFill>
                  <a:schemeClr val="tx1">
                    <a:alpha val="65000"/>
                  </a:schemeClr>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ts val="400"/>
        </a:spcBef>
        <a:buNone/>
        <a:defRPr sz="4000" b="0" kern="1200" cap="none" spc="0" baseline="0">
          <a:solidFill>
            <a:schemeClr val="tx1"/>
          </a:solidFill>
          <a:latin typeface="+mj-lt"/>
          <a:ea typeface="+mj-ea"/>
          <a:cs typeface="Tunga" pitchFamily="2"/>
        </a:defRPr>
      </a:lvl1pPr>
    </p:titleStyle>
    <p:bodyStyle>
      <a:lvl1pPr marL="0" indent="0" algn="l" defTabSz="914400" rtl="0" eaLnBrk="1" latinLnBrk="0" hangingPunct="1">
        <a:spcBef>
          <a:spcPts val="1200"/>
        </a:spcBef>
        <a:spcAft>
          <a:spcPts val="0"/>
        </a:spcAft>
        <a:buClr>
          <a:schemeClr val="accent5"/>
        </a:buClr>
        <a:buFont typeface="Arial" pitchFamily="34" charset="0"/>
        <a:buNone/>
        <a:defRPr sz="1800" b="0" i="0" kern="1200" cap="none" spc="30" baseline="0">
          <a:solidFill>
            <a:schemeClr val="tx1"/>
          </a:solidFill>
          <a:latin typeface="+mn-lt"/>
          <a:ea typeface="+mn-ea"/>
          <a:cs typeface="Tahoma" pitchFamily="34" charset="0"/>
        </a:defRPr>
      </a:lvl1pPr>
      <a:lvl2pPr marL="171450" indent="-17145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2pPr>
      <a:lvl3pPr marL="344488" indent="-16510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3pPr>
      <a:lvl4pPr marL="517525" indent="-169863"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4pPr>
      <a:lvl5pPr marL="688975" indent="-173038"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5pPr>
      <a:lvl6pPr marL="8686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06984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24358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40817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eka.wikispaces.com/" TargetMode="External"/><Relationship Id="rId2" Type="http://schemas.openxmlformats.org/officeDocument/2006/relationships/hyperlink" Target="http://www.cs.waikato.ac.nz/ml/weka/" TargetMode="External"/><Relationship Id="rId1" Type="http://schemas.openxmlformats.org/officeDocument/2006/relationships/slideLayout" Target="../slideLayouts/slideLayout2.xml"/><Relationship Id="rId4" Type="http://schemas.openxmlformats.org/officeDocument/2006/relationships/hyperlink" Target="http://weka.pentaho.c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5591182" cy="1368798"/>
          </a:xfrm>
        </p:spPr>
        <p:txBody>
          <a:bodyPr>
            <a:normAutofit/>
          </a:bodyPr>
          <a:lstStyle/>
          <a:p>
            <a:r>
              <a:rPr lang="en-GB" dirty="0" smtClean="0"/>
              <a:t>Daniel Rodríguez, University of </a:t>
            </a:r>
            <a:r>
              <a:rPr lang="en-GB" dirty="0" err="1" smtClean="0"/>
              <a:t>Alcalá</a:t>
            </a:r>
            <a:endParaRPr lang="en-GB" dirty="0" smtClean="0"/>
          </a:p>
        </p:txBody>
      </p:sp>
      <p:sp>
        <p:nvSpPr>
          <p:cNvPr id="2" name="Title 1"/>
          <p:cNvSpPr>
            <a:spLocks noGrp="1"/>
          </p:cNvSpPr>
          <p:nvPr>
            <p:ph type="title"/>
          </p:nvPr>
        </p:nvSpPr>
        <p:spPr/>
        <p:txBody>
          <a:bodyPr>
            <a:normAutofit/>
          </a:bodyPr>
          <a:lstStyle/>
          <a:p>
            <a:r>
              <a:rPr lang="en-GB" dirty="0" smtClean="0"/>
              <a:t>Introduction </a:t>
            </a:r>
            <a:br>
              <a:rPr lang="en-GB" dirty="0" smtClean="0"/>
            </a:br>
            <a:r>
              <a:rPr lang="en-GB" dirty="0" smtClean="0"/>
              <a:t>to </a:t>
            </a:r>
            <a:r>
              <a:rPr lang="en-GB" dirty="0" err="1" smtClean="0"/>
              <a:t>Weka</a:t>
            </a:r>
            <a:endParaRPr lang="en-GB" dirty="0"/>
          </a:p>
        </p:txBody>
      </p:sp>
      <p:pic>
        <p:nvPicPr>
          <p:cNvPr id="7171" name="Picture 3" descr="F:\2011\SSBSE2011\poster\logos\brookes-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5105400"/>
            <a:ext cx="2362200" cy="93920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F:\2011\SSBSE2011\poster\logos\uah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5130501"/>
            <a:ext cx="3253513" cy="97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327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a:t>Weka Toolkit</a:t>
            </a:r>
          </a:p>
          <a:p>
            <a:pPr lvl="1"/>
            <a:r>
              <a:rPr lang="fi-FI" dirty="0">
                <a:hlinkClick r:id="rId2"/>
              </a:rPr>
              <a:t>http://www.cs.waikato.ac.nz/ml/weka/</a:t>
            </a:r>
          </a:p>
          <a:p>
            <a:r>
              <a:rPr lang="en-GB" dirty="0" smtClean="0"/>
              <a:t>Developed in Java and Open source </a:t>
            </a:r>
          </a:p>
          <a:p>
            <a:pPr marL="285750" indent="-285750">
              <a:buFont typeface="Arial" pitchFamily="34" charset="0"/>
              <a:buChar char="•"/>
            </a:pPr>
            <a:r>
              <a:rPr lang="es-ES" dirty="0" smtClean="0"/>
              <a:t>GNU </a:t>
            </a:r>
            <a:r>
              <a:rPr lang="es-ES" dirty="0" err="1" smtClean="0"/>
              <a:t>Licence</a:t>
            </a:r>
            <a:endParaRPr lang="en-GB" dirty="0" smtClean="0"/>
          </a:p>
          <a:p>
            <a:r>
              <a:rPr lang="en-GB" dirty="0" smtClean="0"/>
              <a:t>Well supported by the community through mailing lists and Wiki:</a:t>
            </a:r>
          </a:p>
          <a:p>
            <a:pPr marL="285750" indent="-285750">
              <a:buFont typeface="Arial" pitchFamily="34" charset="0"/>
              <a:buChar char="•"/>
            </a:pPr>
            <a:r>
              <a:rPr lang="en-GB" dirty="0" smtClean="0">
                <a:hlinkClick r:id="rId3"/>
              </a:rPr>
              <a:t>http</a:t>
            </a:r>
            <a:r>
              <a:rPr lang="en-GB" dirty="0">
                <a:hlinkClick r:id="rId3"/>
              </a:rPr>
              <a:t>://weka.wikispaces.com</a:t>
            </a:r>
            <a:r>
              <a:rPr lang="en-GB" dirty="0" smtClean="0">
                <a:hlinkClick r:id="rId3"/>
              </a:rPr>
              <a:t>/</a:t>
            </a:r>
            <a:endParaRPr lang="en-GB" dirty="0" smtClean="0"/>
          </a:p>
          <a:p>
            <a:r>
              <a:rPr lang="en-GB" dirty="0"/>
              <a:t>Also, supported commercially by </a:t>
            </a:r>
            <a:r>
              <a:rPr lang="en-GB" dirty="0" err="1"/>
              <a:t>Pentaho</a:t>
            </a:r>
            <a:endParaRPr lang="en-GB" dirty="0"/>
          </a:p>
          <a:p>
            <a:pPr marL="285750" indent="-285750">
              <a:buFont typeface="Arial" pitchFamily="34" charset="0"/>
              <a:buChar char="•"/>
            </a:pPr>
            <a:r>
              <a:rPr lang="en-GB" dirty="0">
                <a:hlinkClick r:id="rId4"/>
              </a:rPr>
              <a:t>http://weka.pentaho.com</a:t>
            </a:r>
            <a:r>
              <a:rPr lang="en-GB" dirty="0" smtClean="0">
                <a:hlinkClick r:id="rId4"/>
              </a:rPr>
              <a:t>/</a:t>
            </a:r>
            <a:endParaRPr lang="en-GB" dirty="0" smtClean="0"/>
          </a:p>
          <a:p>
            <a:pPr marL="285750" indent="-285750">
              <a:buFont typeface="Arial" pitchFamily="34" charset="0"/>
              <a:buChar char="•"/>
            </a:pPr>
            <a:r>
              <a:rPr lang="en-GB" dirty="0" smtClean="0"/>
              <a:t>Acknowledgement: J Hernandez &amp; C </a:t>
            </a:r>
            <a:r>
              <a:rPr lang="en-GB" dirty="0" err="1" smtClean="0"/>
              <a:t>Ferri</a:t>
            </a:r>
            <a:r>
              <a:rPr lang="en-GB" dirty="0" smtClean="0"/>
              <a:t> (UPV) for some </a:t>
            </a:r>
            <a:r>
              <a:rPr lang="en-GB" dirty="0" err="1" smtClean="0"/>
              <a:t>some</a:t>
            </a:r>
            <a:r>
              <a:rPr lang="en-GB" dirty="0" smtClean="0"/>
              <a:t> examples</a:t>
            </a:r>
            <a:endParaRPr lang="en-GB" dirty="0"/>
          </a:p>
          <a:p>
            <a:pPr marL="285750" indent="-285750">
              <a:buFont typeface="Arial" pitchFamily="34" charset="0"/>
              <a:buChar char="•"/>
            </a:pPr>
            <a:endParaRPr lang="en-GB" dirty="0" smtClean="0"/>
          </a:p>
          <a:p>
            <a:pPr marL="285750" indent="-285750">
              <a:buFont typeface="Arial" pitchFamily="34" charset="0"/>
              <a:buChar char="•"/>
            </a:pPr>
            <a:endParaRPr lang="es-ES" dirty="0"/>
          </a:p>
          <a:p>
            <a:pPr marL="285750" indent="-285750">
              <a:buFont typeface="Arial" pitchFamily="34" charset="0"/>
              <a:buChar char="•"/>
            </a:pPr>
            <a:endParaRPr lang="en-GB" dirty="0"/>
          </a:p>
        </p:txBody>
      </p:sp>
      <p:sp>
        <p:nvSpPr>
          <p:cNvPr id="3" name="Title 2"/>
          <p:cNvSpPr>
            <a:spLocks noGrp="1"/>
          </p:cNvSpPr>
          <p:nvPr>
            <p:ph type="title"/>
          </p:nvPr>
        </p:nvSpPr>
        <p:spPr/>
        <p:txBody>
          <a:bodyPr/>
          <a:lstStyle/>
          <a:p>
            <a:r>
              <a:rPr lang="es-ES" dirty="0" err="1" smtClean="0"/>
              <a:t>Weka</a:t>
            </a:r>
            <a:endParaRPr lang="en-GB" dirty="0"/>
          </a:p>
        </p:txBody>
      </p:sp>
    </p:spTree>
    <p:extLst>
      <p:ext uri="{BB962C8B-B14F-4D97-AF65-F5344CB8AC3E}">
        <p14:creationId xmlns:p14="http://schemas.microsoft.com/office/powerpoint/2010/main" val="3533937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Composed </a:t>
            </a:r>
            <a:r>
              <a:rPr lang="fi-FI" dirty="0"/>
              <a:t>of several tools</a:t>
            </a:r>
          </a:p>
          <a:p>
            <a:pPr lvl="1"/>
            <a:r>
              <a:rPr lang="fi-FI" dirty="0"/>
              <a:t>GUI Chooser</a:t>
            </a:r>
          </a:p>
          <a:p>
            <a:pPr lvl="2"/>
            <a:r>
              <a:rPr lang="fi-FI" dirty="0"/>
              <a:t>Package manager, </a:t>
            </a:r>
            <a:r>
              <a:rPr lang="fi-FI" dirty="0" smtClean="0"/>
              <a:t/>
            </a:r>
            <a:br>
              <a:rPr lang="fi-FI" dirty="0" smtClean="0"/>
            </a:br>
            <a:r>
              <a:rPr lang="fi-FI" dirty="0" smtClean="0"/>
              <a:t>Visualisation </a:t>
            </a:r>
            <a:r>
              <a:rPr lang="fi-FI" dirty="0"/>
              <a:t>and Viewers</a:t>
            </a:r>
          </a:p>
          <a:p>
            <a:pPr lvl="1"/>
            <a:r>
              <a:rPr lang="fi-FI" dirty="0"/>
              <a:t>Explorer (the one to use most of the time)</a:t>
            </a:r>
          </a:p>
          <a:p>
            <a:pPr lvl="1"/>
            <a:r>
              <a:rPr lang="fi-FI" dirty="0"/>
              <a:t>Experimenter</a:t>
            </a:r>
          </a:p>
          <a:p>
            <a:pPr lvl="1"/>
            <a:r>
              <a:rPr lang="fi-FI" dirty="0"/>
              <a:t>KnowlegeFlow</a:t>
            </a:r>
          </a:p>
          <a:p>
            <a:pPr lvl="1"/>
            <a:r>
              <a:rPr lang="fi-FI" dirty="0"/>
              <a:t>SimpleCLI </a:t>
            </a:r>
          </a:p>
          <a:p>
            <a:pPr lvl="2"/>
            <a:r>
              <a:rPr lang="fi-FI" dirty="0" smtClean="0"/>
              <a:t>(</a:t>
            </a:r>
            <a:r>
              <a:rPr lang="fi-FI" dirty="0"/>
              <a:t>Command Line Interface) - Obsolete</a:t>
            </a:r>
          </a:p>
          <a:p>
            <a:endParaRPr lang="en-GB" dirty="0"/>
          </a:p>
        </p:txBody>
      </p:sp>
      <p:sp>
        <p:nvSpPr>
          <p:cNvPr id="3" name="Title 2"/>
          <p:cNvSpPr>
            <a:spLocks noGrp="1"/>
          </p:cNvSpPr>
          <p:nvPr>
            <p:ph type="title"/>
          </p:nvPr>
        </p:nvSpPr>
        <p:spPr/>
        <p:txBody>
          <a:bodyPr/>
          <a:lstStyle/>
          <a:p>
            <a:r>
              <a:rPr lang="es-ES" dirty="0" err="1" smtClean="0"/>
              <a:t>Weka</a:t>
            </a:r>
            <a:r>
              <a:rPr lang="es-ES" dirty="0" smtClean="0"/>
              <a:t> </a:t>
            </a:r>
            <a:r>
              <a:rPr lang="es-ES" dirty="0" err="1" smtClean="0"/>
              <a:t>Tookit</a:t>
            </a:r>
            <a:endParaRPr lang="en-GB" dirty="0"/>
          </a:p>
        </p:txBody>
      </p:sp>
      <p:pic>
        <p:nvPicPr>
          <p:cNvPr id="4" name="Picture 3"/>
          <p:cNvPicPr>
            <a:picLocks noChangeAspect="1"/>
          </p:cNvPicPr>
          <p:nvPr/>
        </p:nvPicPr>
        <p:blipFill>
          <a:blip r:embed="rId2">
            <a:lum/>
            <a:alphaModFix/>
          </a:blip>
          <a:srcRect/>
          <a:stretch>
            <a:fillRect/>
          </a:stretch>
        </p:blipFill>
        <p:spPr>
          <a:xfrm>
            <a:off x="4419600" y="1752600"/>
            <a:ext cx="4168536" cy="2286000"/>
          </a:xfrm>
          <a:prstGeom prst="rect">
            <a:avLst/>
          </a:prstGeom>
          <a:noFill/>
          <a:ln>
            <a:noFill/>
          </a:ln>
        </p:spPr>
      </p:pic>
    </p:spTree>
    <p:extLst>
      <p:ext uri="{BB962C8B-B14F-4D97-AF65-F5344CB8AC3E}">
        <p14:creationId xmlns:p14="http://schemas.microsoft.com/office/powerpoint/2010/main" val="9729458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ARFF (</a:t>
            </a:r>
            <a:r>
              <a:rPr lang="fi-FI" dirty="0"/>
              <a:t>Attribute-Relation File Format) is </a:t>
            </a:r>
            <a:r>
              <a:rPr lang="fi-FI" dirty="0" smtClean="0"/>
              <a:t>Weka’s </a:t>
            </a:r>
            <a:r>
              <a:rPr lang="fi-FI" dirty="0"/>
              <a:t>native </a:t>
            </a:r>
            <a:r>
              <a:rPr lang="fi-FI" dirty="0" smtClean="0"/>
              <a:t>file format</a:t>
            </a:r>
            <a:endParaRPr lang="fi-FI" dirty="0"/>
          </a:p>
          <a:p>
            <a:pPr lvl="1"/>
            <a:r>
              <a:rPr lang="fi-FI" dirty="0"/>
              <a:t>Composed of Header and Data</a:t>
            </a:r>
          </a:p>
          <a:p>
            <a:pPr lvl="2"/>
            <a:r>
              <a:rPr lang="fi-FI" dirty="0"/>
              <a:t>Header of the ARFF file contains the name of the relation, a list of the attributes (the columns in the data), and their types (numeric, nominal, date).</a:t>
            </a:r>
          </a:p>
          <a:p>
            <a:pPr lvl="2"/>
            <a:r>
              <a:rPr lang="fi-FI" dirty="0"/>
              <a:t>Data is compsed of comma separated values after @</a:t>
            </a:r>
            <a:r>
              <a:rPr lang="fi-FI" dirty="0" smtClean="0"/>
              <a:t>data</a:t>
            </a:r>
            <a:endParaRPr lang="fi-FI" dirty="0"/>
          </a:p>
          <a:p>
            <a:pPr marL="0" lvl="1" indent="0">
              <a:buNone/>
            </a:pPr>
            <a:r>
              <a:rPr lang="fi-FI" b="1" dirty="0" smtClean="0"/>
              <a:t>XRFF</a:t>
            </a:r>
            <a:r>
              <a:rPr lang="fi-FI" dirty="0" smtClean="0"/>
              <a:t> </a:t>
            </a:r>
            <a:r>
              <a:rPr lang="en-GB" dirty="0" smtClean="0"/>
              <a:t> </a:t>
            </a:r>
            <a:r>
              <a:rPr lang="en-GB" dirty="0"/>
              <a:t>(</a:t>
            </a:r>
            <a:r>
              <a:rPr lang="en-GB" dirty="0" err="1"/>
              <a:t>eXtensible</a:t>
            </a:r>
            <a:r>
              <a:rPr lang="en-GB" dirty="0"/>
              <a:t> attribute-Relation File Format) is an XML-based extension of the ARFF format</a:t>
            </a:r>
            <a:r>
              <a:rPr lang="en-GB" dirty="0" smtClean="0"/>
              <a:t>. It has the advantage of the following additional capabilities:</a:t>
            </a:r>
          </a:p>
          <a:p>
            <a:pPr lvl="1"/>
            <a:r>
              <a:rPr lang="en-GB" dirty="0"/>
              <a:t>class attribute specification</a:t>
            </a:r>
          </a:p>
          <a:p>
            <a:pPr lvl="1"/>
            <a:r>
              <a:rPr lang="en-GB" dirty="0"/>
              <a:t>attribute </a:t>
            </a:r>
            <a:r>
              <a:rPr lang="en-GB" dirty="0" smtClean="0"/>
              <a:t>weights (So far, only Naïve Bayes can handle attribute weights)</a:t>
            </a:r>
            <a:endParaRPr lang="en-GB" dirty="0"/>
          </a:p>
          <a:p>
            <a:pPr marL="0" lvl="1" indent="0">
              <a:buNone/>
            </a:pPr>
            <a:r>
              <a:rPr lang="en-GB" dirty="0" smtClean="0"/>
              <a:t>	and instance weights are also supported in ARFF de</a:t>
            </a:r>
          </a:p>
          <a:p>
            <a:pPr lvl="1"/>
            <a:r>
              <a:rPr lang="es-ES" dirty="0" err="1" smtClean="0"/>
              <a:t>It</a:t>
            </a:r>
            <a:r>
              <a:rPr lang="es-ES" dirty="0" smtClean="0"/>
              <a:t> can be </a:t>
            </a:r>
            <a:r>
              <a:rPr lang="es-ES" dirty="0" err="1" smtClean="0"/>
              <a:t>compressed</a:t>
            </a:r>
            <a:r>
              <a:rPr lang="es-ES" dirty="0" smtClean="0"/>
              <a:t> </a:t>
            </a:r>
            <a:r>
              <a:rPr lang="es-ES" dirty="0" err="1" smtClean="0"/>
              <a:t>using</a:t>
            </a:r>
            <a:r>
              <a:rPr lang="es-ES" dirty="0" smtClean="0"/>
              <a:t> </a:t>
            </a:r>
            <a:r>
              <a:rPr lang="es-ES" dirty="0" err="1" smtClean="0"/>
              <a:t>the</a:t>
            </a:r>
            <a:r>
              <a:rPr lang="es-ES" dirty="0" smtClean="0"/>
              <a:t> xrff.gz </a:t>
            </a:r>
            <a:r>
              <a:rPr lang="es-ES" dirty="0" err="1" smtClean="0"/>
              <a:t>extension</a:t>
            </a:r>
            <a:endParaRPr lang="en-GB" dirty="0"/>
          </a:p>
          <a:p>
            <a:pPr marL="0" lvl="1" indent="0">
              <a:buNone/>
            </a:pPr>
            <a:r>
              <a:rPr lang="fi-FI" dirty="0" smtClean="0"/>
              <a:t>Both ARFF and XRFF formats support sparse data when most data values are zeros </a:t>
            </a:r>
          </a:p>
          <a:p>
            <a:pPr lvl="1"/>
            <a:r>
              <a:rPr lang="fi-FI" dirty="0" smtClean="0"/>
              <a:t>(e.g. supermarket dataset)</a:t>
            </a:r>
            <a:endParaRPr lang="fi-FI" dirty="0"/>
          </a:p>
          <a:p>
            <a:endParaRPr lang="en-GB" dirty="0"/>
          </a:p>
        </p:txBody>
      </p:sp>
      <p:sp>
        <p:nvSpPr>
          <p:cNvPr id="3" name="Title 2"/>
          <p:cNvSpPr>
            <a:spLocks noGrp="1"/>
          </p:cNvSpPr>
          <p:nvPr>
            <p:ph type="title"/>
          </p:nvPr>
        </p:nvSpPr>
        <p:spPr/>
        <p:txBody>
          <a:bodyPr/>
          <a:lstStyle/>
          <a:p>
            <a:r>
              <a:rPr lang="es-ES" dirty="0" smtClean="0"/>
              <a:t>ARFF, XRFF, and </a:t>
            </a:r>
            <a:r>
              <a:rPr lang="es-ES" dirty="0" err="1" smtClean="0"/>
              <a:t>sparse</a:t>
            </a:r>
            <a:r>
              <a:rPr lang="es-ES" dirty="0" smtClean="0"/>
              <a:t> </a:t>
            </a:r>
            <a:r>
              <a:rPr lang="es-ES" smtClean="0"/>
              <a:t>formats</a:t>
            </a:r>
            <a:endParaRPr lang="en-GB" dirty="0"/>
          </a:p>
        </p:txBody>
      </p:sp>
    </p:spTree>
    <p:extLst>
      <p:ext uri="{BB962C8B-B14F-4D97-AF65-F5344CB8AC3E}">
        <p14:creationId xmlns:p14="http://schemas.microsoft.com/office/powerpoint/2010/main" val="1698835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Autofit/>
          </a:bodyPr>
          <a:lstStyle/>
          <a:p>
            <a:pPr>
              <a:spcBef>
                <a:spcPts val="0"/>
              </a:spcBef>
            </a:pPr>
            <a:r>
              <a:rPr lang="en-GB" sz="1400" dirty="0" smtClean="0"/>
              <a:t>@</a:t>
            </a:r>
            <a:r>
              <a:rPr lang="en-GB" sz="1400" dirty="0"/>
              <a:t>relation </a:t>
            </a:r>
            <a:r>
              <a:rPr lang="en-GB" sz="1400" dirty="0" smtClean="0"/>
              <a:t>weather % </a:t>
            </a:r>
            <a:r>
              <a:rPr lang="en-GB" sz="1400" dirty="0"/>
              <a:t>Comment</a:t>
            </a:r>
          </a:p>
          <a:p>
            <a:pPr>
              <a:spcBef>
                <a:spcPts val="0"/>
              </a:spcBef>
            </a:pPr>
            <a:endParaRPr lang="en-GB" sz="1400" dirty="0"/>
          </a:p>
          <a:p>
            <a:pPr>
              <a:spcBef>
                <a:spcPts val="0"/>
              </a:spcBef>
            </a:pPr>
            <a:r>
              <a:rPr lang="en-GB" sz="1400" dirty="0"/>
              <a:t>@attribute outlook {sunny, overcast, rainy}</a:t>
            </a:r>
          </a:p>
          <a:p>
            <a:pPr>
              <a:spcBef>
                <a:spcPts val="0"/>
              </a:spcBef>
            </a:pPr>
            <a:r>
              <a:rPr lang="en-GB" sz="1400" dirty="0"/>
              <a:t>@attribute temperature real</a:t>
            </a:r>
          </a:p>
          <a:p>
            <a:pPr>
              <a:spcBef>
                <a:spcPts val="0"/>
              </a:spcBef>
            </a:pPr>
            <a:r>
              <a:rPr lang="en-GB" sz="1400" dirty="0"/>
              <a:t>@attribute humidity real</a:t>
            </a:r>
          </a:p>
          <a:p>
            <a:pPr>
              <a:spcBef>
                <a:spcPts val="0"/>
              </a:spcBef>
            </a:pPr>
            <a:r>
              <a:rPr lang="en-GB" sz="1400" dirty="0"/>
              <a:t>@attribute windy {TRUE, FALSE}</a:t>
            </a:r>
          </a:p>
          <a:p>
            <a:pPr>
              <a:spcBef>
                <a:spcPts val="0"/>
              </a:spcBef>
            </a:pPr>
            <a:r>
              <a:rPr lang="en-GB" sz="1400" dirty="0"/>
              <a:t>@attribute play {yes, no}</a:t>
            </a:r>
          </a:p>
          <a:p>
            <a:pPr>
              <a:spcBef>
                <a:spcPts val="0"/>
              </a:spcBef>
            </a:pPr>
            <a:endParaRPr lang="en-GB" sz="1400" dirty="0"/>
          </a:p>
          <a:p>
            <a:pPr>
              <a:spcBef>
                <a:spcPts val="0"/>
              </a:spcBef>
            </a:pPr>
            <a:r>
              <a:rPr lang="en-GB" sz="1400" dirty="0"/>
              <a:t>@data</a:t>
            </a:r>
          </a:p>
          <a:p>
            <a:pPr>
              <a:spcBef>
                <a:spcPts val="0"/>
              </a:spcBef>
            </a:pPr>
            <a:r>
              <a:rPr lang="en-GB" sz="1400" dirty="0"/>
              <a:t>sunny,85,85,FALSE,no</a:t>
            </a:r>
          </a:p>
          <a:p>
            <a:pPr>
              <a:spcBef>
                <a:spcPts val="0"/>
              </a:spcBef>
            </a:pPr>
            <a:r>
              <a:rPr lang="en-GB" sz="1400" dirty="0"/>
              <a:t>sunny,80,90,TRUE,no</a:t>
            </a:r>
          </a:p>
          <a:p>
            <a:pPr>
              <a:spcBef>
                <a:spcPts val="0"/>
              </a:spcBef>
            </a:pPr>
            <a:r>
              <a:rPr lang="en-GB" sz="1400" dirty="0"/>
              <a:t>overcast,83,86,FALSE,yes</a:t>
            </a:r>
          </a:p>
          <a:p>
            <a:pPr>
              <a:spcBef>
                <a:spcPts val="0"/>
              </a:spcBef>
            </a:pPr>
            <a:r>
              <a:rPr lang="en-GB" sz="1400" dirty="0"/>
              <a:t>rainy,70,96,FALSE,yes</a:t>
            </a:r>
          </a:p>
          <a:p>
            <a:pPr>
              <a:spcBef>
                <a:spcPts val="0"/>
              </a:spcBef>
            </a:pPr>
            <a:r>
              <a:rPr lang="en-GB" sz="1400" dirty="0"/>
              <a:t>rainy,68,80,FALSE,yes</a:t>
            </a:r>
          </a:p>
          <a:p>
            <a:pPr>
              <a:spcBef>
                <a:spcPts val="0"/>
              </a:spcBef>
            </a:pPr>
            <a:r>
              <a:rPr lang="en-GB" sz="1400" dirty="0"/>
              <a:t>rainy,65,70,TRUE,no</a:t>
            </a:r>
          </a:p>
          <a:p>
            <a:pPr>
              <a:spcBef>
                <a:spcPts val="0"/>
              </a:spcBef>
            </a:pPr>
            <a:r>
              <a:rPr lang="en-GB" sz="1400" dirty="0"/>
              <a:t>overcast,64,65,TRUE,yes</a:t>
            </a:r>
          </a:p>
          <a:p>
            <a:pPr>
              <a:spcBef>
                <a:spcPts val="0"/>
              </a:spcBef>
            </a:pPr>
            <a:r>
              <a:rPr lang="en-GB" sz="1400" dirty="0"/>
              <a:t>sunny,72,95,FALSE,no</a:t>
            </a:r>
          </a:p>
          <a:p>
            <a:pPr>
              <a:spcBef>
                <a:spcPts val="0"/>
              </a:spcBef>
            </a:pPr>
            <a:r>
              <a:rPr lang="en-GB" sz="1400" dirty="0"/>
              <a:t>sunny,69,70,FALSE,yes</a:t>
            </a:r>
          </a:p>
          <a:p>
            <a:pPr>
              <a:spcBef>
                <a:spcPts val="0"/>
              </a:spcBef>
            </a:pPr>
            <a:r>
              <a:rPr lang="en-GB" sz="1400" dirty="0"/>
              <a:t>rainy,75,80,FALSE,yes</a:t>
            </a:r>
          </a:p>
          <a:p>
            <a:pPr>
              <a:spcBef>
                <a:spcPts val="0"/>
              </a:spcBef>
            </a:pPr>
            <a:r>
              <a:rPr lang="en-GB" sz="1400" dirty="0"/>
              <a:t>sunny,75,70,TRUE,yes</a:t>
            </a:r>
          </a:p>
          <a:p>
            <a:pPr>
              <a:spcBef>
                <a:spcPts val="0"/>
              </a:spcBef>
            </a:pPr>
            <a:r>
              <a:rPr lang="en-GB" sz="1400" dirty="0"/>
              <a:t>overcast,72,90,TRUE,yes</a:t>
            </a:r>
          </a:p>
          <a:p>
            <a:pPr>
              <a:spcBef>
                <a:spcPts val="0"/>
              </a:spcBef>
            </a:pPr>
            <a:r>
              <a:rPr lang="en-GB" sz="1400" dirty="0"/>
              <a:t>overcast,81,75,FALSE,yes</a:t>
            </a:r>
          </a:p>
          <a:p>
            <a:pPr>
              <a:spcBef>
                <a:spcPts val="0"/>
              </a:spcBef>
            </a:pPr>
            <a:r>
              <a:rPr lang="en-GB" sz="1400" dirty="0"/>
              <a:t>rainy,71,91,TRUE,no</a:t>
            </a:r>
          </a:p>
        </p:txBody>
      </p:sp>
      <p:sp>
        <p:nvSpPr>
          <p:cNvPr id="3" name="Title 2"/>
          <p:cNvSpPr>
            <a:spLocks noGrp="1"/>
          </p:cNvSpPr>
          <p:nvPr>
            <p:ph type="title"/>
          </p:nvPr>
        </p:nvSpPr>
        <p:spPr/>
        <p:txBody>
          <a:bodyPr/>
          <a:lstStyle/>
          <a:p>
            <a:r>
              <a:rPr lang="es-ES" dirty="0" smtClean="0"/>
              <a:t>ARFF </a:t>
            </a:r>
            <a:r>
              <a:rPr lang="es-ES" dirty="0" err="1" smtClean="0"/>
              <a:t>Example</a:t>
            </a:r>
            <a:endParaRPr lang="en-GB" dirty="0"/>
          </a:p>
        </p:txBody>
      </p:sp>
      <p:pic>
        <p:nvPicPr>
          <p:cNvPr id="4" name="Picture 3"/>
          <p:cNvPicPr>
            <a:picLocks noChangeAspect="1"/>
          </p:cNvPicPr>
          <p:nvPr/>
        </p:nvPicPr>
        <p:blipFill>
          <a:blip r:embed="rId2">
            <a:lum/>
            <a:alphaModFix/>
          </a:blip>
          <a:srcRect/>
          <a:stretch>
            <a:fillRect/>
          </a:stretch>
        </p:blipFill>
        <p:spPr>
          <a:xfrm>
            <a:off x="3886200" y="1600200"/>
            <a:ext cx="5051653" cy="4427134"/>
          </a:xfrm>
          <a:prstGeom prst="rect">
            <a:avLst/>
          </a:prstGeom>
          <a:noFill/>
          <a:ln>
            <a:noFill/>
          </a:ln>
        </p:spPr>
      </p:pic>
    </p:spTree>
    <p:extLst>
      <p:ext uri="{BB962C8B-B14F-4D97-AF65-F5344CB8AC3E}">
        <p14:creationId xmlns:p14="http://schemas.microsoft.com/office/powerpoint/2010/main" val="26984702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Just the most common algorithms are included with the download but others can be installed via the Package Manager.</a:t>
            </a:r>
          </a:p>
          <a:p>
            <a:endParaRPr lang="en-GB" dirty="0"/>
          </a:p>
          <a:p>
            <a:endParaRPr lang="en-GB" dirty="0"/>
          </a:p>
        </p:txBody>
      </p:sp>
      <p:sp>
        <p:nvSpPr>
          <p:cNvPr id="3" name="Title 2"/>
          <p:cNvSpPr>
            <a:spLocks noGrp="1"/>
          </p:cNvSpPr>
          <p:nvPr>
            <p:ph type="title"/>
          </p:nvPr>
        </p:nvSpPr>
        <p:spPr/>
        <p:txBody>
          <a:bodyPr/>
          <a:lstStyle/>
          <a:p>
            <a:r>
              <a:rPr lang="en-GB" dirty="0" smtClean="0"/>
              <a:t>Package Manager (version &gt; 3.7.2)</a:t>
            </a:r>
            <a:endParaRPr lang="en-GB" dirty="0"/>
          </a:p>
        </p:txBody>
      </p:sp>
      <p:pic>
        <p:nvPicPr>
          <p:cNvPr id="5" name="Picture 4"/>
          <p:cNvPicPr>
            <a:picLocks noChangeAspect="1"/>
          </p:cNvPicPr>
          <p:nvPr/>
        </p:nvPicPr>
        <p:blipFill>
          <a:blip r:embed="rId2">
            <a:lum/>
            <a:alphaModFix/>
          </a:blip>
          <a:srcRect/>
          <a:stretch>
            <a:fillRect/>
          </a:stretch>
        </p:blipFill>
        <p:spPr>
          <a:xfrm>
            <a:off x="1828800" y="2158891"/>
            <a:ext cx="5714077" cy="4441579"/>
          </a:xfrm>
          <a:prstGeom prst="rect">
            <a:avLst/>
          </a:prstGeom>
          <a:noFill/>
          <a:ln>
            <a:noFill/>
          </a:ln>
        </p:spPr>
      </p:pic>
    </p:spTree>
    <p:extLst>
      <p:ext uri="{BB962C8B-B14F-4D97-AF65-F5344CB8AC3E}">
        <p14:creationId xmlns:p14="http://schemas.microsoft.com/office/powerpoint/2010/main" val="4206063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3"/>
          </p:nvPr>
        </p:nvSpPr>
        <p:spPr/>
        <p:txBody>
          <a:bodyPr/>
          <a:lstStyle/>
          <a:p>
            <a:pPr lvl="0"/>
            <a:r>
              <a:rPr lang="fi-FI" dirty="0"/>
              <a:t>The one to use most of the time. It can be used to find the most appropriate algorithm and parameters for a given dataset </a:t>
            </a:r>
            <a:r>
              <a:rPr lang="fi-FI" dirty="0" smtClean="0"/>
              <a:t>(usually trial &amp; </a:t>
            </a:r>
            <a:r>
              <a:rPr lang="fi-FI" dirty="0"/>
              <a:t>error approach)</a:t>
            </a:r>
          </a:p>
          <a:p>
            <a:r>
              <a:rPr lang="en-GB" dirty="0" smtClean="0"/>
              <a:t> </a:t>
            </a:r>
            <a:endParaRPr lang="en-GB" dirty="0"/>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Explorer</a:t>
            </a:r>
          </a:p>
        </p:txBody>
      </p:sp>
      <p:pic>
        <p:nvPicPr>
          <p:cNvPr id="6" name="Picture 5"/>
          <p:cNvPicPr>
            <a:picLocks noChangeAspect="1"/>
          </p:cNvPicPr>
          <p:nvPr/>
        </p:nvPicPr>
        <p:blipFill>
          <a:blip r:embed="rId3">
            <a:lum/>
            <a:alphaModFix/>
          </a:blip>
          <a:srcRect/>
          <a:stretch>
            <a:fillRect/>
          </a:stretch>
        </p:blipFill>
        <p:spPr>
          <a:xfrm>
            <a:off x="914400" y="2209800"/>
            <a:ext cx="7121561" cy="4300638"/>
          </a:xfrm>
          <a:prstGeom prst="rect">
            <a:avLst/>
          </a:prstGeom>
          <a:noFill/>
          <a:ln>
            <a:noFill/>
          </a:ln>
        </p:spPr>
      </p:pic>
    </p:spTree>
    <p:extLst>
      <p:ext uri="{BB962C8B-B14F-4D97-AF65-F5344CB8AC3E}">
        <p14:creationId xmlns:p14="http://schemas.microsoft.com/office/powerpoint/2010/main" val="32485488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Explorer </a:t>
            </a:r>
            <a:r>
              <a:rPr lang="fi-FI" dirty="0"/>
              <a:t>has 6 panels to analyse and prepare data:</a:t>
            </a:r>
          </a:p>
          <a:p>
            <a:pPr lvl="1"/>
            <a:r>
              <a:rPr lang="fi-FI" b="1" dirty="0"/>
              <a:t>Preprocess</a:t>
            </a:r>
            <a:r>
              <a:rPr lang="fi-FI" dirty="0"/>
              <a:t>: Tools and filters for data manipulation</a:t>
            </a:r>
          </a:p>
          <a:p>
            <a:pPr lvl="1"/>
            <a:r>
              <a:rPr lang="fi-FI" b="1" dirty="0"/>
              <a:t>Classification</a:t>
            </a:r>
            <a:r>
              <a:rPr lang="fi-FI" dirty="0"/>
              <a:t>: Classification and </a:t>
            </a:r>
            <a:r>
              <a:rPr lang="fi-FI" dirty="0" smtClean="0"/>
              <a:t>regresión techniques</a:t>
            </a:r>
            <a:endParaRPr lang="fi-FI" dirty="0"/>
          </a:p>
          <a:p>
            <a:pPr lvl="1"/>
            <a:r>
              <a:rPr lang="fi-FI" b="1" dirty="0"/>
              <a:t>Cluster</a:t>
            </a:r>
            <a:r>
              <a:rPr lang="fi-FI" dirty="0"/>
              <a:t>: Clustering techniques</a:t>
            </a:r>
          </a:p>
          <a:p>
            <a:pPr lvl="1"/>
            <a:r>
              <a:rPr lang="fi-FI" b="1" dirty="0"/>
              <a:t>Associate</a:t>
            </a:r>
            <a:r>
              <a:rPr lang="fi-FI" dirty="0"/>
              <a:t>: Association techniques</a:t>
            </a:r>
          </a:p>
          <a:p>
            <a:pPr lvl="1"/>
            <a:r>
              <a:rPr lang="fi-FI" b="1" dirty="0"/>
              <a:t>Select Attributes</a:t>
            </a:r>
            <a:r>
              <a:rPr lang="fi-FI" dirty="0"/>
              <a:t>: Permite aplicar diversas técnicas para la reducción del número de atributos</a:t>
            </a:r>
          </a:p>
          <a:p>
            <a:pPr lvl="1"/>
            <a:r>
              <a:rPr lang="fi-FI" b="1" dirty="0"/>
              <a:t>Visualize</a:t>
            </a:r>
            <a:r>
              <a:rPr lang="fi-FI" dirty="0"/>
              <a:t>: Visualisation techniques</a:t>
            </a:r>
          </a:p>
          <a:p>
            <a:pPr lvl="1"/>
            <a:r>
              <a:rPr lang="fi-FI" b="1" dirty="0" smtClean="0"/>
              <a:t>Other panels</a:t>
            </a:r>
            <a:r>
              <a:rPr lang="fi-FI" dirty="0" smtClean="0"/>
              <a:t> </a:t>
            </a:r>
            <a:r>
              <a:rPr lang="fi-FI" dirty="0"/>
              <a:t>can be added (e.g., Time series analysis)</a:t>
            </a:r>
          </a:p>
          <a:p>
            <a:endParaRPr lang="en-GB" dirty="0"/>
          </a:p>
        </p:txBody>
      </p:sp>
      <p:sp>
        <p:nvSpPr>
          <p:cNvPr id="3" name="Title 2"/>
          <p:cNvSpPr>
            <a:spLocks noGrp="1"/>
          </p:cNvSpPr>
          <p:nvPr>
            <p:ph type="title"/>
          </p:nvPr>
        </p:nvSpPr>
        <p:spPr/>
        <p:txBody>
          <a:bodyPr/>
          <a:lstStyle/>
          <a:p>
            <a:r>
              <a:rPr lang="en-GB" dirty="0" smtClean="0"/>
              <a:t>Explorer’s panels</a:t>
            </a:r>
            <a:endParaRPr lang="en-GB" dirty="0"/>
          </a:p>
        </p:txBody>
      </p:sp>
    </p:spTree>
    <p:extLst>
      <p:ext uri="{BB962C8B-B14F-4D97-AF65-F5344CB8AC3E}">
        <p14:creationId xmlns:p14="http://schemas.microsoft.com/office/powerpoint/2010/main" val="30669705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b="1" dirty="0"/>
              <a:t>Filter</a:t>
            </a:r>
            <a:r>
              <a:rPr lang="fi-FI" dirty="0"/>
              <a:t> algorithms are classifed as</a:t>
            </a:r>
          </a:p>
          <a:p>
            <a:pPr lvl="1"/>
            <a:r>
              <a:rPr lang="fi-FI" dirty="0"/>
              <a:t>Supervised – if the filter takes into account the class</a:t>
            </a:r>
          </a:p>
          <a:p>
            <a:pPr lvl="1"/>
            <a:r>
              <a:rPr lang="fi-FI" dirty="0"/>
              <a:t>Unsuvervised – otherwise</a:t>
            </a:r>
          </a:p>
          <a:p>
            <a:pPr lvl="1"/>
            <a:r>
              <a:rPr lang="fi-FI" dirty="0"/>
              <a:t>An in turn they are also classifed according to whether  the filter applies to instances or </a:t>
            </a:r>
            <a:r>
              <a:rPr lang="fi-FI" dirty="0" smtClean="0"/>
              <a:t>attributes</a:t>
            </a:r>
          </a:p>
          <a:p>
            <a:r>
              <a:rPr lang="fi-FI" dirty="0" smtClean="0"/>
              <a:t>Filter examples include discretisation (can be supervised or unsupervised, attribute selection (we will cover this one later in detail), etc.</a:t>
            </a:r>
            <a:endParaRPr lang="fi-FI" dirty="0"/>
          </a:p>
          <a:p>
            <a:endParaRPr lang="en-GB" dirty="0"/>
          </a:p>
        </p:txBody>
      </p:sp>
      <p:sp>
        <p:nvSpPr>
          <p:cNvPr id="3" name="Title 2"/>
          <p:cNvSpPr>
            <a:spLocks noGrp="1"/>
          </p:cNvSpPr>
          <p:nvPr>
            <p:ph type="title"/>
          </p:nvPr>
        </p:nvSpPr>
        <p:spPr/>
        <p:txBody>
          <a:bodyPr/>
          <a:lstStyle/>
          <a:p>
            <a:r>
              <a:rPr lang="fi-FI" dirty="0"/>
              <a:t>Preprocess Panel</a:t>
            </a:r>
            <a:endParaRPr lang="en-GB" dirty="0"/>
          </a:p>
        </p:txBody>
      </p:sp>
      <p:pic>
        <p:nvPicPr>
          <p:cNvPr id="4" name="Picture 3"/>
          <p:cNvPicPr>
            <a:picLocks noChangeAspect="1"/>
          </p:cNvPicPr>
          <p:nvPr/>
        </p:nvPicPr>
        <p:blipFill>
          <a:blip r:embed="rId2">
            <a:lum/>
            <a:alphaModFix/>
          </a:blip>
          <a:srcRect/>
          <a:stretch>
            <a:fillRect/>
          </a:stretch>
        </p:blipFill>
        <p:spPr>
          <a:xfrm>
            <a:off x="2389517" y="3936446"/>
            <a:ext cx="4701476" cy="247559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073614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3"/>
          </p:nvPr>
        </p:nvSpPr>
        <p:spPr/>
        <p:txBody>
          <a:bodyPr/>
          <a:lstStyle/>
          <a:p>
            <a:endParaRPr lang="en-GB"/>
          </a:p>
        </p:txBody>
      </p:sp>
      <p:sp>
        <p:nvSpPr>
          <p:cNvPr id="2" name="Title 1"/>
          <p:cNvSpPr txBox="1">
            <a:spLocks noGrp="1"/>
          </p:cNvSpPr>
          <p:nvPr>
            <p:ph type="title"/>
          </p:nvPr>
        </p:nvSpPr>
        <p:spPr/>
        <p:txBody>
          <a:bodyPr>
            <a:norm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sz="3600" dirty="0"/>
              <a:t>Unsupervised Discretize Filter Example</a:t>
            </a:r>
          </a:p>
        </p:txBody>
      </p:sp>
      <p:pic>
        <p:nvPicPr>
          <p:cNvPr id="4" name="Picture 3"/>
          <p:cNvPicPr>
            <a:picLocks noChangeAspect="1"/>
          </p:cNvPicPr>
          <p:nvPr/>
        </p:nvPicPr>
        <p:blipFill>
          <a:blip r:embed="rId3">
            <a:lum/>
            <a:alphaModFix/>
          </a:blip>
          <a:srcRect/>
          <a:stretch>
            <a:fillRect/>
          </a:stretch>
        </p:blipFill>
        <p:spPr>
          <a:xfrm>
            <a:off x="609599" y="1483312"/>
            <a:ext cx="6759353" cy="5069888"/>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1094390" y="2724199"/>
            <a:ext cx="4371541" cy="4026472"/>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5486060" y="1296544"/>
            <a:ext cx="3334741" cy="5365799"/>
          </a:xfrm>
          <a:prstGeom prst="rect">
            <a:avLst/>
          </a:prstGeom>
          <a:noFill/>
          <a:ln>
            <a:noFill/>
          </a:ln>
        </p:spPr>
      </p:pic>
      <p:sp>
        <p:nvSpPr>
          <p:cNvPr id="7" name="Rounded Rectangle 6"/>
          <p:cNvSpPr/>
          <p:nvPr/>
        </p:nvSpPr>
        <p:spPr>
          <a:xfrm>
            <a:off x="1094390" y="2286000"/>
            <a:ext cx="2563210" cy="685800"/>
          </a:xfrm>
          <a:prstGeom prst="roundRect">
            <a:avLst/>
          </a:prstGeom>
          <a:solidFill>
            <a:srgbClr val="4A5A7A">
              <a:alpha val="30196"/>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215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Discretize Supervised Filter Example</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551886" y="1524000"/>
            <a:ext cx="6687114" cy="4484344"/>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379778" y="2362200"/>
            <a:ext cx="4518489" cy="3179635"/>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4362616" y="1752600"/>
            <a:ext cx="4423462" cy="4804072"/>
          </a:xfrm>
          <a:prstGeom prst="rect">
            <a:avLst/>
          </a:prstGeom>
          <a:noFill/>
          <a:ln>
            <a:noFill/>
          </a:ln>
        </p:spPr>
      </p:pic>
    </p:spTree>
    <p:extLst>
      <p:ext uri="{BB962C8B-B14F-4D97-AF65-F5344CB8AC3E}">
        <p14:creationId xmlns:p14="http://schemas.microsoft.com/office/powerpoint/2010/main" val="851408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a:t>Classification and regression Techniques:</a:t>
            </a:r>
          </a:p>
          <a:p>
            <a:pPr lvl="0"/>
            <a:r>
              <a:rPr lang="fi-FI" dirty="0"/>
              <a:t>Decission Trees: ID3, C4.5 (J48), ...</a:t>
            </a:r>
          </a:p>
          <a:p>
            <a:pPr lvl="0"/>
            <a:r>
              <a:rPr lang="fi-FI" dirty="0"/>
              <a:t>Regresssion Trees: LMT (M5), ...</a:t>
            </a:r>
          </a:p>
          <a:p>
            <a:pPr lvl="0"/>
            <a:r>
              <a:rPr lang="fi-FI" dirty="0"/>
              <a:t>Rules: PART, CN2, ...</a:t>
            </a:r>
          </a:p>
          <a:p>
            <a:pPr lvl="0"/>
            <a:r>
              <a:rPr lang="fi-FI" dirty="0"/>
              <a:t>Functions: Regression, Neural Networks, logistic regression, Support Vector Machines (SMO), ...</a:t>
            </a:r>
          </a:p>
          <a:p>
            <a:pPr lvl="0"/>
            <a:r>
              <a:rPr lang="fi-FI" dirty="0"/>
              <a:t>Lazy Techniques: IB1, IBK, ...</a:t>
            </a:r>
          </a:p>
          <a:p>
            <a:pPr lvl="0"/>
            <a:r>
              <a:rPr lang="fi-FI" dirty="0"/>
              <a:t>Bayesian Techniques: Naive Bayes</a:t>
            </a:r>
          </a:p>
          <a:p>
            <a:pPr lvl="0"/>
            <a:r>
              <a:rPr lang="fi-FI" dirty="0"/>
              <a:t>Meta-techniques</a:t>
            </a:r>
            <a:endParaRPr lang="en-GB" dirty="0"/>
          </a:p>
        </p:txBody>
      </p:sp>
      <p:sp>
        <p:nvSpPr>
          <p:cNvPr id="3" name="Title 2"/>
          <p:cNvSpPr>
            <a:spLocks noGrp="1"/>
          </p:cNvSpPr>
          <p:nvPr>
            <p:ph type="title"/>
          </p:nvPr>
        </p:nvSpPr>
        <p:spPr/>
        <p:txBody>
          <a:bodyPr/>
          <a:lstStyle/>
          <a:p>
            <a:r>
              <a:rPr lang="en-GB" dirty="0" smtClean="0"/>
              <a:t>‘Classify’ Panel</a:t>
            </a:r>
            <a:endParaRPr lang="en-GB" dirty="0"/>
          </a:p>
        </p:txBody>
      </p:sp>
    </p:spTree>
    <p:extLst>
      <p:ext uri="{BB962C8B-B14F-4D97-AF65-F5344CB8AC3E}">
        <p14:creationId xmlns:p14="http://schemas.microsoft.com/office/powerpoint/2010/main" val="29381540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endParaRPr lang="en-GB"/>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pPr>
            <a:r>
              <a:rPr lang="fi-FI" dirty="0" smtClean="0"/>
              <a:t>’Classify’ Panel – Trees (C4.5 – J48)</a:t>
            </a:r>
            <a:endParaRPr lang="fi-FI" dirty="0"/>
          </a:p>
        </p:txBody>
      </p:sp>
      <p:pic>
        <p:nvPicPr>
          <p:cNvPr id="4" name="Picture 3"/>
          <p:cNvPicPr>
            <a:picLocks noChangeAspect="1"/>
          </p:cNvPicPr>
          <p:nvPr/>
        </p:nvPicPr>
        <p:blipFill>
          <a:blip r:embed="rId3">
            <a:lum/>
            <a:alphaModFix/>
          </a:blip>
          <a:srcRect/>
          <a:stretch>
            <a:fillRect/>
          </a:stretch>
        </p:blipFill>
        <p:spPr>
          <a:xfrm>
            <a:off x="609600" y="2590800"/>
            <a:ext cx="5494877" cy="3905309"/>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4495800" y="1524000"/>
            <a:ext cx="4241900" cy="2790673"/>
          </a:xfrm>
          <a:prstGeom prst="rect">
            <a:avLst/>
          </a:prstGeom>
          <a:noFill/>
          <a:ln>
            <a:noFill/>
          </a:ln>
        </p:spPr>
      </p:pic>
    </p:spTree>
    <p:extLst>
      <p:ext uri="{BB962C8B-B14F-4D97-AF65-F5344CB8AC3E}">
        <p14:creationId xmlns:p14="http://schemas.microsoft.com/office/powerpoint/2010/main" val="4131843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fi-FI" dirty="0"/>
              <a:t>We can generate rules from trees or there are other algorithms to generate rules directly</a:t>
            </a:r>
            <a:endParaRPr lang="en-GB" dirty="0"/>
          </a:p>
        </p:txBody>
      </p:sp>
      <p:sp>
        <p:nvSpPr>
          <p:cNvPr id="3" name="Title 2"/>
          <p:cNvSpPr>
            <a:spLocks noGrp="1"/>
          </p:cNvSpPr>
          <p:nvPr>
            <p:ph type="title"/>
          </p:nvPr>
        </p:nvSpPr>
        <p:spPr/>
        <p:txBody>
          <a:bodyPr/>
          <a:lstStyle/>
          <a:p>
            <a:r>
              <a:rPr lang="es-ES" dirty="0" smtClean="0"/>
              <a:t>‘</a:t>
            </a:r>
            <a:r>
              <a:rPr lang="es-ES" dirty="0" err="1" smtClean="0"/>
              <a:t>Classify</a:t>
            </a:r>
            <a:r>
              <a:rPr lang="es-ES" dirty="0" smtClean="0"/>
              <a:t>’ Panel – Rules</a:t>
            </a:r>
            <a:endParaRPr lang="en-GB" dirty="0"/>
          </a:p>
        </p:txBody>
      </p:sp>
      <p:pic>
        <p:nvPicPr>
          <p:cNvPr id="4" name="Picture 3"/>
          <p:cNvPicPr>
            <a:picLocks noChangeAspect="1"/>
          </p:cNvPicPr>
          <p:nvPr/>
        </p:nvPicPr>
        <p:blipFill>
          <a:blip r:embed="rId2">
            <a:lum/>
            <a:alphaModFix/>
          </a:blip>
          <a:srcRect/>
          <a:stretch>
            <a:fillRect/>
          </a:stretch>
        </p:blipFill>
        <p:spPr>
          <a:xfrm>
            <a:off x="1828800" y="2667000"/>
            <a:ext cx="5468929" cy="3733800"/>
          </a:xfrm>
          <a:prstGeom prst="rect">
            <a:avLst/>
          </a:prstGeom>
          <a:noFill/>
          <a:ln>
            <a:noFill/>
          </a:ln>
        </p:spPr>
      </p:pic>
    </p:spTree>
    <p:extLst>
      <p:ext uri="{BB962C8B-B14F-4D97-AF65-F5344CB8AC3E}">
        <p14:creationId xmlns:p14="http://schemas.microsoft.com/office/powerpoint/2010/main" val="1295821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quarter" idx="13"/>
          </p:nvPr>
        </p:nvSpPr>
        <p:spPr/>
        <p:txBody>
          <a:bodyPr/>
          <a:lstStyle/>
          <a:p>
            <a:endParaRPr lang="en-GB"/>
          </a:p>
        </p:txBody>
      </p:sp>
      <p:sp>
        <p:nvSpPr>
          <p:cNvPr id="8" name="Title 7"/>
          <p:cNvSpPr>
            <a:spLocks noGrp="1"/>
          </p:cNvSpPr>
          <p:nvPr>
            <p:ph type="title"/>
          </p:nvPr>
        </p:nvSpPr>
        <p:spPr/>
        <p:txBody>
          <a:bodyPr>
            <a:normAutofit fontScale="90000"/>
          </a:bodyPr>
          <a:lstStyle/>
          <a:p>
            <a:r>
              <a:rPr lang="es-ES" dirty="0" smtClean="0"/>
              <a:t>‘</a:t>
            </a:r>
            <a:r>
              <a:rPr lang="es-ES" dirty="0" err="1" smtClean="0"/>
              <a:t>Classify</a:t>
            </a:r>
            <a:r>
              <a:rPr lang="es-ES" dirty="0" smtClean="0"/>
              <a:t> Panel – </a:t>
            </a:r>
            <a:r>
              <a:rPr lang="es-ES" dirty="0" err="1" smtClean="0"/>
              <a:t>Regression</a:t>
            </a:r>
            <a:r>
              <a:rPr lang="es-ES" dirty="0" smtClean="0"/>
              <a:t> </a:t>
            </a:r>
            <a:r>
              <a:rPr lang="es-ES" dirty="0" err="1" smtClean="0"/>
              <a:t>trees</a:t>
            </a:r>
            <a:r>
              <a:rPr lang="es-ES" smtClean="0"/>
              <a:t> (M5P)</a:t>
            </a:r>
            <a:endParaRPr lang="en-GB"/>
          </a:p>
        </p:txBody>
      </p:sp>
      <p:pic>
        <p:nvPicPr>
          <p:cNvPr id="4" name="Picture 3"/>
          <p:cNvPicPr>
            <a:picLocks noChangeAspect="1"/>
          </p:cNvPicPr>
          <p:nvPr/>
        </p:nvPicPr>
        <p:blipFill>
          <a:blip r:embed="rId3">
            <a:lum/>
            <a:alphaModFix/>
          </a:blip>
          <a:srcRect/>
          <a:stretch>
            <a:fillRect/>
          </a:stretch>
        </p:blipFill>
        <p:spPr>
          <a:xfrm>
            <a:off x="1213636" y="1371600"/>
            <a:ext cx="5373726" cy="4432418"/>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4953000" y="4871728"/>
            <a:ext cx="4077645" cy="1529072"/>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416154" y="1315528"/>
            <a:ext cx="1641246" cy="5313872"/>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5488544" y="1967782"/>
            <a:ext cx="3542101" cy="3240054"/>
          </a:xfrm>
          <a:prstGeom prst="rect">
            <a:avLst/>
          </a:prstGeom>
          <a:noFill/>
          <a:ln>
            <a:noFill/>
          </a:ln>
        </p:spPr>
      </p:pic>
    </p:spTree>
    <p:extLst>
      <p:ext uri="{BB962C8B-B14F-4D97-AF65-F5344CB8AC3E}">
        <p14:creationId xmlns:p14="http://schemas.microsoft.com/office/powerpoint/2010/main" val="2240378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pPr lvl="0"/>
            <a:r>
              <a:rPr lang="fi-FI" dirty="0" smtClean="0"/>
              <a:t>Lazy techniques </a:t>
            </a:r>
            <a:r>
              <a:rPr lang="en-GB" dirty="0"/>
              <a:t> (also known as Collaborative Filtering or Instance-based Learning</a:t>
            </a:r>
            <a:r>
              <a:rPr lang="en-GB" dirty="0" smtClean="0"/>
              <a:t>)</a:t>
            </a:r>
            <a:r>
              <a:rPr lang="fi-FI" dirty="0" smtClean="0"/>
              <a:t> </a:t>
            </a:r>
            <a:r>
              <a:rPr lang="fi-FI" dirty="0"/>
              <a:t>do not build models, just retain instances.</a:t>
            </a:r>
          </a:p>
          <a:p>
            <a:pPr lvl="0"/>
            <a:r>
              <a:rPr lang="fi-FI" dirty="0"/>
              <a:t>Once a new instance needs to be classifed, these techniques search for 'similar' instances in the repository</a:t>
            </a:r>
          </a:p>
          <a:p>
            <a:pPr lvl="0"/>
            <a:r>
              <a:rPr lang="en-GB" b="1" dirty="0" err="1" smtClean="0"/>
              <a:t>Weka’s</a:t>
            </a:r>
            <a:r>
              <a:rPr lang="en-GB" b="1" dirty="0" smtClean="0"/>
              <a:t> </a:t>
            </a:r>
            <a:r>
              <a:rPr lang="en-GB" b="1" dirty="0" err="1" smtClean="0"/>
              <a:t>IBk</a:t>
            </a:r>
            <a:r>
              <a:rPr lang="en-GB" dirty="0"/>
              <a:t> implements k-NN. </a:t>
            </a:r>
          </a:p>
          <a:p>
            <a:pPr marL="285750" lvl="0" indent="-285750">
              <a:buFont typeface="Arial" pitchFamily="34" charset="0"/>
              <a:buChar char="•"/>
            </a:pPr>
            <a:r>
              <a:rPr lang="en-GB" dirty="0" err="1"/>
              <a:t>Weka's</a:t>
            </a:r>
            <a:r>
              <a:rPr lang="en-GB" dirty="0"/>
              <a:t> </a:t>
            </a:r>
            <a:r>
              <a:rPr lang="en-GB" dirty="0" err="1"/>
              <a:t>IBk</a:t>
            </a:r>
            <a:r>
              <a:rPr lang="en-GB" dirty="0"/>
              <a:t> uses the Euclidean distance by default</a:t>
            </a:r>
            <a:r>
              <a:rPr lang="en-GB" dirty="0" smtClean="0"/>
              <a:t>.</a:t>
            </a:r>
          </a:p>
          <a:p>
            <a:pPr marL="285750" lvl="0" indent="-285750">
              <a:buFont typeface="Arial" pitchFamily="34" charset="0"/>
              <a:buChar char="•"/>
            </a:pPr>
            <a:r>
              <a:rPr lang="en-GB" dirty="0" smtClean="0"/>
              <a:t>The  </a:t>
            </a:r>
            <a:r>
              <a:rPr lang="en-GB" dirty="0"/>
              <a:t>sum of the squared differences between normalized attribute values is  </a:t>
            </a:r>
            <a:r>
              <a:rPr lang="en-GB" dirty="0" smtClean="0"/>
              <a:t>computed</a:t>
            </a:r>
            <a:r>
              <a:rPr lang="en-GB" dirty="0"/>
              <a:t>; this is then normalized by the number of attributes in the  data; finally the square root is taken. </a:t>
            </a:r>
          </a:p>
          <a:p>
            <a:pPr marL="285750" lvl="0" indent="-285750">
              <a:buFont typeface="Arial" pitchFamily="34" charset="0"/>
              <a:buChar char="•"/>
            </a:pPr>
            <a:r>
              <a:rPr lang="en-GB" dirty="0"/>
              <a:t>Following this, weighting can be applied to the distances (if </a:t>
            </a:r>
            <a:r>
              <a:rPr lang="en-GB" dirty="0" smtClean="0"/>
              <a:t>selected). </a:t>
            </a:r>
            <a:endParaRPr lang="en-GB" dirty="0"/>
          </a:p>
          <a:p>
            <a:pPr marL="457200" lvl="1" indent="-285750"/>
            <a:r>
              <a:rPr lang="en-GB" dirty="0" smtClean="0"/>
              <a:t>Normalising </a:t>
            </a:r>
            <a:r>
              <a:rPr lang="en-GB" dirty="0"/>
              <a:t>distances for all attributes so </a:t>
            </a:r>
            <a:r>
              <a:rPr lang="en-GB" dirty="0" smtClean="0"/>
              <a:t>that </a:t>
            </a:r>
            <a:r>
              <a:rPr lang="en-GB" dirty="0"/>
              <a:t>attributes </a:t>
            </a:r>
            <a:r>
              <a:rPr lang="en-GB" dirty="0" smtClean="0"/>
              <a:t>have </a:t>
            </a:r>
            <a:r>
              <a:rPr lang="en-GB" dirty="0"/>
              <a:t>the same impact on the </a:t>
            </a:r>
            <a:r>
              <a:rPr lang="en-GB" dirty="0" smtClean="0"/>
              <a:t>distance function.</a:t>
            </a:r>
          </a:p>
          <a:p>
            <a:pPr marL="285750" lvl="0" indent="-285750">
              <a:buFont typeface="Arial" pitchFamily="34" charset="0"/>
              <a:buChar char="•"/>
            </a:pPr>
            <a:r>
              <a:rPr lang="en-GB" dirty="0" smtClean="0"/>
              <a:t>It </a:t>
            </a:r>
            <a:r>
              <a:rPr lang="en-GB" dirty="0"/>
              <a:t>may return </a:t>
            </a:r>
            <a:r>
              <a:rPr lang="en-GB" i="1" dirty="0" smtClean="0"/>
              <a:t>k</a:t>
            </a:r>
            <a:r>
              <a:rPr lang="en-GB" dirty="0" smtClean="0"/>
              <a:t> neighbours. If </a:t>
            </a:r>
            <a:r>
              <a:rPr lang="en-GB" dirty="0"/>
              <a:t>there are ties in </a:t>
            </a:r>
            <a:r>
              <a:rPr lang="en-GB" dirty="0" smtClean="0"/>
              <a:t>the distance, neighbours </a:t>
            </a:r>
            <a:r>
              <a:rPr lang="en-GB" dirty="0"/>
              <a:t>are voted to form the final classification. </a:t>
            </a:r>
            <a:endParaRPr lang="en-GB" dirty="0" smtClean="0"/>
          </a:p>
        </p:txBody>
      </p:sp>
      <p:sp>
        <p:nvSpPr>
          <p:cNvPr id="3" name="Title 2"/>
          <p:cNvSpPr>
            <a:spLocks noGrp="1"/>
          </p:cNvSpPr>
          <p:nvPr>
            <p:ph type="title"/>
          </p:nvPr>
        </p:nvSpPr>
        <p:spPr/>
        <p:txBody>
          <a:bodyPr/>
          <a:lstStyle/>
          <a:p>
            <a:r>
              <a:rPr lang="fi-FI" dirty="0"/>
              <a:t>Lazy Techniques</a:t>
            </a:r>
            <a:endParaRPr lang="en-GB" dirty="0"/>
          </a:p>
        </p:txBody>
      </p:sp>
    </p:spTree>
    <p:extLst>
      <p:ext uri="{BB962C8B-B14F-4D97-AF65-F5344CB8AC3E}">
        <p14:creationId xmlns:p14="http://schemas.microsoft.com/office/powerpoint/2010/main" val="1998761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p:txBody>
          <a:bodyPr/>
          <a:lstStyle/>
          <a:p>
            <a:endParaRPr lang="en-GB"/>
          </a:p>
        </p:txBody>
      </p:sp>
      <p:sp>
        <p:nvSpPr>
          <p:cNvPr id="6" name="Title 5"/>
          <p:cNvSpPr>
            <a:spLocks noGrp="1"/>
          </p:cNvSpPr>
          <p:nvPr>
            <p:ph type="title"/>
          </p:nvPr>
        </p:nvSpPr>
        <p:spPr/>
        <p:txBody>
          <a:bodyPr/>
          <a:lstStyle/>
          <a:p>
            <a:r>
              <a:rPr lang="es-ES" dirty="0" err="1" smtClean="0"/>
              <a:t>IBk</a:t>
            </a:r>
            <a:endParaRPr lang="en-GB" dirty="0"/>
          </a:p>
        </p:txBody>
      </p:sp>
      <p:pic>
        <p:nvPicPr>
          <p:cNvPr id="4" name="Picture 3"/>
          <p:cNvPicPr>
            <a:picLocks noChangeAspect="1"/>
          </p:cNvPicPr>
          <p:nvPr/>
        </p:nvPicPr>
        <p:blipFill>
          <a:blip r:embed="rId3">
            <a:lum/>
            <a:alphaModFix/>
          </a:blip>
          <a:srcRect/>
          <a:stretch>
            <a:fillRect/>
          </a:stretch>
        </p:blipFill>
        <p:spPr>
          <a:xfrm>
            <a:off x="304800" y="1702676"/>
            <a:ext cx="7339564" cy="4963773"/>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2041634" y="1143000"/>
            <a:ext cx="6954886" cy="3697927"/>
          </a:xfrm>
          <a:prstGeom prst="rect">
            <a:avLst/>
          </a:prstGeom>
          <a:noFill/>
          <a:ln>
            <a:noFill/>
          </a:ln>
        </p:spPr>
      </p:pic>
      <p:pic>
        <p:nvPicPr>
          <p:cNvPr id="8" name="Picture 7"/>
          <p:cNvPicPr>
            <a:picLocks noChangeAspect="1"/>
          </p:cNvPicPr>
          <p:nvPr/>
        </p:nvPicPr>
        <p:blipFill>
          <a:blip r:embed="rId5">
            <a:lum/>
            <a:alphaModFix/>
          </a:blip>
          <a:srcRect/>
          <a:stretch>
            <a:fillRect/>
          </a:stretch>
        </p:blipFill>
        <p:spPr>
          <a:xfrm>
            <a:off x="4887310" y="228600"/>
            <a:ext cx="4109210" cy="3733627"/>
          </a:xfrm>
          <a:prstGeom prst="rect">
            <a:avLst/>
          </a:prstGeom>
          <a:noFill/>
          <a:ln>
            <a:noFill/>
          </a:ln>
        </p:spPr>
      </p:pic>
    </p:spTree>
    <p:extLst>
      <p:ext uri="{BB962C8B-B14F-4D97-AF65-F5344CB8AC3E}">
        <p14:creationId xmlns:p14="http://schemas.microsoft.com/office/powerpoint/2010/main" val="3616627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3"/>
          </p:nvPr>
        </p:nvSpPr>
        <p:spPr/>
        <p:txBody>
          <a:bodyPr/>
          <a:lstStyle/>
          <a:p>
            <a:endParaRPr lang="en-GB"/>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Cluster Tab</a:t>
            </a:r>
          </a:p>
        </p:txBody>
      </p:sp>
      <p:pic>
        <p:nvPicPr>
          <p:cNvPr id="4" name="Picture 3"/>
          <p:cNvPicPr>
            <a:picLocks noChangeAspect="1"/>
          </p:cNvPicPr>
          <p:nvPr/>
        </p:nvPicPr>
        <p:blipFill>
          <a:blip r:embed="rId3">
            <a:lum/>
            <a:alphaModFix/>
          </a:blip>
          <a:srcRect/>
          <a:stretch>
            <a:fillRect/>
          </a:stretch>
        </p:blipFill>
        <p:spPr>
          <a:xfrm>
            <a:off x="914400" y="1378145"/>
            <a:ext cx="7391400" cy="5139220"/>
          </a:xfrm>
          <a:prstGeom prst="rect">
            <a:avLst/>
          </a:prstGeom>
          <a:noFill/>
          <a:ln>
            <a:noFill/>
          </a:ln>
        </p:spPr>
      </p:pic>
    </p:spTree>
    <p:extLst>
      <p:ext uri="{BB962C8B-B14F-4D97-AF65-F5344CB8AC3E}">
        <p14:creationId xmlns:p14="http://schemas.microsoft.com/office/powerpoint/2010/main" val="1423136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Association</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345164" y="1495108"/>
            <a:ext cx="8537028" cy="4840650"/>
          </a:xfrm>
          <a:prstGeom prst="rect">
            <a:avLst/>
          </a:prstGeom>
          <a:noFill/>
          <a:ln>
            <a:noFill/>
          </a:ln>
        </p:spPr>
      </p:pic>
    </p:spTree>
    <p:extLst>
      <p:ext uri="{BB962C8B-B14F-4D97-AF65-F5344CB8AC3E}">
        <p14:creationId xmlns:p14="http://schemas.microsoft.com/office/powerpoint/2010/main" val="1316129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Association</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345164" y="1495108"/>
            <a:ext cx="8537028" cy="4840650"/>
          </a:xfrm>
          <a:prstGeom prst="rect">
            <a:avLst/>
          </a:prstGeom>
          <a:noFill/>
          <a:ln>
            <a:noFill/>
          </a:ln>
        </p:spPr>
      </p:pic>
    </p:spTree>
    <p:extLst>
      <p:ext uri="{BB962C8B-B14F-4D97-AF65-F5344CB8AC3E}">
        <p14:creationId xmlns:p14="http://schemas.microsoft.com/office/powerpoint/2010/main" val="38486723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a:t>Feature selection is important in different ways:</a:t>
            </a:r>
          </a:p>
          <a:p>
            <a:pPr lvl="1"/>
            <a:r>
              <a:rPr lang="en-GB" dirty="0"/>
              <a:t>A reduced volume of data allows different data mining or searching techniques to be applied.</a:t>
            </a:r>
          </a:p>
          <a:p>
            <a:pPr lvl="1"/>
            <a:r>
              <a:rPr lang="en-GB" dirty="0" smtClean="0"/>
              <a:t>Irrelevant </a:t>
            </a:r>
            <a:r>
              <a:rPr lang="en-GB" dirty="0"/>
              <a:t>and redundant attributes can generate less accurate and more complex models. Furthermore, data mining algorithms can be executed faster.</a:t>
            </a:r>
          </a:p>
          <a:p>
            <a:pPr lvl="1"/>
            <a:r>
              <a:rPr lang="en-GB" dirty="0" smtClean="0"/>
              <a:t>We </a:t>
            </a:r>
            <a:r>
              <a:rPr lang="en-GB" dirty="0"/>
              <a:t>can avoid the collection of data for those irrelevant and redundant attributes in the future</a:t>
            </a:r>
            <a:r>
              <a:rPr lang="en-GB" dirty="0" smtClean="0"/>
              <a:t>.</a:t>
            </a:r>
          </a:p>
          <a:p>
            <a:r>
              <a:rPr lang="en-GB" dirty="0" smtClean="0"/>
              <a:t>There </a:t>
            </a:r>
            <a:r>
              <a:rPr lang="en-GB" dirty="0"/>
              <a:t>exist two major approach in feature selection from the method's output point of view depending on the way that features are evaluated:</a:t>
            </a:r>
          </a:p>
          <a:p>
            <a:pPr marL="457200" lvl="1" indent="-285750"/>
            <a:r>
              <a:rPr lang="en-GB" sz="1800" b="1" dirty="0">
                <a:solidFill>
                  <a:srgbClr val="FFFF00"/>
                </a:solidFill>
              </a:rPr>
              <a:t>Feature ranking</a:t>
            </a:r>
            <a:r>
              <a:rPr lang="en-GB" dirty="0"/>
              <a:t>, a.k.a. feature weighting, assesses individual features and assigns them weights according to their degrees of relevance</a:t>
            </a:r>
          </a:p>
          <a:p>
            <a:pPr marL="457200" lvl="1" indent="-285750"/>
            <a:r>
              <a:rPr lang="en-GB" sz="1800" b="1" dirty="0">
                <a:solidFill>
                  <a:srgbClr val="FFFF00"/>
                </a:solidFill>
              </a:rPr>
              <a:t>Feature subset selection </a:t>
            </a:r>
            <a:r>
              <a:rPr lang="en-GB" sz="1800" dirty="0">
                <a:solidFill>
                  <a:srgbClr val="FFFF00"/>
                </a:solidFill>
              </a:rPr>
              <a:t>(FSS)</a:t>
            </a:r>
            <a:r>
              <a:rPr lang="en-GB" sz="1800" dirty="0"/>
              <a:t> </a:t>
            </a:r>
            <a:r>
              <a:rPr lang="en-GB" dirty="0"/>
              <a:t>evaluate the goodness of each found feature subset (Unusually, some search strategies in combination with subset evaluation can provide a ranked list).</a:t>
            </a:r>
          </a:p>
          <a:p>
            <a:pPr lvl="1"/>
            <a:endParaRPr lang="fi-FI" dirty="0"/>
          </a:p>
          <a:p>
            <a:endParaRPr lang="en-GB" dirty="0"/>
          </a:p>
        </p:txBody>
      </p:sp>
      <p:sp>
        <p:nvSpPr>
          <p:cNvPr id="3" name="Title 2"/>
          <p:cNvSpPr>
            <a:spLocks noGrp="1"/>
          </p:cNvSpPr>
          <p:nvPr>
            <p:ph type="title"/>
          </p:nvPr>
        </p:nvSpPr>
        <p:spPr/>
        <p:txBody>
          <a:bodyPr/>
          <a:lstStyle/>
          <a:p>
            <a:r>
              <a:rPr lang="fi-FI" dirty="0"/>
              <a:t>Attribute Selection</a:t>
            </a:r>
            <a:endParaRPr lang="en-GB" dirty="0"/>
          </a:p>
        </p:txBody>
      </p:sp>
    </p:spTree>
    <p:extLst>
      <p:ext uri="{BB962C8B-B14F-4D97-AF65-F5344CB8AC3E}">
        <p14:creationId xmlns:p14="http://schemas.microsoft.com/office/powerpoint/2010/main" val="8429649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Feature </a:t>
            </a:r>
            <a:r>
              <a:rPr lang="en-GB" dirty="0"/>
              <a:t>ranking algorithms category, one can expect a </a:t>
            </a:r>
            <a:r>
              <a:rPr lang="en-GB" dirty="0" smtClean="0"/>
              <a:t>ranked list </a:t>
            </a:r>
            <a:r>
              <a:rPr lang="en-GB" dirty="0"/>
              <a:t>of features which are ordered according to evaluation </a:t>
            </a:r>
            <a:r>
              <a:rPr lang="en-GB" dirty="0" smtClean="0"/>
              <a:t>measures</a:t>
            </a:r>
          </a:p>
          <a:p>
            <a:pPr lvl="0"/>
            <a:r>
              <a:rPr lang="fi-FI" dirty="0" smtClean="0"/>
              <a:t>Each attribute correlation with the class is evaluated independenly of other attributes according to a statistical test  (e.g.: </a:t>
            </a:r>
            <a:r>
              <a:rPr lang="el-GR" dirty="0" smtClean="0"/>
              <a:t>χ</a:t>
            </a:r>
            <a:r>
              <a:rPr lang="es-ES" dirty="0" smtClean="0"/>
              <a:t>-</a:t>
            </a:r>
            <a:r>
              <a:rPr lang="es-ES" dirty="0" err="1" smtClean="0"/>
              <a:t>squared</a:t>
            </a:r>
            <a:r>
              <a:rPr lang="fi-FI" dirty="0" smtClean="0"/>
              <a:t>, Infogain</a:t>
            </a:r>
            <a:r>
              <a:rPr lang="fi-FI" dirty="0"/>
              <a:t>, etc.)</a:t>
            </a:r>
          </a:p>
          <a:p>
            <a:pPr marL="285750" indent="-285750">
              <a:buFont typeface="Arial" pitchFamily="34" charset="0"/>
              <a:buChar char="•"/>
            </a:pPr>
            <a:r>
              <a:rPr lang="en-GB" dirty="0" smtClean="0"/>
              <a:t>A </a:t>
            </a:r>
            <a:r>
              <a:rPr lang="en-GB" dirty="0"/>
              <a:t>subset of features is often selected from the top of a </a:t>
            </a:r>
            <a:r>
              <a:rPr lang="en-GB" dirty="0" smtClean="0"/>
              <a:t>ranking list</a:t>
            </a:r>
            <a:r>
              <a:rPr lang="en-GB" dirty="0"/>
              <a:t>. A feature is good and thus will be selected if its weight </a:t>
            </a:r>
            <a:r>
              <a:rPr lang="en-GB" dirty="0" smtClean="0"/>
              <a:t>of relevance </a:t>
            </a:r>
            <a:r>
              <a:rPr lang="en-GB" dirty="0"/>
              <a:t>is greater than a user-specified threshold value, </a:t>
            </a:r>
            <a:endParaRPr lang="en-GB" dirty="0" smtClean="0"/>
          </a:p>
          <a:p>
            <a:pPr marL="285750" indent="-285750">
              <a:buFont typeface="Arial" pitchFamily="34" charset="0"/>
              <a:buChar char="•"/>
            </a:pPr>
            <a:r>
              <a:rPr lang="en-GB" dirty="0" smtClean="0"/>
              <a:t>or we can </a:t>
            </a:r>
            <a:r>
              <a:rPr lang="en-GB" dirty="0"/>
              <a:t>simply select the first </a:t>
            </a:r>
            <a:r>
              <a:rPr lang="en-GB" i="1" dirty="0" smtClean="0"/>
              <a:t>k</a:t>
            </a:r>
            <a:r>
              <a:rPr lang="en-GB" dirty="0" smtClean="0"/>
              <a:t> </a:t>
            </a:r>
            <a:r>
              <a:rPr lang="en-GB" dirty="0"/>
              <a:t>features from the ranked list</a:t>
            </a:r>
            <a:r>
              <a:rPr lang="en-GB" dirty="0" smtClean="0"/>
              <a:t>.</a:t>
            </a:r>
          </a:p>
          <a:p>
            <a:r>
              <a:rPr lang="en-GB" dirty="0" smtClean="0"/>
              <a:t>This approach </a:t>
            </a:r>
            <a:r>
              <a:rPr lang="en-GB" dirty="0"/>
              <a:t>is efficient for high-dimensional data due to its </a:t>
            </a:r>
            <a:r>
              <a:rPr lang="en-GB" dirty="0" smtClean="0"/>
              <a:t>linear time </a:t>
            </a:r>
            <a:r>
              <a:rPr lang="en-GB" dirty="0"/>
              <a:t>complexity in terms of </a:t>
            </a:r>
            <a:r>
              <a:rPr lang="en-GB" dirty="0" smtClean="0"/>
              <a:t>dimensionality</a:t>
            </a:r>
          </a:p>
          <a:p>
            <a:r>
              <a:rPr lang="es-ES" dirty="0" err="1" smtClean="0"/>
              <a:t>Very</a:t>
            </a:r>
            <a:r>
              <a:rPr lang="es-ES" dirty="0" smtClean="0"/>
              <a:t> </a:t>
            </a:r>
            <a:r>
              <a:rPr lang="es-ES" dirty="0" err="1" smtClean="0"/>
              <a:t>fast</a:t>
            </a:r>
            <a:r>
              <a:rPr lang="es-ES" dirty="0" smtClean="0"/>
              <a:t> </a:t>
            </a:r>
            <a:r>
              <a:rPr lang="es-ES" dirty="0" err="1" smtClean="0"/>
              <a:t>method</a:t>
            </a:r>
            <a:r>
              <a:rPr lang="es-ES" dirty="0" smtClean="0"/>
              <a:t>.</a:t>
            </a:r>
            <a:endParaRPr lang="en-GB" dirty="0" smtClean="0"/>
          </a:p>
          <a:p>
            <a:r>
              <a:rPr lang="es-ES" dirty="0" err="1" smtClean="0"/>
              <a:t>However</a:t>
            </a:r>
            <a:r>
              <a:rPr lang="es-ES" dirty="0" smtClean="0"/>
              <a:t>, </a:t>
            </a:r>
            <a:r>
              <a:rPr lang="es-ES" dirty="0" err="1" smtClean="0"/>
              <a:t>it</a:t>
            </a:r>
            <a:r>
              <a:rPr lang="es-ES" dirty="0" smtClean="0"/>
              <a:t> </a:t>
            </a:r>
            <a:r>
              <a:rPr lang="es-ES" dirty="0" err="1" smtClean="0"/>
              <a:t>cannot</a:t>
            </a:r>
            <a:r>
              <a:rPr lang="es-ES" dirty="0" smtClean="0"/>
              <a:t> </a:t>
            </a:r>
            <a:r>
              <a:rPr lang="es-ES" dirty="0" err="1" smtClean="0"/>
              <a:t>detect</a:t>
            </a:r>
            <a:r>
              <a:rPr lang="es-ES" dirty="0" smtClean="0"/>
              <a:t> </a:t>
            </a:r>
            <a:r>
              <a:rPr lang="es-ES" dirty="0" err="1" smtClean="0"/>
              <a:t>redundant</a:t>
            </a:r>
            <a:r>
              <a:rPr lang="es-ES" dirty="0" smtClean="0"/>
              <a:t> </a:t>
            </a:r>
            <a:r>
              <a:rPr lang="es-ES" dirty="0" err="1" smtClean="0"/>
              <a:t>attributes</a:t>
            </a:r>
            <a:endParaRPr lang="en-GB" dirty="0"/>
          </a:p>
        </p:txBody>
      </p:sp>
      <p:sp>
        <p:nvSpPr>
          <p:cNvPr id="3" name="Title 2"/>
          <p:cNvSpPr>
            <a:spLocks noGrp="1"/>
          </p:cNvSpPr>
          <p:nvPr>
            <p:ph type="title"/>
          </p:nvPr>
        </p:nvSpPr>
        <p:spPr/>
        <p:txBody>
          <a:bodyPr/>
          <a:lstStyle/>
          <a:p>
            <a:r>
              <a:rPr lang="es-ES" dirty="0" err="1" smtClean="0"/>
              <a:t>Feature</a:t>
            </a:r>
            <a:r>
              <a:rPr lang="es-ES" dirty="0" smtClean="0"/>
              <a:t> Ranking</a:t>
            </a:r>
            <a:endParaRPr lang="en-GB" dirty="0"/>
          </a:p>
        </p:txBody>
      </p:sp>
    </p:spTree>
    <p:extLst>
      <p:ext uri="{BB962C8B-B14F-4D97-AF65-F5344CB8AC3E}">
        <p14:creationId xmlns:p14="http://schemas.microsoft.com/office/powerpoint/2010/main" val="34852005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lnSpcReduction="20000"/>
          </a:bodyPr>
          <a:lstStyle/>
          <a:p>
            <a:r>
              <a:rPr lang="en-GB" dirty="0"/>
              <a:t>In the </a:t>
            </a:r>
            <a:r>
              <a:rPr lang="en-GB" dirty="0" smtClean="0"/>
              <a:t>FSS category, candidate subsets are </a:t>
            </a:r>
            <a:r>
              <a:rPr lang="en-GB" dirty="0"/>
              <a:t>generated based on a certain search </a:t>
            </a:r>
            <a:r>
              <a:rPr lang="en-GB" dirty="0" smtClean="0"/>
              <a:t>strategy: </a:t>
            </a:r>
          </a:p>
          <a:p>
            <a:pPr marL="285750" indent="-285750">
              <a:buFont typeface="Arial" pitchFamily="34" charset="0"/>
              <a:buChar char="•"/>
            </a:pPr>
            <a:r>
              <a:rPr lang="en-GB" b="1" dirty="0"/>
              <a:t>Exhaustive</a:t>
            </a:r>
            <a:r>
              <a:rPr lang="en-GB" dirty="0"/>
              <a:t>, </a:t>
            </a:r>
            <a:r>
              <a:rPr lang="en-GB" b="1" dirty="0"/>
              <a:t>heuristic</a:t>
            </a:r>
            <a:r>
              <a:rPr lang="en-GB" dirty="0"/>
              <a:t> and </a:t>
            </a:r>
            <a:r>
              <a:rPr lang="en-GB" b="1" dirty="0"/>
              <a:t>random</a:t>
            </a:r>
            <a:r>
              <a:rPr lang="en-GB" dirty="0"/>
              <a:t> search</a:t>
            </a:r>
          </a:p>
          <a:p>
            <a:r>
              <a:rPr lang="en-GB" dirty="0" smtClean="0"/>
              <a:t>Each candidate subset </a:t>
            </a:r>
            <a:r>
              <a:rPr lang="en-GB" dirty="0"/>
              <a:t>is evaluated by a certain </a:t>
            </a:r>
            <a:r>
              <a:rPr lang="en-GB" b="1" dirty="0"/>
              <a:t>evaluation </a:t>
            </a:r>
            <a:r>
              <a:rPr lang="en-GB" b="1" dirty="0" smtClean="0"/>
              <a:t>measure</a:t>
            </a:r>
            <a:r>
              <a:rPr lang="en-GB" dirty="0" smtClean="0"/>
              <a:t>. </a:t>
            </a:r>
            <a:r>
              <a:rPr lang="en-GB" dirty="0"/>
              <a:t>If a </a:t>
            </a:r>
            <a:r>
              <a:rPr lang="en-GB" dirty="0" smtClean="0"/>
              <a:t>new subset </a:t>
            </a:r>
            <a:r>
              <a:rPr lang="en-GB" dirty="0"/>
              <a:t>turns out to be better, it replaces the previous best </a:t>
            </a:r>
            <a:r>
              <a:rPr lang="en-GB" dirty="0" smtClean="0"/>
              <a:t>subset. The </a:t>
            </a:r>
            <a:r>
              <a:rPr lang="en-GB" dirty="0"/>
              <a:t>process of subset generation and evaluation is repeated until </a:t>
            </a:r>
            <a:r>
              <a:rPr lang="en-GB" dirty="0" smtClean="0"/>
              <a:t>a given </a:t>
            </a:r>
            <a:r>
              <a:rPr lang="en-GB" dirty="0"/>
              <a:t>stopping criterion is satisfied. </a:t>
            </a:r>
            <a:r>
              <a:rPr lang="en-GB" dirty="0" smtClean="0"/>
              <a:t>Existing </a:t>
            </a:r>
            <a:r>
              <a:rPr lang="en-GB" dirty="0"/>
              <a:t>evaluation </a:t>
            </a:r>
            <a:r>
              <a:rPr lang="en-GB" dirty="0" smtClean="0"/>
              <a:t>measures include:</a:t>
            </a:r>
            <a:endParaRPr lang="en-GB" dirty="0"/>
          </a:p>
          <a:p>
            <a:pPr lvl="1"/>
            <a:r>
              <a:rPr lang="en-GB" dirty="0" smtClean="0"/>
              <a:t>Consistency measure </a:t>
            </a:r>
            <a:r>
              <a:rPr lang="en-GB" dirty="0"/>
              <a:t>attempts to find a minimum number of features that separate classes as consistently as the full set of features can. An inconsistency is defined as to instances having the same feature values but different class labels.</a:t>
            </a:r>
          </a:p>
          <a:p>
            <a:pPr lvl="1"/>
            <a:r>
              <a:rPr lang="en-GB" dirty="0" smtClean="0"/>
              <a:t>Correlation measure </a:t>
            </a:r>
            <a:r>
              <a:rPr lang="en-GB" dirty="0"/>
              <a:t>evaluates the goodness of feature subsets based on the hypothesis that good feature subsets contain features highly correlated to the class, yet uncorrelated to each other.</a:t>
            </a:r>
          </a:p>
          <a:p>
            <a:pPr lvl="1"/>
            <a:r>
              <a:rPr lang="en-GB" dirty="0" smtClean="0"/>
              <a:t>Accuracy </a:t>
            </a:r>
            <a:r>
              <a:rPr lang="en-GB" dirty="0"/>
              <a:t>of a learning </a:t>
            </a:r>
            <a:r>
              <a:rPr lang="en-GB" dirty="0" smtClean="0"/>
              <a:t>algorithm (Wrapper-based </a:t>
            </a:r>
            <a:r>
              <a:rPr lang="en-GB" dirty="0"/>
              <a:t>attribute </a:t>
            </a:r>
            <a:r>
              <a:rPr lang="en-GB" dirty="0" smtClean="0"/>
              <a:t>selection) </a:t>
            </a:r>
            <a:r>
              <a:rPr lang="en-GB" dirty="0"/>
              <a:t>uses the target learning algorithm to estimate the worth of attribute subsets. The feature subset selection algorithm conducts a search for a good subset using the induction algorithm itself as part of the evaluation function.</a:t>
            </a:r>
          </a:p>
          <a:p>
            <a:r>
              <a:rPr lang="en-GB" dirty="0" smtClean="0"/>
              <a:t>The time complexity in </a:t>
            </a:r>
            <a:r>
              <a:rPr lang="en-GB" dirty="0"/>
              <a:t>terms of data dimensionality </a:t>
            </a:r>
            <a:r>
              <a:rPr lang="en-GB" dirty="0" smtClean="0"/>
              <a:t>is, exponential for exhaustive search, quadratic </a:t>
            </a:r>
            <a:r>
              <a:rPr lang="en-GB" dirty="0"/>
              <a:t>for heuristic </a:t>
            </a:r>
            <a:r>
              <a:rPr lang="en-GB" dirty="0" smtClean="0"/>
              <a:t>search and linear </a:t>
            </a:r>
            <a:r>
              <a:rPr lang="en-GB" dirty="0"/>
              <a:t>to the number of iterations in a </a:t>
            </a:r>
            <a:r>
              <a:rPr lang="en-GB" dirty="0" smtClean="0"/>
              <a:t>random search</a:t>
            </a:r>
          </a:p>
        </p:txBody>
      </p:sp>
      <p:sp>
        <p:nvSpPr>
          <p:cNvPr id="3" name="Title 2"/>
          <p:cNvSpPr>
            <a:spLocks noGrp="1"/>
          </p:cNvSpPr>
          <p:nvPr>
            <p:ph type="title"/>
          </p:nvPr>
        </p:nvSpPr>
        <p:spPr/>
        <p:txBody>
          <a:bodyPr/>
          <a:lstStyle/>
          <a:p>
            <a:r>
              <a:rPr lang="es-ES" dirty="0" err="1" smtClean="0"/>
              <a:t>Feature</a:t>
            </a:r>
            <a:r>
              <a:rPr lang="es-ES" dirty="0" smtClean="0"/>
              <a:t> </a:t>
            </a:r>
            <a:r>
              <a:rPr lang="es-ES" dirty="0" err="1" smtClean="0"/>
              <a:t>Subset</a:t>
            </a:r>
            <a:r>
              <a:rPr lang="es-ES" dirty="0" smtClean="0"/>
              <a:t> </a:t>
            </a:r>
            <a:r>
              <a:rPr lang="es-ES" dirty="0" err="1" smtClean="0"/>
              <a:t>Selection</a:t>
            </a:r>
            <a:r>
              <a:rPr lang="es-ES" dirty="0" smtClean="0"/>
              <a:t> (FSS)</a:t>
            </a:r>
            <a:endParaRPr lang="en-GB" dirty="0"/>
          </a:p>
        </p:txBody>
      </p:sp>
    </p:spTree>
    <p:extLst>
      <p:ext uri="{BB962C8B-B14F-4D97-AF65-F5344CB8AC3E}">
        <p14:creationId xmlns:p14="http://schemas.microsoft.com/office/powerpoint/2010/main" val="39215329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r>
              <a:rPr lang="en-GB" dirty="0" smtClean="0"/>
              <a:t>Correlation </a:t>
            </a:r>
            <a:r>
              <a:rPr lang="en-GB" dirty="0"/>
              <a:t>measure </a:t>
            </a:r>
            <a:r>
              <a:rPr lang="en-GB" dirty="0" smtClean="0"/>
              <a:t>is applied </a:t>
            </a:r>
            <a:r>
              <a:rPr lang="en-GB" dirty="0"/>
              <a:t>in an algorithm called CFS that exploit heuristic </a:t>
            </a:r>
            <a:r>
              <a:rPr lang="en-GB" dirty="0" smtClean="0"/>
              <a:t>search (</a:t>
            </a:r>
            <a:r>
              <a:rPr lang="en-GB" dirty="0"/>
              <a:t>best first) to search for candidate feature subsets.</a:t>
            </a:r>
          </a:p>
          <a:p>
            <a:pPr marL="285750" indent="-285750">
              <a:buFont typeface="Arial" pitchFamily="34" charset="0"/>
              <a:buChar char="•"/>
            </a:pPr>
            <a:r>
              <a:rPr lang="en-GB" dirty="0" smtClean="0"/>
              <a:t>One </a:t>
            </a:r>
            <a:r>
              <a:rPr lang="en-GB" dirty="0"/>
              <a:t>of the most frequently used search techniques is </a:t>
            </a:r>
            <a:r>
              <a:rPr lang="en-GB" dirty="0" smtClean="0"/>
              <a:t>hill-climbing (</a:t>
            </a:r>
            <a:r>
              <a:rPr lang="en-GB" dirty="0"/>
              <a:t>greedy). It starts with an empty set and evaluates each </a:t>
            </a:r>
            <a:r>
              <a:rPr lang="en-GB" dirty="0" smtClean="0"/>
              <a:t>attribute individually </a:t>
            </a:r>
            <a:r>
              <a:rPr lang="en-GB" dirty="0"/>
              <a:t>to find the best single attribute. </a:t>
            </a:r>
            <a:endParaRPr lang="en-GB" dirty="0" smtClean="0"/>
          </a:p>
          <a:p>
            <a:r>
              <a:rPr lang="en-GB" dirty="0" smtClean="0"/>
              <a:t>It </a:t>
            </a:r>
            <a:r>
              <a:rPr lang="en-GB" dirty="0"/>
              <a:t>then tries </a:t>
            </a:r>
            <a:r>
              <a:rPr lang="en-GB" dirty="0" smtClean="0"/>
              <a:t>each of </a:t>
            </a:r>
            <a:r>
              <a:rPr lang="en-GB" dirty="0"/>
              <a:t>the remaining attributes in conjunction with the best to find </a:t>
            </a:r>
            <a:r>
              <a:rPr lang="en-GB" dirty="0" smtClean="0"/>
              <a:t>the most </a:t>
            </a:r>
            <a:r>
              <a:rPr lang="en-GB" dirty="0"/>
              <a:t>suited pair of attributes. In the next iteration, each of </a:t>
            </a:r>
            <a:r>
              <a:rPr lang="en-GB" dirty="0" smtClean="0"/>
              <a:t>the remaining </a:t>
            </a:r>
            <a:r>
              <a:rPr lang="en-GB" dirty="0"/>
              <a:t>attributes are tried in conjunction with the best pair </a:t>
            </a:r>
            <a:r>
              <a:rPr lang="en-GB" dirty="0" smtClean="0"/>
              <a:t>to find </a:t>
            </a:r>
            <a:r>
              <a:rPr lang="en-GB" dirty="0"/>
              <a:t>the most suited group of three </a:t>
            </a:r>
            <a:r>
              <a:rPr lang="en-GB" dirty="0" smtClean="0"/>
              <a:t>attributes.</a:t>
            </a:r>
          </a:p>
          <a:p>
            <a:r>
              <a:rPr lang="en-GB" dirty="0" smtClean="0"/>
              <a:t>This process continues </a:t>
            </a:r>
            <a:r>
              <a:rPr lang="en-GB" dirty="0"/>
              <a:t>until no single attribute addition improves the </a:t>
            </a:r>
            <a:r>
              <a:rPr lang="en-GB" dirty="0" smtClean="0"/>
              <a:t>evaluation of </a:t>
            </a:r>
            <a:r>
              <a:rPr lang="en-GB" dirty="0"/>
              <a:t>the subset; i.e., subset evaluator is run </a:t>
            </a:r>
            <a:r>
              <a:rPr lang="en-GB" dirty="0" smtClean="0"/>
              <a:t>M </a:t>
            </a:r>
            <a:r>
              <a:rPr lang="en-GB" dirty="0"/>
              <a:t>times </a:t>
            </a:r>
            <a:r>
              <a:rPr lang="en-GB" dirty="0" smtClean="0"/>
              <a:t>to choose </a:t>
            </a:r>
            <a:r>
              <a:rPr lang="en-GB" dirty="0"/>
              <a:t>the best single attribute, </a:t>
            </a:r>
            <a:r>
              <a:rPr lang="en-GB" i="1" dirty="0" smtClean="0"/>
              <a:t>M-1</a:t>
            </a:r>
            <a:r>
              <a:rPr lang="en-GB" dirty="0" smtClean="0"/>
              <a:t> </a:t>
            </a:r>
            <a:r>
              <a:rPr lang="en-GB" dirty="0"/>
              <a:t>times to find the </a:t>
            </a:r>
            <a:r>
              <a:rPr lang="en-GB" dirty="0" smtClean="0"/>
              <a:t>best pair </a:t>
            </a:r>
            <a:r>
              <a:rPr lang="en-GB" dirty="0"/>
              <a:t>of attributes, </a:t>
            </a:r>
            <a:r>
              <a:rPr lang="en-GB" i="1" dirty="0" smtClean="0"/>
              <a:t>M-2</a:t>
            </a:r>
            <a:r>
              <a:rPr lang="en-GB" dirty="0" smtClean="0"/>
              <a:t> </a:t>
            </a:r>
            <a:r>
              <a:rPr lang="en-GB" dirty="0"/>
              <a:t>times the best group of three, and </a:t>
            </a:r>
            <a:r>
              <a:rPr lang="en-GB" dirty="0" smtClean="0"/>
              <a:t>so on</a:t>
            </a:r>
            <a:r>
              <a:rPr lang="en-GB" dirty="0"/>
              <a:t>. </a:t>
            </a:r>
            <a:endParaRPr lang="en-GB" dirty="0" smtClean="0"/>
          </a:p>
          <a:p>
            <a:pPr marL="285750" indent="-285750">
              <a:buFont typeface="Arial" pitchFamily="34" charset="0"/>
              <a:buChar char="•"/>
            </a:pPr>
            <a:r>
              <a:rPr lang="en-GB" dirty="0" smtClean="0"/>
              <a:t>E.g., if </a:t>
            </a:r>
            <a:r>
              <a:rPr lang="en-GB" dirty="0"/>
              <a:t>we have chosen </a:t>
            </a:r>
            <a:r>
              <a:rPr lang="en-GB" dirty="0" smtClean="0"/>
              <a:t>5 attributes </a:t>
            </a:r>
            <a:r>
              <a:rPr lang="en-GB" dirty="0"/>
              <a:t>through </a:t>
            </a:r>
            <a:r>
              <a:rPr lang="en-GB" dirty="0" smtClean="0"/>
              <a:t>this method</a:t>
            </a:r>
            <a:r>
              <a:rPr lang="en-GB" dirty="0"/>
              <a:t>, the subset evaluator has been </a:t>
            </a:r>
            <a:r>
              <a:rPr lang="en-GB" dirty="0" smtClean="0"/>
              <a:t>run </a:t>
            </a:r>
            <a:r>
              <a:rPr lang="en-GB" i="1" dirty="0" smtClean="0"/>
              <a:t>M</a:t>
            </a:r>
            <a:r>
              <a:rPr lang="en-GB" i="1" dirty="0"/>
              <a:t>+(M-1)+(M-2)+(M-3)+(M-4</a:t>
            </a:r>
            <a:r>
              <a:rPr lang="en-GB" i="1" dirty="0" smtClean="0"/>
              <a:t>)</a:t>
            </a:r>
            <a:r>
              <a:rPr lang="en-GB" dirty="0" smtClean="0"/>
              <a:t> </a:t>
            </a:r>
            <a:r>
              <a:rPr lang="en-GB" dirty="0"/>
              <a:t>times.</a:t>
            </a:r>
          </a:p>
          <a:p>
            <a:endParaRPr lang="en-GB" dirty="0"/>
          </a:p>
        </p:txBody>
      </p:sp>
      <p:sp>
        <p:nvSpPr>
          <p:cNvPr id="3" name="Title 2"/>
          <p:cNvSpPr>
            <a:spLocks noGrp="1"/>
          </p:cNvSpPr>
          <p:nvPr>
            <p:ph type="title"/>
          </p:nvPr>
        </p:nvSpPr>
        <p:spPr/>
        <p:txBody>
          <a:bodyPr/>
          <a:lstStyle/>
          <a:p>
            <a:r>
              <a:rPr lang="es-ES" dirty="0" smtClean="0"/>
              <a:t>FSS – CFS (</a:t>
            </a:r>
            <a:r>
              <a:rPr lang="es-ES" dirty="0" err="1" smtClean="0"/>
              <a:t>Correlation</a:t>
            </a:r>
            <a:r>
              <a:rPr lang="es-ES" dirty="0" smtClean="0"/>
              <a:t> </a:t>
            </a:r>
            <a:r>
              <a:rPr lang="es-ES" dirty="0" err="1" smtClean="0"/>
              <a:t>Based</a:t>
            </a:r>
            <a:r>
              <a:rPr lang="es-ES" dirty="0" smtClean="0"/>
              <a:t> FS)</a:t>
            </a:r>
            <a:endParaRPr lang="en-GB" dirty="0"/>
          </a:p>
        </p:txBody>
      </p:sp>
    </p:spTree>
    <p:extLst>
      <p:ext uri="{BB962C8B-B14F-4D97-AF65-F5344CB8AC3E}">
        <p14:creationId xmlns:p14="http://schemas.microsoft.com/office/powerpoint/2010/main" val="35158856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a:t>
            </a:r>
            <a:r>
              <a:rPr lang="es-ES" dirty="0" err="1" smtClean="0"/>
              <a:t>Example</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9363" y="1371599"/>
            <a:ext cx="6414437" cy="5029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a:xfrm>
            <a:off x="1219200" y="18288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1219200" y="22860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1600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 10 CV</a:t>
            </a:r>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6125111"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327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52426" y="1463040"/>
            <a:ext cx="7680960" cy="4724400"/>
          </a:xfrm>
        </p:spPr>
        <p:txBody>
          <a:bodyPr>
            <a:normAutofit fontScale="92500" lnSpcReduction="10000"/>
          </a:bodyPr>
          <a:lstStyle/>
          <a:p>
            <a:r>
              <a:rPr lang="es-ES" dirty="0" err="1" smtClean="0"/>
              <a:t>Find</a:t>
            </a:r>
            <a:r>
              <a:rPr lang="es-ES" dirty="0" smtClean="0"/>
              <a:t> </a:t>
            </a:r>
            <a:r>
              <a:rPr lang="es-ES" dirty="0" err="1" smtClean="0"/>
              <a:t>the</a:t>
            </a:r>
            <a:r>
              <a:rPr lang="es-ES" dirty="0" smtClean="0"/>
              <a:t> </a:t>
            </a:r>
            <a:r>
              <a:rPr lang="es-ES" dirty="0" err="1" smtClean="0"/>
              <a:t>best</a:t>
            </a:r>
            <a:r>
              <a:rPr lang="es-ES" dirty="0" smtClean="0"/>
              <a:t> </a:t>
            </a:r>
            <a:r>
              <a:rPr lang="es-ES" dirty="0" err="1" smtClean="0"/>
              <a:t>possible</a:t>
            </a:r>
            <a:r>
              <a:rPr lang="es-ES" dirty="0" smtClean="0"/>
              <a:t> </a:t>
            </a:r>
            <a:r>
              <a:rPr lang="es-ES" dirty="0" err="1" smtClean="0"/>
              <a:t>model</a:t>
            </a:r>
            <a:r>
              <a:rPr lang="es-ES" dirty="0" smtClean="0"/>
              <a:t> </a:t>
            </a:r>
            <a:r>
              <a:rPr lang="es-ES" dirty="0" err="1" smtClean="0"/>
              <a:t>to</a:t>
            </a:r>
            <a:r>
              <a:rPr lang="es-ES" dirty="0" smtClean="0"/>
              <a:t> </a:t>
            </a:r>
            <a:r>
              <a:rPr lang="es-ES" dirty="0" err="1" smtClean="0"/>
              <a:t>recommend</a:t>
            </a:r>
            <a:r>
              <a:rPr lang="es-ES" dirty="0" smtClean="0"/>
              <a:t> </a:t>
            </a:r>
            <a:r>
              <a:rPr lang="es-ES" dirty="0" err="1" smtClean="0"/>
              <a:t>the</a:t>
            </a:r>
            <a:r>
              <a:rPr lang="es-ES" dirty="0" smtClean="0"/>
              <a:t> </a:t>
            </a:r>
            <a:r>
              <a:rPr lang="es-ES" dirty="0" err="1" smtClean="0"/>
              <a:t>type</a:t>
            </a:r>
            <a:r>
              <a:rPr lang="es-ES" dirty="0" smtClean="0"/>
              <a:t> of </a:t>
            </a:r>
            <a:r>
              <a:rPr lang="es-ES" dirty="0" err="1" smtClean="0"/>
              <a:t>drug</a:t>
            </a:r>
            <a:r>
              <a:rPr lang="es-ES" dirty="0"/>
              <a:t> </a:t>
            </a:r>
            <a:r>
              <a:rPr lang="es-ES" dirty="0" err="1" smtClean="0"/>
              <a:t>for</a:t>
            </a:r>
            <a:r>
              <a:rPr lang="es-ES" dirty="0" smtClean="0"/>
              <a:t> hay </a:t>
            </a:r>
            <a:r>
              <a:rPr lang="es-ES" dirty="0" err="1"/>
              <a:t>fever</a:t>
            </a:r>
            <a:r>
              <a:rPr lang="es-ES" dirty="0"/>
              <a:t> </a:t>
            </a:r>
            <a:r>
              <a:rPr lang="es-ES" dirty="0" err="1" smtClean="0"/>
              <a:t>depending</a:t>
            </a:r>
            <a:r>
              <a:rPr lang="es-ES" dirty="0" smtClean="0"/>
              <a:t> </a:t>
            </a:r>
            <a:r>
              <a:rPr lang="es-ES" dirty="0" err="1" smtClean="0"/>
              <a:t>on</a:t>
            </a:r>
            <a:r>
              <a:rPr lang="es-ES" dirty="0" smtClean="0"/>
              <a:t> </a:t>
            </a:r>
            <a:r>
              <a:rPr lang="es-ES" dirty="0" err="1" smtClean="0"/>
              <a:t>the</a:t>
            </a:r>
            <a:r>
              <a:rPr lang="es-ES" dirty="0" smtClean="0"/>
              <a:t> </a:t>
            </a:r>
            <a:r>
              <a:rPr lang="es-ES" dirty="0" err="1" smtClean="0"/>
              <a:t>patient</a:t>
            </a:r>
            <a:r>
              <a:rPr lang="es-ES" dirty="0" smtClean="0"/>
              <a:t>. </a:t>
            </a:r>
            <a:r>
              <a:rPr lang="es-ES" dirty="0" err="1" smtClean="0"/>
              <a:t>The</a:t>
            </a:r>
            <a:r>
              <a:rPr lang="es-ES" dirty="0" smtClean="0"/>
              <a:t> </a:t>
            </a:r>
            <a:r>
              <a:rPr lang="es-ES" dirty="0" err="1" smtClean="0"/>
              <a:t>attributes</a:t>
            </a:r>
            <a:r>
              <a:rPr lang="es-ES" dirty="0" smtClean="0"/>
              <a:t> </a:t>
            </a:r>
            <a:r>
              <a:rPr lang="es-ES" dirty="0" err="1" smtClean="0"/>
              <a:t>collected</a:t>
            </a:r>
            <a:r>
              <a:rPr lang="es-ES" dirty="0" smtClean="0"/>
              <a:t> </a:t>
            </a:r>
            <a:r>
              <a:rPr lang="es-ES" dirty="0" err="1" smtClean="0"/>
              <a:t>from</a:t>
            </a:r>
            <a:r>
              <a:rPr lang="es-ES" dirty="0" smtClean="0"/>
              <a:t> </a:t>
            </a:r>
            <a:r>
              <a:rPr lang="es-ES" dirty="0" err="1" smtClean="0"/>
              <a:t>historical</a:t>
            </a:r>
            <a:r>
              <a:rPr lang="es-ES" dirty="0" smtClean="0"/>
              <a:t> </a:t>
            </a:r>
            <a:r>
              <a:rPr lang="es-ES" dirty="0" err="1" smtClean="0"/>
              <a:t>patients</a:t>
            </a:r>
            <a:r>
              <a:rPr lang="es-ES" dirty="0" smtClean="0"/>
              <a:t> </a:t>
            </a:r>
            <a:r>
              <a:rPr lang="es-ES" dirty="0" err="1" smtClean="0"/>
              <a:t>include</a:t>
            </a:r>
            <a:r>
              <a:rPr lang="es-ES" dirty="0" smtClean="0"/>
              <a:t>:</a:t>
            </a:r>
            <a:endParaRPr lang="es-ES" dirty="0"/>
          </a:p>
          <a:p>
            <a:pPr lvl="1"/>
            <a:r>
              <a:rPr lang="es-ES" dirty="0" smtClean="0"/>
              <a:t> </a:t>
            </a:r>
            <a:r>
              <a:rPr lang="es-ES" dirty="0" err="1" smtClean="0"/>
              <a:t>Age</a:t>
            </a:r>
            <a:endParaRPr lang="es-ES" dirty="0"/>
          </a:p>
          <a:p>
            <a:pPr lvl="1"/>
            <a:r>
              <a:rPr lang="es-ES" dirty="0" smtClean="0"/>
              <a:t>Sex</a:t>
            </a:r>
            <a:endParaRPr lang="es-ES" dirty="0"/>
          </a:p>
          <a:p>
            <a:pPr lvl="1"/>
            <a:r>
              <a:rPr lang="es-ES" dirty="0" smtClean="0"/>
              <a:t>BP </a:t>
            </a:r>
            <a:r>
              <a:rPr lang="es-ES" dirty="0" err="1" smtClean="0"/>
              <a:t>Blood</a:t>
            </a:r>
            <a:r>
              <a:rPr lang="es-ES" dirty="0" smtClean="0"/>
              <a:t> </a:t>
            </a:r>
            <a:r>
              <a:rPr lang="es-ES" dirty="0" err="1" smtClean="0"/>
              <a:t>Pressure</a:t>
            </a:r>
            <a:endParaRPr lang="es-ES" dirty="0"/>
          </a:p>
          <a:p>
            <a:pPr lvl="1"/>
            <a:r>
              <a:rPr lang="es-ES" dirty="0" err="1" smtClean="0"/>
              <a:t>Cholesterol</a:t>
            </a:r>
            <a:r>
              <a:rPr lang="es-ES" dirty="0" smtClean="0"/>
              <a:t> </a:t>
            </a:r>
            <a:r>
              <a:rPr lang="es-ES" dirty="0" err="1" smtClean="0"/>
              <a:t>level</a:t>
            </a:r>
            <a:endParaRPr lang="es-ES" dirty="0"/>
          </a:p>
          <a:p>
            <a:pPr lvl="1"/>
            <a:r>
              <a:rPr lang="es-ES" dirty="0" err="1" smtClean="0"/>
              <a:t>Na</a:t>
            </a:r>
            <a:r>
              <a:rPr lang="es-ES" dirty="0"/>
              <a:t>: </a:t>
            </a:r>
            <a:r>
              <a:rPr lang="es-ES" dirty="0" err="1" smtClean="0"/>
              <a:t>Blood</a:t>
            </a:r>
            <a:r>
              <a:rPr lang="es-ES" dirty="0" smtClean="0"/>
              <a:t> </a:t>
            </a:r>
            <a:r>
              <a:rPr lang="es-ES" dirty="0" err="1" smtClean="0"/>
              <a:t>sodium</a:t>
            </a:r>
            <a:r>
              <a:rPr lang="es-ES" dirty="0" smtClean="0"/>
              <a:t> </a:t>
            </a:r>
            <a:r>
              <a:rPr lang="es-ES" dirty="0" err="1" smtClean="0"/>
              <a:t>level</a:t>
            </a:r>
            <a:endParaRPr lang="es-ES" dirty="0"/>
          </a:p>
          <a:p>
            <a:pPr lvl="1"/>
            <a:r>
              <a:rPr lang="es-ES" dirty="0" smtClean="0"/>
              <a:t>K</a:t>
            </a:r>
            <a:r>
              <a:rPr lang="es-ES" dirty="0"/>
              <a:t>: </a:t>
            </a:r>
            <a:r>
              <a:rPr lang="es-ES" dirty="0" err="1" smtClean="0"/>
              <a:t>Blook</a:t>
            </a:r>
            <a:r>
              <a:rPr lang="es-ES" dirty="0" smtClean="0"/>
              <a:t> </a:t>
            </a:r>
            <a:r>
              <a:rPr lang="es-ES" dirty="0" err="1" smtClean="0"/>
              <a:t>potasium</a:t>
            </a:r>
            <a:r>
              <a:rPr lang="es-ES" dirty="0" smtClean="0"/>
              <a:t> </a:t>
            </a:r>
            <a:r>
              <a:rPr lang="es-ES" dirty="0" err="1" smtClean="0"/>
              <a:t>level</a:t>
            </a:r>
            <a:endParaRPr lang="es-ES" dirty="0"/>
          </a:p>
          <a:p>
            <a:pPr lvl="1"/>
            <a:r>
              <a:rPr lang="es-ES" dirty="0" err="1" smtClean="0"/>
              <a:t>There</a:t>
            </a:r>
            <a:r>
              <a:rPr lang="es-ES" dirty="0" smtClean="0"/>
              <a:t> are 5  </a:t>
            </a:r>
            <a:r>
              <a:rPr lang="es-ES" dirty="0" err="1" smtClean="0"/>
              <a:t>possible</a:t>
            </a:r>
            <a:r>
              <a:rPr lang="es-ES" dirty="0" smtClean="0"/>
              <a:t> </a:t>
            </a:r>
            <a:r>
              <a:rPr lang="es-ES" dirty="0" err="1" smtClean="0"/>
              <a:t>drugs</a:t>
            </a:r>
            <a:r>
              <a:rPr lang="es-ES" dirty="0" smtClean="0"/>
              <a:t>: </a:t>
            </a:r>
            <a:r>
              <a:rPr lang="es-ES" dirty="0" err="1"/>
              <a:t>DrugA</a:t>
            </a:r>
            <a:r>
              <a:rPr lang="es-ES" dirty="0"/>
              <a:t>, </a:t>
            </a:r>
            <a:r>
              <a:rPr lang="es-ES" dirty="0" err="1"/>
              <a:t>DrugB</a:t>
            </a:r>
            <a:r>
              <a:rPr lang="es-ES" dirty="0"/>
              <a:t>, </a:t>
            </a:r>
            <a:r>
              <a:rPr lang="es-ES" dirty="0" err="1"/>
              <a:t>DrugC</a:t>
            </a:r>
            <a:r>
              <a:rPr lang="es-ES" dirty="0"/>
              <a:t>, </a:t>
            </a:r>
            <a:r>
              <a:rPr lang="es-ES" dirty="0" err="1"/>
              <a:t>DrugX</a:t>
            </a:r>
            <a:r>
              <a:rPr lang="es-ES" dirty="0"/>
              <a:t>, </a:t>
            </a:r>
            <a:r>
              <a:rPr lang="es-ES" dirty="0" err="1" smtClean="0"/>
              <a:t>DrugY</a:t>
            </a:r>
            <a:endParaRPr lang="es-ES" dirty="0"/>
          </a:p>
          <a:p>
            <a:r>
              <a:rPr lang="es-ES" dirty="0" err="1" smtClean="0"/>
              <a:t>The</a:t>
            </a:r>
            <a:r>
              <a:rPr lang="es-ES" dirty="0" smtClean="0"/>
              <a:t> </a:t>
            </a:r>
            <a:r>
              <a:rPr lang="es-ES" dirty="0" err="1" smtClean="0"/>
              <a:t>dataset</a:t>
            </a:r>
            <a:r>
              <a:rPr lang="es-ES" dirty="0" smtClean="0"/>
              <a:t> can be </a:t>
            </a:r>
            <a:r>
              <a:rPr lang="es-ES" dirty="0" err="1" smtClean="0"/>
              <a:t>downloaded</a:t>
            </a:r>
            <a:r>
              <a:rPr lang="es-ES" dirty="0" smtClean="0"/>
              <a:t> </a:t>
            </a:r>
            <a:r>
              <a:rPr lang="es-ES" dirty="0" err="1" smtClean="0"/>
              <a:t>from</a:t>
            </a:r>
            <a:r>
              <a:rPr lang="es-ES" dirty="0" smtClean="0"/>
              <a:t>:</a:t>
            </a:r>
          </a:p>
          <a:p>
            <a:pPr marL="285750" indent="-285750">
              <a:buFont typeface="Arial" pitchFamily="34" charset="0"/>
              <a:buChar char="•"/>
            </a:pPr>
            <a:r>
              <a:rPr lang="es-ES" dirty="0" smtClean="0">
                <a:hlinkClick r:id="rId2"/>
              </a:rPr>
              <a:t>http://www.cc.uah.es/drg/courses/datamining/datasets.zip</a:t>
            </a:r>
            <a:endParaRPr lang="es-ES" dirty="0" smtClean="0"/>
          </a:p>
          <a:p>
            <a:r>
              <a:rPr lang="es-ES" dirty="0" err="1" smtClean="0"/>
              <a:t>Hints</a:t>
            </a:r>
            <a:r>
              <a:rPr lang="es-ES" dirty="0" smtClean="0"/>
              <a:t>: </a:t>
            </a:r>
          </a:p>
          <a:p>
            <a:pPr marL="285750" indent="-285750">
              <a:buFont typeface="Arial" pitchFamily="34" charset="0"/>
              <a:buChar char="•"/>
            </a:pPr>
            <a:r>
              <a:rPr lang="es-ES" dirty="0" smtClean="0"/>
              <a:t>Try C4.5, can </a:t>
            </a:r>
            <a:r>
              <a:rPr lang="es-ES" dirty="0" err="1" smtClean="0"/>
              <a:t>you</a:t>
            </a:r>
            <a:r>
              <a:rPr lang="es-ES" dirty="0" smtClean="0"/>
              <a:t> </a:t>
            </a:r>
            <a:r>
              <a:rPr lang="es-ES" dirty="0" err="1" smtClean="0"/>
              <a:t>simplify</a:t>
            </a:r>
            <a:r>
              <a:rPr lang="es-ES" dirty="0" smtClean="0"/>
              <a:t> </a:t>
            </a:r>
            <a:r>
              <a:rPr lang="es-ES" dirty="0" err="1" smtClean="0"/>
              <a:t>the</a:t>
            </a:r>
            <a:r>
              <a:rPr lang="es-ES" dirty="0" smtClean="0"/>
              <a:t> </a:t>
            </a:r>
            <a:r>
              <a:rPr lang="es-ES" dirty="0" err="1" smtClean="0"/>
              <a:t>generated</a:t>
            </a:r>
            <a:r>
              <a:rPr lang="es-ES" dirty="0" smtClean="0"/>
              <a:t> </a:t>
            </a:r>
            <a:r>
              <a:rPr lang="es-ES" dirty="0" err="1" smtClean="0"/>
              <a:t>tree</a:t>
            </a:r>
            <a:r>
              <a:rPr lang="es-ES" dirty="0" smtClean="0"/>
              <a:t> </a:t>
            </a:r>
            <a:r>
              <a:rPr lang="es-ES" dirty="0" err="1" smtClean="0"/>
              <a:t>combining</a:t>
            </a:r>
            <a:r>
              <a:rPr lang="es-ES" dirty="0" smtClean="0"/>
              <a:t> </a:t>
            </a:r>
            <a:r>
              <a:rPr lang="es-ES" dirty="0" err="1" smtClean="0"/>
              <a:t>attributes</a:t>
            </a:r>
            <a:r>
              <a:rPr lang="es-ES" dirty="0" smtClean="0"/>
              <a:t>?</a:t>
            </a:r>
          </a:p>
          <a:p>
            <a:pPr marL="285750" indent="-285750">
              <a:buFont typeface="Arial" pitchFamily="34" charset="0"/>
              <a:buChar char="•"/>
            </a:pPr>
            <a:r>
              <a:rPr lang="es-ES" dirty="0" err="1" smtClean="0"/>
              <a:t>Naive</a:t>
            </a:r>
            <a:r>
              <a:rPr lang="es-ES" dirty="0" smtClean="0"/>
              <a:t> </a:t>
            </a:r>
            <a:r>
              <a:rPr lang="es-ES" dirty="0" err="1" smtClean="0"/>
              <a:t>Bayes</a:t>
            </a:r>
            <a:r>
              <a:rPr lang="es-ES" dirty="0" smtClean="0"/>
              <a:t>: can </a:t>
            </a:r>
            <a:r>
              <a:rPr lang="es-ES" dirty="0" err="1" smtClean="0"/>
              <a:t>you</a:t>
            </a:r>
            <a:r>
              <a:rPr lang="es-ES" dirty="0" smtClean="0"/>
              <a:t> </a:t>
            </a:r>
            <a:r>
              <a:rPr lang="es-ES" dirty="0" err="1" smtClean="0"/>
              <a:t>improve</a:t>
            </a:r>
            <a:r>
              <a:rPr lang="es-ES" dirty="0" smtClean="0"/>
              <a:t> </a:t>
            </a:r>
            <a:r>
              <a:rPr lang="es-ES" dirty="0" err="1" smtClean="0"/>
              <a:t>the</a:t>
            </a:r>
            <a:r>
              <a:rPr lang="es-ES" dirty="0" smtClean="0"/>
              <a:t> ‘default’ </a:t>
            </a:r>
            <a:r>
              <a:rPr lang="es-ES" dirty="0" err="1" smtClean="0"/>
              <a:t>results</a:t>
            </a:r>
            <a:r>
              <a:rPr lang="es-ES" dirty="0" smtClean="0"/>
              <a:t> </a:t>
            </a:r>
            <a:r>
              <a:rPr lang="es-ES" dirty="0" err="1" smtClean="0"/>
              <a:t>with</a:t>
            </a:r>
            <a:r>
              <a:rPr lang="es-ES" dirty="0" smtClean="0"/>
              <a:t> </a:t>
            </a:r>
            <a:r>
              <a:rPr lang="es-ES" dirty="0" err="1" smtClean="0"/>
              <a:t>Feature</a:t>
            </a:r>
            <a:r>
              <a:rPr lang="es-ES" dirty="0" smtClean="0"/>
              <a:t> </a:t>
            </a:r>
            <a:r>
              <a:rPr lang="es-ES" dirty="0" err="1" smtClean="0"/>
              <a:t>Selection</a:t>
            </a:r>
            <a:r>
              <a:rPr lang="es-ES" dirty="0" smtClean="0"/>
              <a:t>?</a:t>
            </a:r>
          </a:p>
          <a:p>
            <a:endParaRPr lang="es-ES" dirty="0" smtClean="0"/>
          </a:p>
        </p:txBody>
      </p:sp>
      <p:sp>
        <p:nvSpPr>
          <p:cNvPr id="3" name="Title 2"/>
          <p:cNvSpPr>
            <a:spLocks noGrp="1"/>
          </p:cNvSpPr>
          <p:nvPr>
            <p:ph type="title"/>
          </p:nvPr>
        </p:nvSpPr>
        <p:spPr/>
        <p:txBody>
          <a:bodyPr/>
          <a:lstStyle/>
          <a:p>
            <a:r>
              <a:rPr lang="es-ES" dirty="0" err="1" smtClean="0"/>
              <a:t>Exercise</a:t>
            </a:r>
            <a:r>
              <a:rPr lang="es-ES" dirty="0"/>
              <a:t> - </a:t>
            </a:r>
            <a:r>
              <a:rPr lang="es-ES" dirty="0" smtClean="0"/>
              <a:t>Hay </a:t>
            </a:r>
            <a:r>
              <a:rPr lang="es-ES" dirty="0" err="1"/>
              <a:t>fever</a:t>
            </a:r>
            <a:r>
              <a:rPr lang="es-ES" dirty="0"/>
              <a:t> </a:t>
            </a:r>
            <a:endParaRPr lang="en-GB" dirty="0"/>
          </a:p>
        </p:txBody>
      </p:sp>
    </p:spTree>
    <p:extLst>
      <p:ext uri="{BB962C8B-B14F-4D97-AF65-F5344CB8AC3E}">
        <p14:creationId xmlns:p14="http://schemas.microsoft.com/office/powerpoint/2010/main" val="41470073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Using the German credit dataset:</a:t>
            </a:r>
          </a:p>
          <a:p>
            <a:r>
              <a:rPr lang="es-ES" dirty="0">
                <a:hlinkClick r:id="rId2"/>
              </a:rPr>
              <a:t>http://www.cc.uah.es/drg/courses/datamining/datasets.zip</a:t>
            </a:r>
            <a:endParaRPr lang="es-ES" dirty="0"/>
          </a:p>
          <a:p>
            <a:r>
              <a:rPr lang="en-GB" dirty="0" smtClean="0"/>
              <a:t>This dataset is composed of 20 attributes (7 numeric and 13 nominal) of clients of a bank requesting a credit. </a:t>
            </a:r>
          </a:p>
          <a:p>
            <a:r>
              <a:rPr lang="en-GB" dirty="0" smtClean="0"/>
              <a:t>Please, check for details of the in the file itself, including the provided cost matrix:</a:t>
            </a:r>
          </a:p>
          <a:p>
            <a:endParaRPr lang="en-GB" dirty="0" smtClean="0"/>
          </a:p>
          <a:p>
            <a:endParaRPr lang="en-GB" dirty="0"/>
          </a:p>
          <a:p>
            <a:r>
              <a:rPr lang="en-GB" dirty="0" smtClean="0"/>
              <a:t>This cost matrix means that it is 5 times more costly to give credit to a person that won’t pay back than the other way around.</a:t>
            </a:r>
          </a:p>
          <a:p>
            <a:r>
              <a:rPr lang="en-GB" dirty="0" smtClean="0"/>
              <a:t>Check what happens with </a:t>
            </a:r>
            <a:r>
              <a:rPr lang="en-GB" dirty="0" err="1" smtClean="0"/>
              <a:t>ZeroR</a:t>
            </a:r>
            <a:r>
              <a:rPr lang="en-GB" dirty="0" smtClean="0"/>
              <a:t>, Naïve Bayes, Bagging</a:t>
            </a:r>
            <a:endParaRPr lang="en-GB" dirty="0"/>
          </a:p>
        </p:txBody>
      </p:sp>
      <p:sp>
        <p:nvSpPr>
          <p:cNvPr id="3" name="Title 2"/>
          <p:cNvSpPr>
            <a:spLocks noGrp="1"/>
          </p:cNvSpPr>
          <p:nvPr>
            <p:ph type="title"/>
          </p:nvPr>
        </p:nvSpPr>
        <p:spPr/>
        <p:txBody>
          <a:bodyPr/>
          <a:lstStyle/>
          <a:p>
            <a:r>
              <a:rPr lang="en-GB" dirty="0" smtClean="0"/>
              <a:t>Exercise – Cost Sensitive Example</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806289823"/>
              </p:ext>
            </p:extLst>
          </p:nvPr>
        </p:nvGraphicFramePr>
        <p:xfrm>
          <a:off x="2895600" y="3352800"/>
          <a:ext cx="2514600" cy="1219200"/>
        </p:xfrm>
        <a:graphic>
          <a:graphicData uri="http://schemas.openxmlformats.org/drawingml/2006/table">
            <a:tbl>
              <a:tblPr firstRow="1" firstCol="1" bandRow="1">
                <a:tableStyleId>{5C22544A-7EE6-4342-B048-85BDC9FD1C3A}</a:tableStyleId>
              </a:tblPr>
              <a:tblGrid>
                <a:gridCol w="502920"/>
                <a:gridCol w="754380"/>
                <a:gridCol w="628650"/>
                <a:gridCol w="628650"/>
              </a:tblGrid>
              <a:tr h="266700">
                <a:tc>
                  <a:txBody>
                    <a:bodyPr/>
                    <a:lstStyle/>
                    <a:p>
                      <a:endParaRPr lang="en-GB" sz="1400" dirty="0"/>
                    </a:p>
                  </a:txBody>
                  <a:tcPr/>
                </a:tc>
                <a:tc gridSpan="3">
                  <a:txBody>
                    <a:bodyPr/>
                    <a:lstStyle/>
                    <a:p>
                      <a:pPr algn="ctr"/>
                      <a:r>
                        <a:rPr lang="en-GB" sz="1400" dirty="0" smtClean="0"/>
                        <a:t>actual</a:t>
                      </a:r>
                      <a:endParaRPr lang="en-GB" sz="1400" dirty="0"/>
                    </a:p>
                  </a:txBody>
                  <a:tcPr/>
                </a:tc>
                <a:tc hMerge="1">
                  <a:txBody>
                    <a:bodyPr/>
                    <a:lstStyle/>
                    <a:p>
                      <a:endParaRPr lang="en-GB" dirty="0"/>
                    </a:p>
                  </a:txBody>
                  <a:tcPr/>
                </a:tc>
                <a:tc hMerge="1">
                  <a:txBody>
                    <a:bodyPr/>
                    <a:lstStyle/>
                    <a:p>
                      <a:endParaRPr lang="en-GB" dirty="0"/>
                    </a:p>
                  </a:txBody>
                  <a:tcPr/>
                </a:tc>
              </a:tr>
              <a:tr h="266700">
                <a:tc rowSpan="3">
                  <a:txBody>
                    <a:bodyPr/>
                    <a:lstStyle/>
                    <a:p>
                      <a:r>
                        <a:rPr lang="en-GB" sz="1400" dirty="0" smtClean="0"/>
                        <a:t>predicted</a:t>
                      </a:r>
                      <a:endParaRPr lang="en-GB" sz="1400" dirty="0"/>
                    </a:p>
                  </a:txBody>
                  <a:tcPr vert="vert270"/>
                </a:tc>
                <a:tc>
                  <a:txBody>
                    <a:bodyPr/>
                    <a:lstStyle/>
                    <a:p>
                      <a:endParaRPr lang="en-GB" sz="1400" dirty="0"/>
                    </a:p>
                  </a:txBody>
                  <a:tcPr/>
                </a:tc>
                <a:tc>
                  <a:txBody>
                    <a:bodyPr/>
                    <a:lstStyle/>
                    <a:p>
                      <a:r>
                        <a:rPr lang="en-GB" sz="1400" dirty="0" smtClean="0"/>
                        <a:t>good</a:t>
                      </a:r>
                      <a:endParaRPr lang="en-GB" sz="1400" dirty="0"/>
                    </a:p>
                  </a:txBody>
                  <a:tcPr/>
                </a:tc>
                <a:tc>
                  <a:txBody>
                    <a:bodyPr/>
                    <a:lstStyle/>
                    <a:p>
                      <a:r>
                        <a:rPr lang="en-GB" sz="1400" dirty="0" smtClean="0"/>
                        <a:t>bad</a:t>
                      </a:r>
                      <a:endParaRPr lang="en-GB" sz="1400" dirty="0"/>
                    </a:p>
                  </a:txBody>
                  <a:tcPr/>
                </a:tc>
              </a:tr>
              <a:tr h="266700">
                <a:tc vMerge="1">
                  <a:txBody>
                    <a:bodyPr/>
                    <a:lstStyle/>
                    <a:p>
                      <a:endParaRPr lang="en-GB" dirty="0"/>
                    </a:p>
                  </a:txBody>
                  <a:tcPr/>
                </a:tc>
                <a:tc>
                  <a:txBody>
                    <a:bodyPr/>
                    <a:lstStyle/>
                    <a:p>
                      <a:r>
                        <a:rPr lang="en-GB" sz="1400" dirty="0" smtClean="0"/>
                        <a:t>good</a:t>
                      </a:r>
                      <a:endParaRPr lang="en-GB" sz="1400" dirty="0"/>
                    </a:p>
                  </a:txBody>
                  <a:tcPr/>
                </a:tc>
                <a:tc>
                  <a:txBody>
                    <a:bodyPr/>
                    <a:lstStyle/>
                    <a:p>
                      <a:r>
                        <a:rPr lang="en-GB" sz="1400" dirty="0" smtClean="0"/>
                        <a:t>0</a:t>
                      </a:r>
                      <a:endParaRPr lang="en-GB" sz="1400" dirty="0"/>
                    </a:p>
                  </a:txBody>
                  <a:tcPr/>
                </a:tc>
                <a:tc>
                  <a:txBody>
                    <a:bodyPr/>
                    <a:lstStyle/>
                    <a:p>
                      <a:r>
                        <a:rPr lang="en-GB" sz="1400" dirty="0" smtClean="0"/>
                        <a:t>1</a:t>
                      </a:r>
                      <a:endParaRPr lang="en-GB" sz="1400" dirty="0"/>
                    </a:p>
                  </a:txBody>
                  <a:tcPr/>
                </a:tc>
              </a:tr>
              <a:tr h="266700">
                <a:tc vMerge="1">
                  <a:txBody>
                    <a:bodyPr/>
                    <a:lstStyle/>
                    <a:p>
                      <a:endParaRPr lang="en-GB" dirty="0"/>
                    </a:p>
                  </a:txBody>
                  <a:tcPr/>
                </a:tc>
                <a:tc>
                  <a:txBody>
                    <a:bodyPr/>
                    <a:lstStyle/>
                    <a:p>
                      <a:r>
                        <a:rPr lang="en-GB" sz="1400" dirty="0" smtClean="0"/>
                        <a:t>bad</a:t>
                      </a:r>
                      <a:endParaRPr lang="en-GB" sz="1400" dirty="0"/>
                    </a:p>
                  </a:txBody>
                  <a:tcPr/>
                </a:tc>
                <a:tc>
                  <a:txBody>
                    <a:bodyPr/>
                    <a:lstStyle/>
                    <a:p>
                      <a:r>
                        <a:rPr lang="en-GB" sz="1400" dirty="0" smtClean="0"/>
                        <a:t>5</a:t>
                      </a:r>
                      <a:endParaRPr lang="en-GB" sz="1400" dirty="0"/>
                    </a:p>
                  </a:txBody>
                  <a:tcPr/>
                </a:tc>
                <a:tc>
                  <a:txBody>
                    <a:bodyPr/>
                    <a:lstStyle/>
                    <a:p>
                      <a:r>
                        <a:rPr lang="en-GB" sz="1400" dirty="0" smtClean="0"/>
                        <a:t>0</a:t>
                      </a:r>
                      <a:endParaRPr lang="en-GB" sz="1400" dirty="0"/>
                    </a:p>
                  </a:txBody>
                  <a:tcPr/>
                </a:tc>
              </a:tr>
            </a:tbl>
          </a:graphicData>
        </a:graphic>
      </p:graphicFrame>
    </p:spTree>
    <p:extLst>
      <p:ext uri="{BB962C8B-B14F-4D97-AF65-F5344CB8AC3E}">
        <p14:creationId xmlns:p14="http://schemas.microsoft.com/office/powerpoint/2010/main" val="3714961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The  Titanic dataset (</a:t>
            </a:r>
            <a:r>
              <a:rPr lang="en-GB" dirty="0" err="1" smtClean="0"/>
              <a:t>titanic.arff</a:t>
            </a:r>
            <a:r>
              <a:rPr lang="en-GB" dirty="0" smtClean="0"/>
              <a:t>) is composed of 4 </a:t>
            </a:r>
            <a:r>
              <a:rPr lang="en-GB" dirty="0" smtClean="0"/>
              <a:t>attributes</a:t>
            </a:r>
            <a:endParaRPr lang="en-GB" dirty="0" smtClean="0"/>
          </a:p>
          <a:p>
            <a:pPr marL="285750" indent="-285750">
              <a:buFont typeface="Arial" pitchFamily="34" charset="0"/>
              <a:buChar char="•"/>
            </a:pPr>
            <a:r>
              <a:rPr lang="es-ES" dirty="0" err="1" smtClean="0"/>
              <a:t>Class</a:t>
            </a:r>
            <a:r>
              <a:rPr lang="es-ES" dirty="0" smtClean="0"/>
              <a:t> </a:t>
            </a:r>
            <a:r>
              <a:rPr lang="es-ES" dirty="0" smtClean="0"/>
              <a:t>(1st, 2nd, 3rd)</a:t>
            </a:r>
            <a:endParaRPr lang="es-ES" dirty="0" smtClean="0"/>
          </a:p>
          <a:p>
            <a:pPr marL="285750" indent="-285750">
              <a:buFont typeface="Arial" pitchFamily="34" charset="0"/>
              <a:buChar char="•"/>
            </a:pPr>
            <a:r>
              <a:rPr lang="es-ES" dirty="0" err="1" smtClean="0"/>
              <a:t>Age</a:t>
            </a:r>
            <a:r>
              <a:rPr lang="es-ES" dirty="0" smtClean="0"/>
              <a:t> </a:t>
            </a:r>
            <a:r>
              <a:rPr lang="es-ES" dirty="0" smtClean="0"/>
              <a:t>(</a:t>
            </a:r>
            <a:r>
              <a:rPr lang="es-ES" dirty="0" err="1" smtClean="0"/>
              <a:t>adult</a:t>
            </a:r>
            <a:r>
              <a:rPr lang="es-ES" dirty="0" smtClean="0"/>
              <a:t>, </a:t>
            </a:r>
            <a:r>
              <a:rPr lang="es-ES" dirty="0" err="1" smtClean="0"/>
              <a:t>child</a:t>
            </a:r>
            <a:r>
              <a:rPr lang="es-ES" dirty="0" smtClean="0"/>
              <a:t>)</a:t>
            </a:r>
          </a:p>
          <a:p>
            <a:pPr marL="285750" indent="-285750">
              <a:buFont typeface="Arial" pitchFamily="34" charset="0"/>
              <a:buChar char="•"/>
            </a:pPr>
            <a:r>
              <a:rPr lang="es-ES" dirty="0" smtClean="0"/>
              <a:t>Sex </a:t>
            </a:r>
            <a:r>
              <a:rPr lang="es-ES" dirty="0" smtClean="0"/>
              <a:t>(</a:t>
            </a:r>
            <a:r>
              <a:rPr lang="es-ES" dirty="0" err="1" smtClean="0"/>
              <a:t>male</a:t>
            </a:r>
            <a:r>
              <a:rPr lang="es-ES" dirty="0" smtClean="0"/>
              <a:t>, </a:t>
            </a:r>
            <a:r>
              <a:rPr lang="es-ES" dirty="0" err="1" smtClean="0"/>
              <a:t>femele</a:t>
            </a:r>
            <a:r>
              <a:rPr lang="es-ES" dirty="0" smtClean="0"/>
              <a:t>)</a:t>
            </a:r>
          </a:p>
          <a:p>
            <a:pPr marL="285750" indent="-285750">
              <a:buFont typeface="Arial" pitchFamily="34" charset="0"/>
              <a:buChar char="•"/>
            </a:pPr>
            <a:r>
              <a:rPr lang="es-ES" dirty="0" err="1" smtClean="0"/>
              <a:t>Survived</a:t>
            </a:r>
            <a:r>
              <a:rPr lang="es-ES" dirty="0" smtClean="0"/>
              <a:t> </a:t>
            </a:r>
            <a:r>
              <a:rPr lang="es-ES" dirty="0" smtClean="0"/>
              <a:t>(yes</a:t>
            </a:r>
            <a:r>
              <a:rPr lang="es-ES" dirty="0" smtClean="0"/>
              <a:t>, </a:t>
            </a:r>
            <a:r>
              <a:rPr lang="es-ES" dirty="0" smtClean="0"/>
              <a:t>no</a:t>
            </a:r>
            <a:r>
              <a:rPr lang="es-ES" dirty="0"/>
              <a:t>)</a:t>
            </a:r>
            <a:endParaRPr lang="en-GB" dirty="0" smtClean="0"/>
          </a:p>
          <a:p>
            <a:r>
              <a:rPr lang="en-GB" dirty="0" smtClean="0"/>
              <a:t>describing the actual characteristics of the 2,201 passengers of The Titanic (</a:t>
            </a:r>
            <a:r>
              <a:rPr lang="en-GB" i="1" dirty="0" smtClean="0"/>
              <a:t>"Report </a:t>
            </a:r>
            <a:r>
              <a:rPr lang="en-GB" i="1" dirty="0"/>
              <a:t>on the Loss of the ‘Titanic’ (S.S.)" (1990), British Board of </a:t>
            </a:r>
            <a:r>
              <a:rPr lang="en-GB" i="1" dirty="0" smtClean="0"/>
              <a:t>Trade Inquiry </a:t>
            </a:r>
            <a:r>
              <a:rPr lang="en-GB" i="1" dirty="0"/>
              <a:t>Report_ (reprint), Gloucester, UK: Allan Sutton </a:t>
            </a:r>
            <a:r>
              <a:rPr lang="en-GB" i="1" dirty="0" smtClean="0"/>
              <a:t>Publishing</a:t>
            </a:r>
            <a:r>
              <a:rPr lang="en-GB" dirty="0" smtClean="0"/>
              <a:t>)</a:t>
            </a:r>
          </a:p>
          <a:p>
            <a:r>
              <a:rPr lang="en-GB" dirty="0" smtClean="0"/>
              <a:t>Using the </a:t>
            </a:r>
            <a:r>
              <a:rPr lang="en-GB" dirty="0" err="1" smtClean="0"/>
              <a:t>Apriori</a:t>
            </a:r>
            <a:r>
              <a:rPr lang="en-GB" dirty="0" smtClean="0"/>
              <a:t> algorithm extract information contained in </a:t>
            </a:r>
            <a:r>
              <a:rPr lang="en-GB" smtClean="0"/>
              <a:t>this </a:t>
            </a:r>
            <a:r>
              <a:rPr lang="en-GB" smtClean="0"/>
              <a:t>dataset</a:t>
            </a:r>
          </a:p>
          <a:p>
            <a:pPr marL="285750" indent="-285750">
              <a:buFont typeface="Arial" pitchFamily="34" charset="0"/>
              <a:buChar char="•"/>
            </a:pPr>
            <a:r>
              <a:rPr lang="en-GB" smtClean="0"/>
              <a:t>Modify </a:t>
            </a:r>
            <a:r>
              <a:rPr lang="en-GB" dirty="0" smtClean="0"/>
              <a:t>the default parameters to obtain rules that consider ‘child’ in the Age attribute. As there is a small number of values containing samples of age = 0, those rules are filtered out with due to their low coverage</a:t>
            </a:r>
            <a:endParaRPr lang="en-GB" dirty="0"/>
          </a:p>
        </p:txBody>
      </p:sp>
      <p:sp>
        <p:nvSpPr>
          <p:cNvPr id="3" name="Title 2"/>
          <p:cNvSpPr>
            <a:spLocks noGrp="1"/>
          </p:cNvSpPr>
          <p:nvPr>
            <p:ph type="title"/>
          </p:nvPr>
        </p:nvSpPr>
        <p:spPr/>
        <p:txBody>
          <a:bodyPr>
            <a:normAutofit fontScale="90000"/>
          </a:bodyPr>
          <a:lstStyle/>
          <a:p>
            <a:r>
              <a:rPr lang="en-GB" dirty="0" smtClean="0"/>
              <a:t>Association Rules and dependencies</a:t>
            </a:r>
            <a:endParaRPr lang="en-GB" dirty="0"/>
          </a:p>
        </p:txBody>
      </p:sp>
    </p:spTree>
    <p:extLst>
      <p:ext uri="{BB962C8B-B14F-4D97-AF65-F5344CB8AC3E}">
        <p14:creationId xmlns:p14="http://schemas.microsoft.com/office/powerpoint/2010/main" val="2275115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Using the employees dataset:</a:t>
            </a:r>
          </a:p>
          <a:p>
            <a:r>
              <a:rPr lang="es-ES" dirty="0" smtClean="0">
                <a:hlinkClick r:id="rId2"/>
              </a:rPr>
              <a:t>http</a:t>
            </a:r>
            <a:r>
              <a:rPr lang="es-ES" dirty="0">
                <a:hlinkClick r:id="rId2"/>
              </a:rPr>
              <a:t>://</a:t>
            </a:r>
            <a:r>
              <a:rPr lang="es-ES" dirty="0" smtClean="0">
                <a:hlinkClick r:id="rId2"/>
              </a:rPr>
              <a:t>www.cc.uah.es/drg/courses/datamining/datasets.zip</a:t>
            </a:r>
            <a:endParaRPr lang="es-ES" dirty="0" smtClean="0"/>
          </a:p>
          <a:p>
            <a:r>
              <a:rPr lang="es-ES" dirty="0" err="1" smtClean="0"/>
              <a:t>Checks</a:t>
            </a:r>
            <a:r>
              <a:rPr lang="es-ES" dirty="0" smtClean="0"/>
              <a:t> </a:t>
            </a:r>
            <a:r>
              <a:rPr lang="es-ES" dirty="0" err="1" smtClean="0"/>
              <a:t>the</a:t>
            </a:r>
            <a:r>
              <a:rPr lang="es-ES" dirty="0" smtClean="0"/>
              <a:t> </a:t>
            </a:r>
            <a:r>
              <a:rPr lang="es-ES" dirty="0" err="1" smtClean="0"/>
              <a:t>results</a:t>
            </a:r>
            <a:r>
              <a:rPr lang="es-ES" dirty="0" smtClean="0"/>
              <a:t> </a:t>
            </a:r>
            <a:r>
              <a:rPr lang="es-ES" dirty="0" err="1" smtClean="0"/>
              <a:t>for</a:t>
            </a:r>
            <a:r>
              <a:rPr lang="es-ES" dirty="0" smtClean="0"/>
              <a:t> k </a:t>
            </a:r>
            <a:r>
              <a:rPr lang="es-ES" dirty="0" err="1" smtClean="0"/>
              <a:t>Means</a:t>
            </a:r>
            <a:r>
              <a:rPr lang="es-ES" dirty="0" smtClean="0"/>
              <a:t> </a:t>
            </a:r>
            <a:r>
              <a:rPr lang="es-ES" dirty="0" err="1" smtClean="0"/>
              <a:t>usign</a:t>
            </a:r>
            <a:r>
              <a:rPr lang="es-ES" dirty="0" smtClean="0"/>
              <a:t> 3 </a:t>
            </a:r>
            <a:r>
              <a:rPr lang="es-ES" dirty="0" err="1" smtClean="0"/>
              <a:t>clusters</a:t>
            </a:r>
            <a:r>
              <a:rPr lang="es-ES" dirty="0" smtClean="0"/>
              <a:t>.</a:t>
            </a:r>
          </a:p>
          <a:p>
            <a:endParaRPr lang="es-ES" dirty="0"/>
          </a:p>
          <a:p>
            <a:endParaRPr lang="en-GB" dirty="0" smtClean="0"/>
          </a:p>
          <a:p>
            <a:endParaRPr lang="en-GB" dirty="0"/>
          </a:p>
        </p:txBody>
      </p:sp>
      <p:sp>
        <p:nvSpPr>
          <p:cNvPr id="3" name="Title 2"/>
          <p:cNvSpPr>
            <a:spLocks noGrp="1"/>
          </p:cNvSpPr>
          <p:nvPr>
            <p:ph type="title"/>
          </p:nvPr>
        </p:nvSpPr>
        <p:spPr/>
        <p:txBody>
          <a:bodyPr/>
          <a:lstStyle/>
          <a:p>
            <a:r>
              <a:rPr lang="en-GB" dirty="0" smtClean="0"/>
              <a:t>Exercise – Clustering</a:t>
            </a:r>
            <a:endParaRPr lang="en-GB" dirty="0"/>
          </a:p>
        </p:txBody>
      </p:sp>
    </p:spTree>
    <p:extLst>
      <p:ext uri="{BB962C8B-B14F-4D97-AF65-F5344CB8AC3E}">
        <p14:creationId xmlns:p14="http://schemas.microsoft.com/office/powerpoint/2010/main" val="31871000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Mylar">
      <a:maj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ylar">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innerShdw blurRad="50800" dist="25400" dir="13500000">
              <a:srgbClr val="000000">
                <a:alpha val="75000"/>
              </a:srgbClr>
            </a:innerShdw>
            <a:outerShdw blurRad="50800" dist="25400" dir="5400000" rotWithShape="0">
              <a:srgbClr val="000000">
                <a:alpha val="50000"/>
              </a:srgbClr>
            </a:outerShdw>
          </a:effectLst>
          <a:scene3d>
            <a:camera prst="orthographicFront">
              <a:rot lat="0" lon="0" rev="0"/>
            </a:camera>
            <a:lightRig rig="threePt" dir="tl"/>
          </a:scene3d>
          <a:sp3d prstMaterial="dkEdge">
            <a:bevelT w="25400" h="508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tint val="100000"/>
                <a:shade val="30000"/>
                <a:alpha val="100000"/>
                <a:satMod val="255000"/>
                <a:lumMod val="100000"/>
              </a:schemeClr>
            </a:gs>
          </a:gsLst>
          <a:path path="circle">
            <a:fillToRect l="50000" t="-80000" r="50000" b="180000"/>
          </a:path>
        </a:gradFill>
        <a:blipFill rotWithShape="1">
          <a:blip xmlns:r="http://schemas.openxmlformats.org/officeDocument/2006/relationships" r:embed="rId1">
            <a:duotone>
              <a:schemeClr val="phClr">
                <a:lumMod val="80000"/>
              </a:schemeClr>
              <a:schemeClr val="phClr">
                <a:tint val="50000"/>
                <a:lumMod val="1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TC101790491[[fn=Mylar]]</Template>
  <TotalTime>4656</TotalTime>
  <Words>1611</Words>
  <Application>Microsoft Office PowerPoint</Application>
  <PresentationFormat>On-screen Show (4:3)</PresentationFormat>
  <Paragraphs>187</Paragraphs>
  <Slides>30</Slides>
  <Notes>9</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Mylar</vt:lpstr>
      <vt:lpstr>Introduction  to Weka</vt:lpstr>
      <vt:lpstr>Weka</vt:lpstr>
      <vt:lpstr>Weka Tookit</vt:lpstr>
      <vt:lpstr>ARFF, XRFF, and sparse formats</vt:lpstr>
      <vt:lpstr>ARFF Example</vt:lpstr>
      <vt:lpstr>Package Manager (version &gt; 3.7.2)</vt:lpstr>
      <vt:lpstr>Explorer</vt:lpstr>
      <vt:lpstr>Explorer’s panels</vt:lpstr>
      <vt:lpstr>Preprocess Panel</vt:lpstr>
      <vt:lpstr>Unsupervised Discretize Filter Example</vt:lpstr>
      <vt:lpstr>Discretize Supervised Filter Example</vt:lpstr>
      <vt:lpstr>‘Classify’ Panel</vt:lpstr>
      <vt:lpstr>’Classify’ Panel – Trees (C4.5 – J48)</vt:lpstr>
      <vt:lpstr>‘Classify’ Panel – Rules</vt:lpstr>
      <vt:lpstr>‘Classify Panel – Regression trees (M5P)</vt:lpstr>
      <vt:lpstr>Lazy Techniques</vt:lpstr>
      <vt:lpstr>IBk</vt:lpstr>
      <vt:lpstr>Cluster Tab</vt:lpstr>
      <vt:lpstr>Association</vt:lpstr>
      <vt:lpstr>Association</vt:lpstr>
      <vt:lpstr>Attribute Selection</vt:lpstr>
      <vt:lpstr>Feature Ranking</vt:lpstr>
      <vt:lpstr>Feature Subset Selection (FSS)</vt:lpstr>
      <vt:lpstr>FSS – CFS (Correlation Based FS)</vt:lpstr>
      <vt:lpstr>CFS Example</vt:lpstr>
      <vt:lpstr>CFS – 10 CV</vt:lpstr>
      <vt:lpstr>Exercise - Hay fever </vt:lpstr>
      <vt:lpstr>Exercise – Cost Sensitive Example</vt:lpstr>
      <vt:lpstr>Association Rules and dependencies</vt:lpstr>
      <vt:lpstr>Exercise – Clustering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Subgroup Discovery in Defect Prediction</dc:title>
  <dc:creator>drg</dc:creator>
  <cp:lastModifiedBy>Conchi</cp:lastModifiedBy>
  <cp:revision>168</cp:revision>
  <dcterms:created xsi:type="dcterms:W3CDTF">2006-08-16T00:00:00Z</dcterms:created>
  <dcterms:modified xsi:type="dcterms:W3CDTF">2012-02-01T12:01:50Z</dcterms:modified>
</cp:coreProperties>
</file>